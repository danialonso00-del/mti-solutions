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306" r:id="rId3"/>
    <p:sldId id="308" r:id="rId4"/>
    <p:sldId id="310" r:id="rId5"/>
    <p:sldId id="309" r:id="rId6"/>
    <p:sldId id="311" r:id="rId7"/>
    <p:sldId id="312" r:id="rId8"/>
    <p:sldId id="313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5" r:id="rId17"/>
    <p:sldId id="267" r:id="rId18"/>
    <p:sldId id="269" r:id="rId19"/>
    <p:sldId id="271" r:id="rId20"/>
    <p:sldId id="272" r:id="rId21"/>
    <p:sldId id="273" r:id="rId22"/>
    <p:sldId id="274" r:id="rId23"/>
    <p:sldId id="319" r:id="rId24"/>
    <p:sldId id="320" r:id="rId25"/>
    <p:sldId id="321" r:id="rId26"/>
    <p:sldId id="278" r:id="rId27"/>
    <p:sldId id="323" r:id="rId28"/>
    <p:sldId id="324" r:id="rId29"/>
    <p:sldId id="325" r:id="rId30"/>
    <p:sldId id="284" r:id="rId31"/>
    <p:sldId id="285" r:id="rId32"/>
    <p:sldId id="334" r:id="rId33"/>
    <p:sldId id="287" r:id="rId34"/>
    <p:sldId id="335" r:id="rId35"/>
    <p:sldId id="289" r:id="rId36"/>
    <p:sldId id="328" r:id="rId37"/>
    <p:sldId id="291" r:id="rId38"/>
    <p:sldId id="336" r:id="rId39"/>
    <p:sldId id="293" r:id="rId40"/>
    <p:sldId id="337" r:id="rId41"/>
    <p:sldId id="295" r:id="rId42"/>
    <p:sldId id="331" r:id="rId43"/>
    <p:sldId id="297" r:id="rId44"/>
    <p:sldId id="332" r:id="rId45"/>
    <p:sldId id="299" r:id="rId46"/>
    <p:sldId id="333" r:id="rId47"/>
    <p:sldId id="301" r:id="rId48"/>
    <p:sldId id="302" r:id="rId49"/>
    <p:sldId id="303" r:id="rId50"/>
    <p:sldId id="304" r:id="rId51"/>
    <p:sldId id="305" r:id="rId5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9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70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E3F4-7F45-6F81-E75C-B0446518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3280-1523-A541-00A2-2F5810476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E1221-EC93-BDE0-1926-5107A917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8380D-B9C8-840D-E0B3-97013251F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974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984B-4AB3-B126-7040-12571C55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9033E-1E62-1E6E-51BC-2B64F7788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3DF37-8B7A-0474-3364-FFA7B6F9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7E429-319C-E83D-4CE9-8311C350B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660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34AE-1870-A482-0F17-86C1C6B0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718D0-E1CE-0833-B9AB-944875B15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D83A5-9262-E9A2-A4BD-23E6C6736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22376-86D9-D824-8FBB-D1F2A4E5D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58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1339-C0C9-50FB-5EA1-AF5C40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82327-C5D6-C6C4-A799-A08DAF0FB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DAA3C-E8A9-3A0B-0D02-4D0D5E74B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D99D9-C0C3-7B20-DAFA-BE76620D9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780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98B6-1A4E-29F3-5E9F-C20F16A9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B29E8-5DD8-7C3A-A114-8F8963A32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CE4F0-3F76-0B82-6409-24B439F9E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6B97-08B8-E902-C3A6-CF5FF7995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318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2A93-8369-55AD-E7C7-C4191636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54311-FF84-8062-18F7-89F7346FC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15EE-07B9-4516-7A5E-68F547A3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3FFA3-CBDB-F71E-D995-888278C9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2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330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115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11" Type="http://schemas.openxmlformats.org/officeDocument/2006/relationships/image" Target="../media/image24.png"/><Relationship Id="rId5" Type="http://schemas.openxmlformats.org/officeDocument/2006/relationships/image" Target="../media/image19.jpeg"/><Relationship Id="rId10" Type="http://schemas.openxmlformats.org/officeDocument/2006/relationships/image" Target="../media/image6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jpe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jpeg"/><Relationship Id="rId19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6.png"/><Relationship Id="rId10" Type="http://schemas.openxmlformats.org/officeDocument/2006/relationships/image" Target="../media/image61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6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eg"/><Relationship Id="rId5" Type="http://schemas.openxmlformats.org/officeDocument/2006/relationships/image" Target="../media/image6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5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4.jpe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3" Type="http://schemas.openxmlformats.org/officeDocument/2006/relationships/image" Target="../media/image103.jpeg"/><Relationship Id="rId21" Type="http://schemas.openxmlformats.org/officeDocument/2006/relationships/image" Target="../media/image119.png"/><Relationship Id="rId7" Type="http://schemas.openxmlformats.org/officeDocument/2006/relationships/image" Target="../media/image107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5" Type="http://schemas.openxmlformats.org/officeDocument/2006/relationships/image" Target="../media/image113.png"/><Relationship Id="rId10" Type="http://schemas.openxmlformats.org/officeDocument/2006/relationships/image" Target="../media/image6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3.jpeg"/><Relationship Id="rId21" Type="http://schemas.openxmlformats.org/officeDocument/2006/relationships/image" Target="../media/image129.png"/><Relationship Id="rId7" Type="http://schemas.openxmlformats.org/officeDocument/2006/relationships/image" Target="../media/image107.png"/><Relationship Id="rId12" Type="http://schemas.openxmlformats.org/officeDocument/2006/relationships/image" Target="../media/image124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16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26.png"/><Relationship Id="rId10" Type="http://schemas.openxmlformats.org/officeDocument/2006/relationships/image" Target="../media/image6.png"/><Relationship Id="rId19" Type="http://schemas.openxmlformats.org/officeDocument/2006/relationships/image" Target="../media/image118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54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98.png"/><Relationship Id="rId9" Type="http://schemas.openxmlformats.org/officeDocument/2006/relationships/image" Target="../media/image13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3.png"/><Relationship Id="rId18" Type="http://schemas.openxmlformats.org/officeDocument/2006/relationships/image" Target="../media/image144.png"/><Relationship Id="rId3" Type="http://schemas.openxmlformats.org/officeDocument/2006/relationships/image" Target="../media/image103.jpeg"/><Relationship Id="rId21" Type="http://schemas.openxmlformats.org/officeDocument/2006/relationships/image" Target="../media/image146.png"/><Relationship Id="rId7" Type="http://schemas.openxmlformats.org/officeDocument/2006/relationships/image" Target="../media/image108.png"/><Relationship Id="rId12" Type="http://schemas.openxmlformats.org/officeDocument/2006/relationships/image" Target="../media/image139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42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41.png"/><Relationship Id="rId10" Type="http://schemas.openxmlformats.org/officeDocument/2006/relationships/image" Target="../media/image6.png"/><Relationship Id="rId19" Type="http://schemas.openxmlformats.org/officeDocument/2006/relationships/image" Target="../media/image118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40.png"/><Relationship Id="rId22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18" Type="http://schemas.openxmlformats.org/officeDocument/2006/relationships/image" Target="../media/image153.png"/><Relationship Id="rId3" Type="http://schemas.openxmlformats.org/officeDocument/2006/relationships/image" Target="../media/image103.jpeg"/><Relationship Id="rId21" Type="http://schemas.openxmlformats.org/officeDocument/2006/relationships/image" Target="../media/image154.png"/><Relationship Id="rId7" Type="http://schemas.openxmlformats.org/officeDocument/2006/relationships/image" Target="../media/image107.png"/><Relationship Id="rId12" Type="http://schemas.openxmlformats.org/officeDocument/2006/relationships/image" Target="../media/image110.png"/><Relationship Id="rId17" Type="http://schemas.openxmlformats.org/officeDocument/2006/relationships/image" Target="../media/image152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51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5" Type="http://schemas.openxmlformats.org/officeDocument/2006/relationships/image" Target="../media/image114.png"/><Relationship Id="rId10" Type="http://schemas.openxmlformats.org/officeDocument/2006/relationships/image" Target="../media/image6.png"/><Relationship Id="rId19" Type="http://schemas.openxmlformats.org/officeDocument/2006/relationships/image" Target="../media/image144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9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58.png"/><Relationship Id="rId18" Type="http://schemas.openxmlformats.org/officeDocument/2006/relationships/image" Target="../media/image115.png"/><Relationship Id="rId3" Type="http://schemas.openxmlformats.org/officeDocument/2006/relationships/image" Target="../media/image103.jpeg"/><Relationship Id="rId21" Type="http://schemas.openxmlformats.org/officeDocument/2006/relationships/image" Target="../media/image159.png"/><Relationship Id="rId7" Type="http://schemas.openxmlformats.org/officeDocument/2006/relationships/image" Target="../media/image108.png"/><Relationship Id="rId12" Type="http://schemas.openxmlformats.org/officeDocument/2006/relationships/image" Target="../media/image110.png"/><Relationship Id="rId17" Type="http://schemas.openxmlformats.org/officeDocument/2006/relationships/image" Target="../media/image114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13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5" Type="http://schemas.openxmlformats.org/officeDocument/2006/relationships/image" Target="../media/image112.png"/><Relationship Id="rId10" Type="http://schemas.openxmlformats.org/officeDocument/2006/relationships/image" Target="../media/image6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11.png"/><Relationship Id="rId22" Type="http://schemas.openxmlformats.org/officeDocument/2006/relationships/image" Target="../media/image1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9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53.png"/><Relationship Id="rId3" Type="http://schemas.openxmlformats.org/officeDocument/2006/relationships/image" Target="../media/image103.jpeg"/><Relationship Id="rId21" Type="http://schemas.openxmlformats.org/officeDocument/2006/relationships/image" Target="../media/image159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60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10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4.png"/><Relationship Id="rId5" Type="http://schemas.openxmlformats.org/officeDocument/2006/relationships/image" Target="../media/image105.png"/><Relationship Id="rId15" Type="http://schemas.openxmlformats.org/officeDocument/2006/relationships/image" Target="../media/image126.png"/><Relationship Id="rId10" Type="http://schemas.openxmlformats.org/officeDocument/2006/relationships/image" Target="../media/image6.png"/><Relationship Id="rId19" Type="http://schemas.openxmlformats.org/officeDocument/2006/relationships/image" Target="../media/image144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18" Type="http://schemas.openxmlformats.org/officeDocument/2006/relationships/image" Target="../media/image127.png"/><Relationship Id="rId3" Type="http://schemas.openxmlformats.org/officeDocument/2006/relationships/image" Target="../media/image103.jpeg"/><Relationship Id="rId21" Type="http://schemas.openxmlformats.org/officeDocument/2006/relationships/image" Target="../media/image170.png"/><Relationship Id="rId7" Type="http://schemas.openxmlformats.org/officeDocument/2006/relationships/image" Target="../media/image107.png"/><Relationship Id="rId12" Type="http://schemas.openxmlformats.org/officeDocument/2006/relationships/image" Target="../media/image124.png"/><Relationship Id="rId17" Type="http://schemas.openxmlformats.org/officeDocument/2006/relationships/image" Target="../media/image169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168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67.png"/><Relationship Id="rId23" Type="http://schemas.openxmlformats.org/officeDocument/2006/relationships/image" Target="../media/image120.png"/><Relationship Id="rId10" Type="http://schemas.openxmlformats.org/officeDocument/2006/relationships/image" Target="../media/image6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66.png"/><Relationship Id="rId22" Type="http://schemas.openxmlformats.org/officeDocument/2006/relationships/image" Target="../media/image1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61.png"/><Relationship Id="rId4" Type="http://schemas.openxmlformats.org/officeDocument/2006/relationships/image" Target="../media/image9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44.png"/><Relationship Id="rId3" Type="http://schemas.openxmlformats.org/officeDocument/2006/relationships/image" Target="../media/image103.jpeg"/><Relationship Id="rId21" Type="http://schemas.openxmlformats.org/officeDocument/2006/relationships/image" Target="../media/image169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74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43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73.png"/><Relationship Id="rId5" Type="http://schemas.openxmlformats.org/officeDocument/2006/relationships/image" Target="../media/image105.png"/><Relationship Id="rId15" Type="http://schemas.openxmlformats.org/officeDocument/2006/relationships/image" Target="../media/image111.png"/><Relationship Id="rId10" Type="http://schemas.openxmlformats.org/officeDocument/2006/relationships/image" Target="../media/image6.png"/><Relationship Id="rId19" Type="http://schemas.openxmlformats.org/officeDocument/2006/relationships/image" Target="../media/image118.png"/><Relationship Id="rId4" Type="http://schemas.openxmlformats.org/officeDocument/2006/relationships/image" Target="../media/image104.png"/><Relationship Id="rId9" Type="http://schemas.openxmlformats.org/officeDocument/2006/relationships/image" Target="../media/image54.png"/><Relationship Id="rId14" Type="http://schemas.openxmlformats.org/officeDocument/2006/relationships/image" Target="../media/image139.png"/><Relationship Id="rId22" Type="http://schemas.openxmlformats.org/officeDocument/2006/relationships/image" Target="../media/image12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7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7" Type="http://schemas.openxmlformats.org/officeDocument/2006/relationships/image" Target="../media/image180.png"/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60ea73a606d19d764f6b1b42d463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df87e040894f7eac7789364e25e15f5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7ed7bb912f7c94ef41a7d56085217d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761695"/>
            <a:ext cx="1714500" cy="1218895"/>
          </a:xfrm>
          <a:prstGeom prst="rect">
            <a:avLst/>
          </a:prstGeom>
        </p:spPr>
      </p:pic>
      <p:pic>
        <p:nvPicPr>
          <p:cNvPr id="5" name="Image 3" descr="gen-dedup-1473232738e87a88a640e54005ce6f5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4287500" y="914400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b="1" kern="0" spc="234" noProof="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 · 2026</a:t>
            </a:r>
            <a:endParaRPr lang="es-ES" sz="975" noProof="0" dirty="0"/>
          </a:p>
        </p:txBody>
      </p:sp>
      <p:sp>
        <p:nvSpPr>
          <p:cNvPr id="7" name="Text 1"/>
          <p:cNvSpPr txBox="1"/>
          <p:nvPr/>
        </p:nvSpPr>
        <p:spPr>
          <a:xfrm>
            <a:off x="14287500" y="1123798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kern="0" spc="215" noProof="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despliegues en producción</a:t>
            </a:r>
            <a:endParaRPr lang="es-ES" sz="975" noProof="0" dirty="0"/>
          </a:p>
        </p:txBody>
      </p:sp>
      <p:sp>
        <p:nvSpPr>
          <p:cNvPr id="8" name="Shape 2"/>
          <p:cNvSpPr/>
          <p:nvPr/>
        </p:nvSpPr>
        <p:spPr>
          <a:xfrm>
            <a:off x="6703466" y="2857500"/>
            <a:ext cx="4886554" cy="428854"/>
          </a:xfrm>
          <a:prstGeom prst="roundRect">
            <a:avLst>
              <a:gd name="adj" fmla="val 49893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3"/>
          <p:cNvSpPr/>
          <p:nvPr/>
        </p:nvSpPr>
        <p:spPr>
          <a:xfrm>
            <a:off x="6703466" y="2857500"/>
            <a:ext cx="488655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14300" rIns="292100" bIns="114300" rtlCol="0" anchor="ctr"/>
          <a:lstStyle/>
          <a:p>
            <a:pPr marL="0" indent="0" algn="ctr">
              <a:buNone/>
            </a:pPr>
            <a:r>
              <a:rPr lang="es-ES" sz="1125" b="1" kern="0" spc="270" noProof="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Autonomía real · Resultados reales</a:t>
            </a:r>
            <a:endParaRPr lang="es-ES" sz="1125" noProof="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3810305"/>
            <a:ext cx="16002000" cy="1362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10500" b="1" kern="0" spc="-315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</a:t>
            </a:r>
            <a:endParaRPr lang="es-ES" sz="10500" noProof="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5429707"/>
            <a:ext cx="1600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400" kern="0" spc="-24" noProof="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IA. </a:t>
            </a:r>
            <a:r>
              <a:rPr lang="es-ES" sz="2400" b="1" kern="0" spc="-24" noProof="0" dirty="0">
                <a:solidFill>
                  <a:srgbClr val="E6A817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plataforma.</a:t>
            </a:r>
            <a:r>
              <a:rPr lang="es-ES" sz="2400" kern="0" spc="-24" noProof="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Autonomía real.</a:t>
            </a:r>
            <a:endParaRPr lang="es-ES" sz="2400" noProof="0" dirty="0"/>
          </a:p>
        </p:txBody>
      </p:sp>
      <p:sp>
        <p:nvSpPr>
          <p:cNvPr id="12" name="Text 6"/>
          <p:cNvSpPr txBox="1"/>
          <p:nvPr/>
        </p:nvSpPr>
        <p:spPr>
          <a:xfrm>
            <a:off x="2857500" y="6441948"/>
            <a:ext cx="1257300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41"/>
              </a:lnSpc>
              <a:buNone/>
            </a:pP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Diseñamos e implantamos soluciones de IA Agentiva industrial. </a:t>
            </a:r>
            <a:r>
              <a:rPr lang="es-ES" sz="15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r>
              <a:rPr lang="es-ES" sz="1575" noProof="0" dirty="0" err="1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igitalización</a:t>
            </a: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procesos, agentes autónomos,</a:t>
            </a:r>
          </a:p>
          <a:p>
            <a:pPr marL="0" indent="0" algn="ctr">
              <a:lnSpc>
                <a:spcPts val="2441"/>
              </a:lnSpc>
              <a:buNone/>
            </a:pP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documental y asistentes conversacionales conectados a tu ERP, </a:t>
            </a:r>
            <a:r>
              <a:rPr lang="es-ES" sz="1575" noProof="0" dirty="0" err="1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</a:t>
            </a:r>
            <a:r>
              <a:rPr lang="es-ES" sz="1575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datos reales.</a:t>
            </a:r>
          </a:p>
        </p:txBody>
      </p:sp>
      <p:sp>
        <p:nvSpPr>
          <p:cNvPr id="13" name="Shape 7"/>
          <p:cNvSpPr/>
          <p:nvPr/>
        </p:nvSpPr>
        <p:spPr>
          <a:xfrm>
            <a:off x="4406494" y="8153705"/>
            <a:ext cx="1019556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8"/>
          <p:cNvSpPr/>
          <p:nvPr/>
        </p:nvSpPr>
        <p:spPr>
          <a:xfrm>
            <a:off x="4406494" y="8153705"/>
            <a:ext cx="101955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s-ES" sz="900" noProof="0" dirty="0"/>
          </a:p>
        </p:txBody>
      </p:sp>
      <p:sp>
        <p:nvSpPr>
          <p:cNvPr id="15" name="Shape 9"/>
          <p:cNvSpPr/>
          <p:nvPr/>
        </p:nvSpPr>
        <p:spPr>
          <a:xfrm>
            <a:off x="5609844" y="8153705"/>
            <a:ext cx="7525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0"/>
          <p:cNvSpPr/>
          <p:nvPr/>
        </p:nvSpPr>
        <p:spPr>
          <a:xfrm>
            <a:off x="5609844" y="8153705"/>
            <a:ext cx="752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s-ES" sz="900" noProof="0" dirty="0"/>
          </a:p>
        </p:txBody>
      </p:sp>
      <p:sp>
        <p:nvSpPr>
          <p:cNvPr id="17" name="Shape 11"/>
          <p:cNvSpPr/>
          <p:nvPr/>
        </p:nvSpPr>
        <p:spPr>
          <a:xfrm>
            <a:off x="6544361" y="8153705"/>
            <a:ext cx="7525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2"/>
          <p:cNvSpPr/>
          <p:nvPr/>
        </p:nvSpPr>
        <p:spPr>
          <a:xfrm>
            <a:off x="6544361" y="8153705"/>
            <a:ext cx="752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s-ES" sz="900" noProof="0" dirty="0"/>
          </a:p>
        </p:txBody>
      </p:sp>
      <p:sp>
        <p:nvSpPr>
          <p:cNvPr id="19" name="Shape 13"/>
          <p:cNvSpPr/>
          <p:nvPr/>
        </p:nvSpPr>
        <p:spPr>
          <a:xfrm>
            <a:off x="7484364" y="8153705"/>
            <a:ext cx="111465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4"/>
          <p:cNvSpPr/>
          <p:nvPr/>
        </p:nvSpPr>
        <p:spPr>
          <a:xfrm>
            <a:off x="7484364" y="8153705"/>
            <a:ext cx="11146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s-ES" sz="900" noProof="0" dirty="0"/>
          </a:p>
        </p:txBody>
      </p:sp>
      <p:sp>
        <p:nvSpPr>
          <p:cNvPr id="21" name="Shape 15"/>
          <p:cNvSpPr/>
          <p:nvPr/>
        </p:nvSpPr>
        <p:spPr>
          <a:xfrm>
            <a:off x="8787384" y="8153705"/>
            <a:ext cx="1123798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6"/>
          <p:cNvSpPr/>
          <p:nvPr/>
        </p:nvSpPr>
        <p:spPr>
          <a:xfrm>
            <a:off x="8787384" y="8153705"/>
            <a:ext cx="11247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s-ES" sz="900" noProof="0" dirty="0"/>
          </a:p>
        </p:txBody>
      </p:sp>
      <p:sp>
        <p:nvSpPr>
          <p:cNvPr id="23" name="Shape 17"/>
          <p:cNvSpPr/>
          <p:nvPr/>
        </p:nvSpPr>
        <p:spPr>
          <a:xfrm>
            <a:off x="10099548" y="8153705"/>
            <a:ext cx="780898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18"/>
          <p:cNvSpPr/>
          <p:nvPr/>
        </p:nvSpPr>
        <p:spPr>
          <a:xfrm>
            <a:off x="10099548" y="8153705"/>
            <a:ext cx="7818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80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s-ES" sz="900" noProof="0" dirty="0"/>
          </a:p>
        </p:txBody>
      </p:sp>
      <p:sp>
        <p:nvSpPr>
          <p:cNvPr id="25" name="Shape 19"/>
          <p:cNvSpPr/>
          <p:nvPr/>
        </p:nvSpPr>
        <p:spPr>
          <a:xfrm>
            <a:off x="11064240" y="8153705"/>
            <a:ext cx="638251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0"/>
          <p:cNvSpPr/>
          <p:nvPr/>
        </p:nvSpPr>
        <p:spPr>
          <a:xfrm>
            <a:off x="11064240" y="815370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</a:t>
            </a:r>
            <a:endParaRPr lang="es-ES" sz="900" noProof="0" dirty="0"/>
          </a:p>
        </p:txBody>
      </p:sp>
      <p:sp>
        <p:nvSpPr>
          <p:cNvPr id="27" name="Shape 21"/>
          <p:cNvSpPr/>
          <p:nvPr/>
        </p:nvSpPr>
        <p:spPr>
          <a:xfrm>
            <a:off x="11884457" y="8153705"/>
            <a:ext cx="100035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8" name="Text 22"/>
          <p:cNvSpPr/>
          <p:nvPr/>
        </p:nvSpPr>
        <p:spPr>
          <a:xfrm>
            <a:off x="11884457" y="8153705"/>
            <a:ext cx="10003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s-ES" sz="900" noProof="0" dirty="0"/>
          </a:p>
        </p:txBody>
      </p:sp>
      <p:sp>
        <p:nvSpPr>
          <p:cNvPr id="29" name="Shape 23"/>
          <p:cNvSpPr/>
          <p:nvPr/>
        </p:nvSpPr>
        <p:spPr>
          <a:xfrm>
            <a:off x="13072262" y="8153705"/>
            <a:ext cx="809244" cy="314554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4"/>
          <p:cNvSpPr/>
          <p:nvPr/>
        </p:nvSpPr>
        <p:spPr>
          <a:xfrm>
            <a:off x="13072262" y="8153705"/>
            <a:ext cx="810158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s-ES" sz="900" b="1" kern="0" spc="162" noProof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s-ES" sz="900" noProof="0" dirty="0"/>
          </a:p>
        </p:txBody>
      </p:sp>
      <p:sp>
        <p:nvSpPr>
          <p:cNvPr id="31" name="Text 25"/>
          <p:cNvSpPr txBox="1"/>
          <p:nvPr/>
        </p:nvSpPr>
        <p:spPr>
          <a:xfrm>
            <a:off x="1143000" y="9810598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kern="0" spc="176" noProof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 · info@mingothings.com</a:t>
            </a:r>
            <a:endParaRPr lang="es-ES" sz="975" noProof="0" dirty="0"/>
          </a:p>
        </p:txBody>
      </p:sp>
      <p:sp>
        <p:nvSpPr>
          <p:cNvPr id="32" name="Text 26"/>
          <p:cNvSpPr txBox="1"/>
          <p:nvPr/>
        </p:nvSpPr>
        <p:spPr>
          <a:xfrm>
            <a:off x="16383305" y="9810598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s-ES" sz="975" kern="0" spc="176" noProof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s-ES" sz="975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a4746f7ae18871903d6c6f0da58ca57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8762695"/>
            <a:ext cx="16002000" cy="9144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3810305"/>
            <a:ext cx="914400" cy="384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Manifiesto · 02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4095598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qué creemos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4667098"/>
            <a:ext cx="3810305" cy="1886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-6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666780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2016 · Barcelona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6096305" y="2667305"/>
            <a:ext cx="11239805" cy="339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Creamos tecnología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</a:t>
            </a:r>
            <a:r>
              <a:rPr lang="en-US" sz="555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 donde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importa</a:t>
            </a: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endParaRPr lang="en-US" sz="55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55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fallar </a:t>
            </a:r>
            <a:r>
              <a:rPr lang="en-US" sz="5550" b="1" kern="0" spc="-11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una opción.</a:t>
            </a:r>
            <a:endParaRPr lang="en-US" sz="555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calidad certificada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333695" y="9048902"/>
            <a:ext cx="285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4200" dirty="0"/>
          </a:p>
        </p:txBody>
      </p:sp>
      <p:sp>
        <p:nvSpPr>
          <p:cNvPr id="13" name="Text 8"/>
          <p:cNvSpPr txBox="1"/>
          <p:nvPr/>
        </p:nvSpPr>
        <p:spPr>
          <a:xfrm>
            <a:off x="5333695" y="9658807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de operación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572500" y="9048902"/>
            <a:ext cx="32388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8572500" y="9658807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conectados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191695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12191695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Ingeniería y entrega global</a:t>
            </a:r>
            <a:endParaRPr lang="en-US" sz="1200" dirty="0"/>
          </a:p>
        </p:txBody>
      </p:sp>
      <p:pic>
        <p:nvPicPr>
          <p:cNvPr id="21" name="Image 1" descr="gen-dedup-3fc9b6bd6bd01734c54b10a0f11af3f3.png">
            <a:extLst>
              <a:ext uri="{FF2B5EF4-FFF2-40B4-BE49-F238E27FC236}">
                <a16:creationId xmlns:a16="http://schemas.microsoft.com/office/drawing/2014/main" id="{ED051283-1275-5587-FEDD-1E22A3F4A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5ead705bd3332e96ed1c40e0ec4d6f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Presencia global · 05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</a:t>
            </a: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· </a:t>
            </a:r>
            <a:r>
              <a:rPr lang="en-US" sz="1100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</a:t>
            </a:r>
          </a:p>
        </p:txBody>
      </p:sp>
      <p:sp>
        <p:nvSpPr>
          <p:cNvPr id="8" name="Text 2"/>
          <p:cNvSpPr txBox="1"/>
          <p:nvPr/>
        </p:nvSpPr>
        <p:spPr>
          <a:xfrm>
            <a:off x="1143000" y="2619756"/>
            <a:ext cx="14287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00" b="1" kern="0" spc="-1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hubs. 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r>
              <a:rPr lang="en-US" sz="550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550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0" dirty="0"/>
          </a:p>
        </p:txBody>
      </p:sp>
      <p:sp>
        <p:nvSpPr>
          <p:cNvPr id="9" name="Text 3"/>
          <p:cNvSpPr txBox="1"/>
          <p:nvPr/>
        </p:nvSpPr>
        <p:spPr>
          <a:xfrm>
            <a:off x="1142999" y="3610966"/>
            <a:ext cx="1619219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sede en Barcelona entregamos proyectos críticos en tres continentes — con equipos regionales que hablan el idioma local y conocen la normativa local.</a:t>
            </a:r>
          </a:p>
        </p:txBody>
      </p:sp>
      <p:grpSp>
        <p:nvGrpSpPr>
          <p:cNvPr id="391" name="Google Shape;183;p30">
            <a:extLst>
              <a:ext uri="{FF2B5EF4-FFF2-40B4-BE49-F238E27FC236}">
                <a16:creationId xmlns:a16="http://schemas.microsoft.com/office/drawing/2014/main" id="{06D1D403-4F80-9BE7-0D05-87BDD9CD2B6F}"/>
              </a:ext>
            </a:extLst>
          </p:cNvPr>
          <p:cNvGrpSpPr/>
          <p:nvPr/>
        </p:nvGrpSpPr>
        <p:grpSpPr>
          <a:xfrm>
            <a:off x="4038416" y="4111923"/>
            <a:ext cx="10193524" cy="5980545"/>
            <a:chOff x="-341711" y="-621047"/>
            <a:chExt cx="9985772" cy="6380273"/>
          </a:xfrm>
          <a:noFill/>
        </p:grpSpPr>
        <p:sp>
          <p:nvSpPr>
            <p:cNvPr id="392" name="Google Shape;184;p30">
              <a:extLst>
                <a:ext uri="{FF2B5EF4-FFF2-40B4-BE49-F238E27FC236}">
                  <a16:creationId xmlns:a16="http://schemas.microsoft.com/office/drawing/2014/main" id="{B2CC2846-BF8D-887E-9A15-B5BBC3F5C724}"/>
                </a:ext>
              </a:extLst>
            </p:cNvPr>
            <p:cNvSpPr/>
            <p:nvPr/>
          </p:nvSpPr>
          <p:spPr>
            <a:xfrm>
              <a:off x="7160860" y="3288754"/>
              <a:ext cx="211665" cy="250783"/>
            </a:xfrm>
            <a:custGeom>
              <a:avLst/>
              <a:gdLst/>
              <a:ahLst/>
              <a:cxnLst/>
              <a:rect l="l" t="t" r="r" b="b"/>
              <a:pathLst>
                <a:path w="282220" h="334378" extrusionOk="0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185;p30">
              <a:extLst>
                <a:ext uri="{FF2B5EF4-FFF2-40B4-BE49-F238E27FC236}">
                  <a16:creationId xmlns:a16="http://schemas.microsoft.com/office/drawing/2014/main" id="{2B7ECBAF-3546-4293-90E6-D8CED10D403B}"/>
                </a:ext>
              </a:extLst>
            </p:cNvPr>
            <p:cNvSpPr/>
            <p:nvPr/>
          </p:nvSpPr>
          <p:spPr>
            <a:xfrm>
              <a:off x="7082378" y="3341427"/>
              <a:ext cx="226760" cy="426413"/>
            </a:xfrm>
            <a:custGeom>
              <a:avLst/>
              <a:gdLst/>
              <a:ahLst/>
              <a:cxnLst/>
              <a:rect l="l" t="t" r="r" b="b"/>
              <a:pathLst>
                <a:path w="302346" h="568550" extrusionOk="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186;p30">
              <a:extLst>
                <a:ext uri="{FF2B5EF4-FFF2-40B4-BE49-F238E27FC236}">
                  <a16:creationId xmlns:a16="http://schemas.microsoft.com/office/drawing/2014/main" id="{BEC28750-3B36-3656-A0E7-91A2D8E5B781}"/>
                </a:ext>
              </a:extLst>
            </p:cNvPr>
            <p:cNvSpPr/>
            <p:nvPr/>
          </p:nvSpPr>
          <p:spPr>
            <a:xfrm>
              <a:off x="6850669" y="3109715"/>
              <a:ext cx="88626" cy="53079"/>
            </a:xfrm>
            <a:custGeom>
              <a:avLst/>
              <a:gdLst/>
              <a:ahLst/>
              <a:cxnLst/>
              <a:rect l="l" t="t" r="r" b="b"/>
              <a:pathLst>
                <a:path w="118168" h="70772" extrusionOk="0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187;p30">
              <a:extLst>
                <a:ext uri="{FF2B5EF4-FFF2-40B4-BE49-F238E27FC236}">
                  <a16:creationId xmlns:a16="http://schemas.microsoft.com/office/drawing/2014/main" id="{D0709252-8A84-E322-DD38-729819B41AD7}"/>
                </a:ext>
              </a:extLst>
            </p:cNvPr>
            <p:cNvSpPr/>
            <p:nvPr/>
          </p:nvSpPr>
          <p:spPr>
            <a:xfrm>
              <a:off x="6823317" y="3164174"/>
              <a:ext cx="133102" cy="179201"/>
            </a:xfrm>
            <a:custGeom>
              <a:avLst/>
              <a:gdLst/>
              <a:ahLst/>
              <a:cxnLst/>
              <a:rect l="l" t="t" r="r" b="b"/>
              <a:pathLst>
                <a:path w="177469" h="238934" extrusionOk="0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188;p30">
              <a:extLst>
                <a:ext uri="{FF2B5EF4-FFF2-40B4-BE49-F238E27FC236}">
                  <a16:creationId xmlns:a16="http://schemas.microsoft.com/office/drawing/2014/main" id="{D417B978-F858-019E-78A2-A1B090249E14}"/>
                </a:ext>
              </a:extLst>
            </p:cNvPr>
            <p:cNvSpPr/>
            <p:nvPr/>
          </p:nvSpPr>
          <p:spPr>
            <a:xfrm>
              <a:off x="6431397" y="2179217"/>
              <a:ext cx="1692427" cy="1233957"/>
            </a:xfrm>
            <a:custGeom>
              <a:avLst/>
              <a:gdLst/>
              <a:ahLst/>
              <a:cxnLst/>
              <a:rect l="l" t="t" r="r" b="b"/>
              <a:pathLst>
                <a:path w="993" h="724" extrusionOk="0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189;p30">
              <a:extLst>
                <a:ext uri="{FF2B5EF4-FFF2-40B4-BE49-F238E27FC236}">
                  <a16:creationId xmlns:a16="http://schemas.microsoft.com/office/drawing/2014/main" id="{AD69D818-D8FB-0CC3-21FC-9DD5C5303800}"/>
                </a:ext>
              </a:extLst>
            </p:cNvPr>
            <p:cNvSpPr/>
            <p:nvPr/>
          </p:nvSpPr>
          <p:spPr>
            <a:xfrm>
              <a:off x="7213532" y="3257914"/>
              <a:ext cx="203062" cy="429821"/>
            </a:xfrm>
            <a:custGeom>
              <a:avLst/>
              <a:gdLst/>
              <a:ahLst/>
              <a:cxnLst/>
              <a:rect l="l" t="t" r="r" b="b"/>
              <a:pathLst>
                <a:path w="270749" h="573095" extrusionOk="0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190;p30">
              <a:extLst>
                <a:ext uri="{FF2B5EF4-FFF2-40B4-BE49-F238E27FC236}">
                  <a16:creationId xmlns:a16="http://schemas.microsoft.com/office/drawing/2014/main" id="{3AE49275-AA4D-8B70-8F61-B040B42948D6}"/>
                </a:ext>
              </a:extLst>
            </p:cNvPr>
            <p:cNvSpPr/>
            <p:nvPr/>
          </p:nvSpPr>
          <p:spPr>
            <a:xfrm>
              <a:off x="5360978" y="2973448"/>
              <a:ext cx="17125" cy="40904"/>
            </a:xfrm>
            <a:custGeom>
              <a:avLst/>
              <a:gdLst/>
              <a:ahLst/>
              <a:cxnLst/>
              <a:rect l="l" t="t" r="r" b="b"/>
              <a:pathLst>
                <a:path w="22834" h="54539" extrusionOk="0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191;p30">
              <a:extLst>
                <a:ext uri="{FF2B5EF4-FFF2-40B4-BE49-F238E27FC236}">
                  <a16:creationId xmlns:a16="http://schemas.microsoft.com/office/drawing/2014/main" id="{68469593-5B21-547E-F42A-E4BA63608344}"/>
                </a:ext>
              </a:extLst>
            </p:cNvPr>
            <p:cNvSpPr/>
            <p:nvPr/>
          </p:nvSpPr>
          <p:spPr>
            <a:xfrm>
              <a:off x="5359194" y="2947803"/>
              <a:ext cx="121253" cy="138296"/>
            </a:xfrm>
            <a:custGeom>
              <a:avLst/>
              <a:gdLst/>
              <a:ahLst/>
              <a:cxnLst/>
              <a:rect l="l" t="t" r="r" b="b"/>
              <a:pathLst>
                <a:path w="161671" h="184395" extrusionOk="0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192;p30">
              <a:extLst>
                <a:ext uri="{FF2B5EF4-FFF2-40B4-BE49-F238E27FC236}">
                  <a16:creationId xmlns:a16="http://schemas.microsoft.com/office/drawing/2014/main" id="{29743792-50D1-3C70-9DCA-7F5202109E6C}"/>
                </a:ext>
              </a:extLst>
            </p:cNvPr>
            <p:cNvSpPr/>
            <p:nvPr/>
          </p:nvSpPr>
          <p:spPr>
            <a:xfrm>
              <a:off x="5366173" y="2910387"/>
              <a:ext cx="42690" cy="51293"/>
            </a:xfrm>
            <a:custGeom>
              <a:avLst/>
              <a:gdLst/>
              <a:ahLst/>
              <a:cxnLst/>
              <a:rect l="l" t="t" r="r" b="b"/>
              <a:pathLst>
                <a:path w="56920" h="68391" extrusionOk="0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193;p30">
              <a:extLst>
                <a:ext uri="{FF2B5EF4-FFF2-40B4-BE49-F238E27FC236}">
                  <a16:creationId xmlns:a16="http://schemas.microsoft.com/office/drawing/2014/main" id="{7D8A43E2-881E-6D56-1D5E-3D4666461061}"/>
                </a:ext>
              </a:extLst>
            </p:cNvPr>
            <p:cNvSpPr/>
            <p:nvPr/>
          </p:nvSpPr>
          <p:spPr>
            <a:xfrm>
              <a:off x="5383217" y="2814861"/>
              <a:ext cx="180661" cy="170680"/>
            </a:xfrm>
            <a:custGeom>
              <a:avLst/>
              <a:gdLst/>
              <a:ahLst/>
              <a:cxnLst/>
              <a:rect l="l" t="t" r="r" b="b"/>
              <a:pathLst>
                <a:path w="240881" h="227573" extrusionOk="0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194;p30">
              <a:extLst>
                <a:ext uri="{FF2B5EF4-FFF2-40B4-BE49-F238E27FC236}">
                  <a16:creationId xmlns:a16="http://schemas.microsoft.com/office/drawing/2014/main" id="{AD98D474-C685-7E0E-647F-C68E9D7A27B0}"/>
                </a:ext>
              </a:extLst>
            </p:cNvPr>
            <p:cNvSpPr/>
            <p:nvPr/>
          </p:nvSpPr>
          <p:spPr>
            <a:xfrm>
              <a:off x="5461375" y="2811453"/>
              <a:ext cx="279920" cy="276186"/>
            </a:xfrm>
            <a:custGeom>
              <a:avLst/>
              <a:gdLst/>
              <a:ahLst/>
              <a:cxnLst/>
              <a:rect l="l" t="t" r="r" b="b"/>
              <a:pathLst>
                <a:path w="373227" h="368248" extrusionOk="0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195;p30">
              <a:extLst>
                <a:ext uri="{FF2B5EF4-FFF2-40B4-BE49-F238E27FC236}">
                  <a16:creationId xmlns:a16="http://schemas.microsoft.com/office/drawing/2014/main" id="{4B11D9C0-85B7-2987-51C0-604DFDCA631F}"/>
                </a:ext>
              </a:extLst>
            </p:cNvPr>
            <p:cNvSpPr/>
            <p:nvPr/>
          </p:nvSpPr>
          <p:spPr>
            <a:xfrm>
              <a:off x="5611357" y="2726073"/>
              <a:ext cx="539063" cy="484361"/>
            </a:xfrm>
            <a:custGeom>
              <a:avLst/>
              <a:gdLst/>
              <a:ahLst/>
              <a:cxnLst/>
              <a:rect l="l" t="t" r="r" b="b"/>
              <a:pathLst>
                <a:path w="718750" h="645814" extrusionOk="0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196;p30">
              <a:extLst>
                <a:ext uri="{FF2B5EF4-FFF2-40B4-BE49-F238E27FC236}">
                  <a16:creationId xmlns:a16="http://schemas.microsoft.com/office/drawing/2014/main" id="{48B14A8B-3939-F2E1-3145-F740EFEBA2BF}"/>
                </a:ext>
              </a:extLst>
            </p:cNvPr>
            <p:cNvSpPr/>
            <p:nvPr/>
          </p:nvSpPr>
          <p:spPr>
            <a:xfrm>
              <a:off x="5632054" y="2654733"/>
              <a:ext cx="153392" cy="129531"/>
            </a:xfrm>
            <a:custGeom>
              <a:avLst/>
              <a:gdLst/>
              <a:ahLst/>
              <a:cxnLst/>
              <a:rect l="l" t="t" r="r" b="b"/>
              <a:pathLst>
                <a:path w="90" h="76" extrusionOk="0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197;p30">
              <a:extLst>
                <a:ext uri="{FF2B5EF4-FFF2-40B4-BE49-F238E27FC236}">
                  <a16:creationId xmlns:a16="http://schemas.microsoft.com/office/drawing/2014/main" id="{DB7AD941-0779-7C85-FF0E-A19DAE4B7445}"/>
                </a:ext>
              </a:extLst>
            </p:cNvPr>
            <p:cNvSpPr/>
            <p:nvPr/>
          </p:nvSpPr>
          <p:spPr>
            <a:xfrm>
              <a:off x="5596100" y="2673399"/>
              <a:ext cx="90737" cy="93983"/>
            </a:xfrm>
            <a:custGeom>
              <a:avLst/>
              <a:gdLst/>
              <a:ahLst/>
              <a:cxnLst/>
              <a:rect l="l" t="t" r="r" b="b"/>
              <a:pathLst>
                <a:path w="120983" h="125311" extrusionOk="0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198;p30">
              <a:extLst>
                <a:ext uri="{FF2B5EF4-FFF2-40B4-BE49-F238E27FC236}">
                  <a16:creationId xmlns:a16="http://schemas.microsoft.com/office/drawing/2014/main" id="{824650B5-7EEA-AFDC-4417-95BE1868E615}"/>
                </a:ext>
              </a:extLst>
            </p:cNvPr>
            <p:cNvSpPr/>
            <p:nvPr/>
          </p:nvSpPr>
          <p:spPr>
            <a:xfrm>
              <a:off x="5500900" y="2588101"/>
              <a:ext cx="186370" cy="100369"/>
            </a:xfrm>
            <a:custGeom>
              <a:avLst/>
              <a:gdLst/>
              <a:ahLst/>
              <a:cxnLst/>
              <a:rect l="l" t="t" r="r" b="b"/>
              <a:pathLst>
                <a:path w="248493" h="133825" extrusionOk="0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199;p30">
              <a:extLst>
                <a:ext uri="{FF2B5EF4-FFF2-40B4-BE49-F238E27FC236}">
                  <a16:creationId xmlns:a16="http://schemas.microsoft.com/office/drawing/2014/main" id="{A8EEC715-B5F3-A909-9DE3-572D7B013AFE}"/>
                </a:ext>
              </a:extLst>
            </p:cNvPr>
            <p:cNvSpPr/>
            <p:nvPr/>
          </p:nvSpPr>
          <p:spPr>
            <a:xfrm>
              <a:off x="5846803" y="2620482"/>
              <a:ext cx="386888" cy="269695"/>
            </a:xfrm>
            <a:custGeom>
              <a:avLst/>
              <a:gdLst/>
              <a:ahLst/>
              <a:cxnLst/>
              <a:rect l="l" t="t" r="r" b="b"/>
              <a:pathLst>
                <a:path w="515850" h="359593" extrusionOk="0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200;p30">
              <a:extLst>
                <a:ext uri="{FF2B5EF4-FFF2-40B4-BE49-F238E27FC236}">
                  <a16:creationId xmlns:a16="http://schemas.microsoft.com/office/drawing/2014/main" id="{30C9FC11-E402-7514-4487-F893DB294F79}"/>
                </a:ext>
              </a:extLst>
            </p:cNvPr>
            <p:cNvSpPr/>
            <p:nvPr/>
          </p:nvSpPr>
          <p:spPr>
            <a:xfrm>
              <a:off x="6068369" y="2770386"/>
              <a:ext cx="402226" cy="314089"/>
            </a:xfrm>
            <a:custGeom>
              <a:avLst/>
              <a:gdLst/>
              <a:ahLst/>
              <a:cxnLst/>
              <a:rect l="l" t="t" r="r" b="b"/>
              <a:pathLst>
                <a:path w="536301" h="418785" extrusionOk="0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201;p30">
              <a:extLst>
                <a:ext uri="{FF2B5EF4-FFF2-40B4-BE49-F238E27FC236}">
                  <a16:creationId xmlns:a16="http://schemas.microsoft.com/office/drawing/2014/main" id="{177C3456-0357-3EBF-359B-14DBBE547095}"/>
                </a:ext>
              </a:extLst>
            </p:cNvPr>
            <p:cNvSpPr/>
            <p:nvPr/>
          </p:nvSpPr>
          <p:spPr>
            <a:xfrm>
              <a:off x="6257553" y="2683544"/>
              <a:ext cx="209636" cy="160697"/>
            </a:xfrm>
            <a:custGeom>
              <a:avLst/>
              <a:gdLst/>
              <a:ahLst/>
              <a:cxnLst/>
              <a:rect l="l" t="t" r="r" b="b"/>
              <a:pathLst>
                <a:path w="279514" h="214263" extrusionOk="0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202;p30">
              <a:extLst>
                <a:ext uri="{FF2B5EF4-FFF2-40B4-BE49-F238E27FC236}">
                  <a16:creationId xmlns:a16="http://schemas.microsoft.com/office/drawing/2014/main" id="{CBA67F80-6DD5-E4B3-7C7B-784F7BE62156}"/>
                </a:ext>
              </a:extLst>
            </p:cNvPr>
            <p:cNvSpPr/>
            <p:nvPr/>
          </p:nvSpPr>
          <p:spPr>
            <a:xfrm>
              <a:off x="6312010" y="2596704"/>
              <a:ext cx="305405" cy="160697"/>
            </a:xfrm>
            <a:custGeom>
              <a:avLst/>
              <a:gdLst/>
              <a:ahLst/>
              <a:cxnLst/>
              <a:rect l="l" t="t" r="r" b="b"/>
              <a:pathLst>
                <a:path w="407206" h="214263" extrusionOk="0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203;p30">
              <a:extLst>
                <a:ext uri="{FF2B5EF4-FFF2-40B4-BE49-F238E27FC236}">
                  <a16:creationId xmlns:a16="http://schemas.microsoft.com/office/drawing/2014/main" id="{D992E79F-3BE6-FA9A-DC78-AD7342F06BB0}"/>
                </a:ext>
              </a:extLst>
            </p:cNvPr>
            <p:cNvSpPr/>
            <p:nvPr/>
          </p:nvSpPr>
          <p:spPr>
            <a:xfrm>
              <a:off x="5940461" y="2514977"/>
              <a:ext cx="479248" cy="310355"/>
            </a:xfrm>
            <a:custGeom>
              <a:avLst/>
              <a:gdLst/>
              <a:ahLst/>
              <a:cxnLst/>
              <a:rect l="l" t="t" r="r" b="b"/>
              <a:pathLst>
                <a:path w="638997" h="413806" extrusionOk="0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204;p30">
              <a:extLst>
                <a:ext uri="{FF2B5EF4-FFF2-40B4-BE49-F238E27FC236}">
                  <a16:creationId xmlns:a16="http://schemas.microsoft.com/office/drawing/2014/main" id="{5F7F527C-3B3C-2D96-E500-BD21CF4D01B4}"/>
                </a:ext>
              </a:extLst>
            </p:cNvPr>
            <p:cNvSpPr/>
            <p:nvPr/>
          </p:nvSpPr>
          <p:spPr>
            <a:xfrm>
              <a:off x="5674337" y="2085396"/>
              <a:ext cx="1137207" cy="620708"/>
            </a:xfrm>
            <a:custGeom>
              <a:avLst/>
              <a:gdLst/>
              <a:ahLst/>
              <a:cxnLst/>
              <a:rect l="l" t="t" r="r" b="b"/>
              <a:pathLst>
                <a:path w="1516276" h="827611" extrusionOk="0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205;p30">
              <a:extLst>
                <a:ext uri="{FF2B5EF4-FFF2-40B4-BE49-F238E27FC236}">
                  <a16:creationId xmlns:a16="http://schemas.microsoft.com/office/drawing/2014/main" id="{6CAC6019-F6E7-B959-09E2-3B56C00F4529}"/>
                </a:ext>
              </a:extLst>
            </p:cNvPr>
            <p:cNvSpPr/>
            <p:nvPr/>
          </p:nvSpPr>
          <p:spPr>
            <a:xfrm>
              <a:off x="6816499" y="2238624"/>
              <a:ext cx="888209" cy="431770"/>
            </a:xfrm>
            <a:custGeom>
              <a:avLst/>
              <a:gdLst/>
              <a:ahLst/>
              <a:cxnLst/>
              <a:rect l="l" t="t" r="r" b="b"/>
              <a:pathLst>
                <a:path w="1184279" h="575693" extrusionOk="0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206;p30">
              <a:extLst>
                <a:ext uri="{FF2B5EF4-FFF2-40B4-BE49-F238E27FC236}">
                  <a16:creationId xmlns:a16="http://schemas.microsoft.com/office/drawing/2014/main" id="{6E792C6F-D14D-2222-5D89-BE335738C506}"/>
                </a:ext>
              </a:extLst>
            </p:cNvPr>
            <p:cNvSpPr/>
            <p:nvPr/>
          </p:nvSpPr>
          <p:spPr>
            <a:xfrm>
              <a:off x="6606864" y="3041379"/>
              <a:ext cx="228708" cy="126367"/>
            </a:xfrm>
            <a:custGeom>
              <a:avLst/>
              <a:gdLst/>
              <a:ahLst/>
              <a:cxnLst/>
              <a:rect l="l" t="t" r="r" b="b"/>
              <a:pathLst>
                <a:path w="304944" h="168489" extrusionOk="0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207;p30">
              <a:extLst>
                <a:ext uri="{FF2B5EF4-FFF2-40B4-BE49-F238E27FC236}">
                  <a16:creationId xmlns:a16="http://schemas.microsoft.com/office/drawing/2014/main" id="{E7C6B9E3-6657-041C-5512-7435D3FCD672}"/>
                </a:ext>
              </a:extLst>
            </p:cNvPr>
            <p:cNvSpPr/>
            <p:nvPr/>
          </p:nvSpPr>
          <p:spPr>
            <a:xfrm>
              <a:off x="6278005" y="2871456"/>
              <a:ext cx="813301" cy="827963"/>
            </a:xfrm>
            <a:custGeom>
              <a:avLst/>
              <a:gdLst/>
              <a:ahLst/>
              <a:cxnLst/>
              <a:rect l="l" t="t" r="r" b="b"/>
              <a:pathLst>
                <a:path w="1084401" h="1103951" extrusionOk="0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208;p30">
              <a:extLst>
                <a:ext uri="{FF2B5EF4-FFF2-40B4-BE49-F238E27FC236}">
                  <a16:creationId xmlns:a16="http://schemas.microsoft.com/office/drawing/2014/main" id="{7FBBC025-36B4-EAA8-6A7A-C54B8B4A61C2}"/>
                </a:ext>
              </a:extLst>
            </p:cNvPr>
            <p:cNvSpPr/>
            <p:nvPr/>
          </p:nvSpPr>
          <p:spPr>
            <a:xfrm>
              <a:off x="5821237" y="3179677"/>
              <a:ext cx="136511" cy="112650"/>
            </a:xfrm>
            <a:custGeom>
              <a:avLst/>
              <a:gdLst/>
              <a:ahLst/>
              <a:cxnLst/>
              <a:rect l="l" t="t" r="r" b="b"/>
              <a:pathLst>
                <a:path w="182014" h="150200" extrusionOk="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209;p30">
              <a:extLst>
                <a:ext uri="{FF2B5EF4-FFF2-40B4-BE49-F238E27FC236}">
                  <a16:creationId xmlns:a16="http://schemas.microsoft.com/office/drawing/2014/main" id="{31AC6AAD-D883-30CE-B9C4-17ED38F9A0D7}"/>
                </a:ext>
              </a:extLst>
            </p:cNvPr>
            <p:cNvSpPr/>
            <p:nvPr/>
          </p:nvSpPr>
          <p:spPr>
            <a:xfrm>
              <a:off x="5833168" y="3167746"/>
              <a:ext cx="214748" cy="291446"/>
            </a:xfrm>
            <a:custGeom>
              <a:avLst/>
              <a:gdLst/>
              <a:ahLst/>
              <a:cxnLst/>
              <a:rect l="l" t="t" r="r" b="b"/>
              <a:pathLst>
                <a:path w="126" h="171" extrusionOk="0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210;p30">
              <a:extLst>
                <a:ext uri="{FF2B5EF4-FFF2-40B4-BE49-F238E27FC236}">
                  <a16:creationId xmlns:a16="http://schemas.microsoft.com/office/drawing/2014/main" id="{A93ABE11-FBCD-5F46-4B45-9D56F9619F3B}"/>
                </a:ext>
              </a:extLst>
            </p:cNvPr>
            <p:cNvSpPr/>
            <p:nvPr/>
          </p:nvSpPr>
          <p:spPr>
            <a:xfrm>
              <a:off x="5572402" y="3387526"/>
              <a:ext cx="295096" cy="184151"/>
            </a:xfrm>
            <a:custGeom>
              <a:avLst/>
              <a:gdLst/>
              <a:ahLst/>
              <a:cxnLst/>
              <a:rect l="l" t="t" r="r" b="b"/>
              <a:pathLst>
                <a:path w="393462" h="245535" extrusionOk="0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211;p30">
              <a:extLst>
                <a:ext uri="{FF2B5EF4-FFF2-40B4-BE49-F238E27FC236}">
                  <a16:creationId xmlns:a16="http://schemas.microsoft.com/office/drawing/2014/main" id="{F9F4C3E6-8784-012A-3C2D-698F6BD9E080}"/>
                </a:ext>
              </a:extLst>
            </p:cNvPr>
            <p:cNvSpPr/>
            <p:nvPr/>
          </p:nvSpPr>
          <p:spPr>
            <a:xfrm>
              <a:off x="5350672" y="2986920"/>
              <a:ext cx="586540" cy="482656"/>
            </a:xfrm>
            <a:custGeom>
              <a:avLst/>
              <a:gdLst/>
              <a:ahLst/>
              <a:cxnLst/>
              <a:rect l="l" t="t" r="r" b="b"/>
              <a:pathLst>
                <a:path w="782054" h="643542" extrusionOk="0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212;p30">
              <a:extLst>
                <a:ext uri="{FF2B5EF4-FFF2-40B4-BE49-F238E27FC236}">
                  <a16:creationId xmlns:a16="http://schemas.microsoft.com/office/drawing/2014/main" id="{F0644EFC-1383-0ADB-8EE1-8FDE59875CDA}"/>
                </a:ext>
              </a:extLst>
            </p:cNvPr>
            <p:cNvSpPr/>
            <p:nvPr/>
          </p:nvSpPr>
          <p:spPr>
            <a:xfrm>
              <a:off x="5548541" y="3566565"/>
              <a:ext cx="46099" cy="54621"/>
            </a:xfrm>
            <a:custGeom>
              <a:avLst/>
              <a:gdLst/>
              <a:ahLst/>
              <a:cxnLst/>
              <a:rect l="l" t="t" r="r" b="b"/>
              <a:pathLst>
                <a:path w="61465" h="72828" extrusionOk="0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213;p30">
              <a:extLst>
                <a:ext uri="{FF2B5EF4-FFF2-40B4-BE49-F238E27FC236}">
                  <a16:creationId xmlns:a16="http://schemas.microsoft.com/office/drawing/2014/main" id="{C23D11EA-4441-0BD5-A573-758937B05C36}"/>
                </a:ext>
              </a:extLst>
            </p:cNvPr>
            <p:cNvSpPr/>
            <p:nvPr/>
          </p:nvSpPr>
          <p:spPr>
            <a:xfrm>
              <a:off x="5568831" y="3604062"/>
              <a:ext cx="184395" cy="100720"/>
            </a:xfrm>
            <a:custGeom>
              <a:avLst/>
              <a:gdLst/>
              <a:ahLst/>
              <a:cxnLst/>
              <a:rect l="l" t="t" r="r" b="b"/>
              <a:pathLst>
                <a:path w="245860" h="134293" extrusionOk="0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214;p30">
              <a:extLst>
                <a:ext uri="{FF2B5EF4-FFF2-40B4-BE49-F238E27FC236}">
                  <a16:creationId xmlns:a16="http://schemas.microsoft.com/office/drawing/2014/main" id="{ADBB36F7-3163-43CD-1DCB-739F2427D2DF}"/>
                </a:ext>
              </a:extLst>
            </p:cNvPr>
            <p:cNvSpPr/>
            <p:nvPr/>
          </p:nvSpPr>
          <p:spPr>
            <a:xfrm>
              <a:off x="5396772" y="3418287"/>
              <a:ext cx="187560" cy="162157"/>
            </a:xfrm>
            <a:custGeom>
              <a:avLst/>
              <a:gdLst/>
              <a:ahLst/>
              <a:cxnLst/>
              <a:rect l="l" t="t" r="r" b="b"/>
              <a:pathLst>
                <a:path w="250080" h="216210" extrusionOk="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215;p30">
              <a:extLst>
                <a:ext uri="{FF2B5EF4-FFF2-40B4-BE49-F238E27FC236}">
                  <a16:creationId xmlns:a16="http://schemas.microsoft.com/office/drawing/2014/main" id="{802712F1-7551-FE0D-6CE9-DFEEF3801F43}"/>
                </a:ext>
              </a:extLst>
            </p:cNvPr>
            <p:cNvSpPr/>
            <p:nvPr/>
          </p:nvSpPr>
          <p:spPr>
            <a:xfrm>
              <a:off x="5302951" y="3503505"/>
              <a:ext cx="414319" cy="329265"/>
            </a:xfrm>
            <a:custGeom>
              <a:avLst/>
              <a:gdLst/>
              <a:ahLst/>
              <a:cxnLst/>
              <a:rect l="l" t="t" r="r" b="b"/>
              <a:pathLst>
                <a:path w="552426" h="439020" extrusionOk="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216;p30">
              <a:extLst>
                <a:ext uri="{FF2B5EF4-FFF2-40B4-BE49-F238E27FC236}">
                  <a16:creationId xmlns:a16="http://schemas.microsoft.com/office/drawing/2014/main" id="{46687299-DEA0-87CA-AA8F-3150371EBAC3}"/>
                </a:ext>
              </a:extLst>
            </p:cNvPr>
            <p:cNvSpPr/>
            <p:nvPr/>
          </p:nvSpPr>
          <p:spPr>
            <a:xfrm>
              <a:off x="4999738" y="3300686"/>
              <a:ext cx="455061" cy="528511"/>
            </a:xfrm>
            <a:custGeom>
              <a:avLst/>
              <a:gdLst/>
              <a:ahLst/>
              <a:cxnLst/>
              <a:rect l="l" t="t" r="r" b="b"/>
              <a:pathLst>
                <a:path w="606748" h="704681" extrusionOk="0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217;p30">
              <a:extLst>
                <a:ext uri="{FF2B5EF4-FFF2-40B4-BE49-F238E27FC236}">
                  <a16:creationId xmlns:a16="http://schemas.microsoft.com/office/drawing/2014/main" id="{73DE995B-2C32-4759-D50F-FE9278F1A79E}"/>
                </a:ext>
              </a:extLst>
            </p:cNvPr>
            <p:cNvSpPr/>
            <p:nvPr/>
          </p:nvSpPr>
          <p:spPr>
            <a:xfrm>
              <a:off x="5212781" y="3798195"/>
              <a:ext cx="151768" cy="160372"/>
            </a:xfrm>
            <a:custGeom>
              <a:avLst/>
              <a:gdLst/>
              <a:ahLst/>
              <a:cxnLst/>
              <a:rect l="l" t="t" r="r" b="b"/>
              <a:pathLst>
                <a:path w="202358" h="213829" extrusionOk="0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218;p30">
              <a:extLst>
                <a:ext uri="{FF2B5EF4-FFF2-40B4-BE49-F238E27FC236}">
                  <a16:creationId xmlns:a16="http://schemas.microsoft.com/office/drawing/2014/main" id="{A3F7F226-FCAC-7ACF-BE60-305ED21DA582}"/>
                </a:ext>
              </a:extLst>
            </p:cNvPr>
            <p:cNvSpPr/>
            <p:nvPr/>
          </p:nvSpPr>
          <p:spPr>
            <a:xfrm>
              <a:off x="5326812" y="3760456"/>
              <a:ext cx="226922" cy="288524"/>
            </a:xfrm>
            <a:custGeom>
              <a:avLst/>
              <a:gdLst/>
              <a:ahLst/>
              <a:cxnLst/>
              <a:rect l="l" t="t" r="r" b="b"/>
              <a:pathLst>
                <a:path w="302563" h="384698" extrusionOk="0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219;p30">
              <a:extLst>
                <a:ext uri="{FF2B5EF4-FFF2-40B4-BE49-F238E27FC236}">
                  <a16:creationId xmlns:a16="http://schemas.microsoft.com/office/drawing/2014/main" id="{AF82C17E-4F73-39F5-D525-2E77351CF1A1}"/>
                </a:ext>
              </a:extLst>
            </p:cNvPr>
            <p:cNvSpPr/>
            <p:nvPr/>
          </p:nvSpPr>
          <p:spPr>
            <a:xfrm>
              <a:off x="5197444" y="3948262"/>
              <a:ext cx="51293" cy="54784"/>
            </a:xfrm>
            <a:custGeom>
              <a:avLst/>
              <a:gdLst/>
              <a:ahLst/>
              <a:cxnLst/>
              <a:rect l="l" t="t" r="r" b="b"/>
              <a:pathLst>
                <a:path w="68391" h="73045" extrusionOk="0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220;p30">
              <a:extLst>
                <a:ext uri="{FF2B5EF4-FFF2-40B4-BE49-F238E27FC236}">
                  <a16:creationId xmlns:a16="http://schemas.microsoft.com/office/drawing/2014/main" id="{3D178992-2694-9209-FB73-DCE2E28CF6BA}"/>
                </a:ext>
              </a:extLst>
            </p:cNvPr>
            <p:cNvSpPr/>
            <p:nvPr/>
          </p:nvSpPr>
          <p:spPr>
            <a:xfrm>
              <a:off x="5200690" y="3943067"/>
              <a:ext cx="310517" cy="301996"/>
            </a:xfrm>
            <a:custGeom>
              <a:avLst/>
              <a:gdLst/>
              <a:ahLst/>
              <a:cxnLst/>
              <a:rect l="l" t="t" r="r" b="b"/>
              <a:pathLst>
                <a:path w="414022" h="402661" extrusionOk="0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221;p30">
              <a:extLst>
                <a:ext uri="{FF2B5EF4-FFF2-40B4-BE49-F238E27FC236}">
                  <a16:creationId xmlns:a16="http://schemas.microsoft.com/office/drawing/2014/main" id="{A71E0E72-8EFE-0A9A-60B2-BF0995B78FEA}"/>
                </a:ext>
              </a:extLst>
            </p:cNvPr>
            <p:cNvSpPr/>
            <p:nvPr/>
          </p:nvSpPr>
          <p:spPr>
            <a:xfrm>
              <a:off x="5297999" y="4166257"/>
              <a:ext cx="88789" cy="220105"/>
            </a:xfrm>
            <a:custGeom>
              <a:avLst/>
              <a:gdLst/>
              <a:ahLst/>
              <a:cxnLst/>
              <a:rect l="l" t="t" r="r" b="b"/>
              <a:pathLst>
                <a:path w="118385" h="293473" extrusionOk="0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222;p30">
              <a:extLst>
                <a:ext uri="{FF2B5EF4-FFF2-40B4-BE49-F238E27FC236}">
                  <a16:creationId xmlns:a16="http://schemas.microsoft.com/office/drawing/2014/main" id="{06A7E2D6-49D0-50BA-F081-9E6B7D9761EF}"/>
                </a:ext>
              </a:extLst>
            </p:cNvPr>
            <p:cNvSpPr/>
            <p:nvPr/>
          </p:nvSpPr>
          <p:spPr>
            <a:xfrm>
              <a:off x="5224470" y="4202210"/>
              <a:ext cx="300291" cy="484361"/>
            </a:xfrm>
            <a:custGeom>
              <a:avLst/>
              <a:gdLst/>
              <a:ahLst/>
              <a:cxnLst/>
              <a:rect l="l" t="t" r="r" b="b"/>
              <a:pathLst>
                <a:path w="400388" h="645815" extrusionOk="0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223;p30">
              <a:extLst>
                <a:ext uri="{FF2B5EF4-FFF2-40B4-BE49-F238E27FC236}">
                  <a16:creationId xmlns:a16="http://schemas.microsoft.com/office/drawing/2014/main" id="{90B7EE79-2C17-8A16-9F5D-7F45C6857082}"/>
                </a:ext>
              </a:extLst>
            </p:cNvPr>
            <p:cNvSpPr/>
            <p:nvPr/>
          </p:nvSpPr>
          <p:spPr>
            <a:xfrm>
              <a:off x="5195657" y="3982431"/>
              <a:ext cx="49507" cy="77223"/>
            </a:xfrm>
            <a:custGeom>
              <a:avLst/>
              <a:gdLst/>
              <a:ahLst/>
              <a:cxnLst/>
              <a:rect l="l" t="t" r="r" b="b"/>
              <a:pathLst>
                <a:path w="66010" h="102964" extrusionOk="0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224;p30">
              <a:extLst>
                <a:ext uri="{FF2B5EF4-FFF2-40B4-BE49-F238E27FC236}">
                  <a16:creationId xmlns:a16="http://schemas.microsoft.com/office/drawing/2014/main" id="{3B22917F-A708-5074-0D31-DE1BDBD46989}"/>
                </a:ext>
              </a:extLst>
            </p:cNvPr>
            <p:cNvSpPr/>
            <p:nvPr/>
          </p:nvSpPr>
          <p:spPr>
            <a:xfrm>
              <a:off x="4997953" y="4145967"/>
              <a:ext cx="325693" cy="276349"/>
            </a:xfrm>
            <a:custGeom>
              <a:avLst/>
              <a:gdLst/>
              <a:ahLst/>
              <a:cxnLst/>
              <a:rect l="l" t="t" r="r" b="b"/>
              <a:pathLst>
                <a:path w="434258" h="368465" extrusionOk="0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225;p30">
              <a:extLst>
                <a:ext uri="{FF2B5EF4-FFF2-40B4-BE49-F238E27FC236}">
                  <a16:creationId xmlns:a16="http://schemas.microsoft.com/office/drawing/2014/main" id="{3652EA5E-4AFC-C8C1-1CBD-68AEB4441883}"/>
                </a:ext>
              </a:extLst>
            </p:cNvPr>
            <p:cNvSpPr/>
            <p:nvPr/>
          </p:nvSpPr>
          <p:spPr>
            <a:xfrm>
              <a:off x="4938134" y="4401294"/>
              <a:ext cx="281952" cy="292258"/>
            </a:xfrm>
            <a:custGeom>
              <a:avLst/>
              <a:gdLst/>
              <a:ahLst/>
              <a:cxnLst/>
              <a:rect l="l" t="t" r="r" b="b"/>
              <a:pathLst>
                <a:path w="375936" h="389677" extrusionOk="0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226;p30">
              <a:extLst>
                <a:ext uri="{FF2B5EF4-FFF2-40B4-BE49-F238E27FC236}">
                  <a16:creationId xmlns:a16="http://schemas.microsoft.com/office/drawing/2014/main" id="{84D32718-A732-51CF-48A5-7BC28572271B}"/>
                </a:ext>
              </a:extLst>
            </p:cNvPr>
            <p:cNvSpPr/>
            <p:nvPr/>
          </p:nvSpPr>
          <p:spPr>
            <a:xfrm>
              <a:off x="5091774" y="4341046"/>
              <a:ext cx="214398" cy="214373"/>
            </a:xfrm>
            <a:custGeom>
              <a:avLst/>
              <a:gdLst/>
              <a:ahLst/>
              <a:cxnLst/>
              <a:rect l="l" t="t" r="r" b="b"/>
              <a:pathLst>
                <a:path w="285864" h="285831" extrusionOk="0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227;p30">
              <a:extLst>
                <a:ext uri="{FF2B5EF4-FFF2-40B4-BE49-F238E27FC236}">
                  <a16:creationId xmlns:a16="http://schemas.microsoft.com/office/drawing/2014/main" id="{6E8D4E70-E97A-6A1B-BE01-300A121415D4}"/>
                </a:ext>
              </a:extLst>
            </p:cNvPr>
            <p:cNvSpPr/>
            <p:nvPr/>
          </p:nvSpPr>
          <p:spPr>
            <a:xfrm>
              <a:off x="4846347" y="4543327"/>
              <a:ext cx="455063" cy="398820"/>
            </a:xfrm>
            <a:custGeom>
              <a:avLst/>
              <a:gdLst/>
              <a:ahLst/>
              <a:cxnLst/>
              <a:rect l="l" t="t" r="r" b="b"/>
              <a:pathLst>
                <a:path w="267" h="234" extrusionOk="0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228;p30">
              <a:extLst>
                <a:ext uri="{FF2B5EF4-FFF2-40B4-BE49-F238E27FC236}">
                  <a16:creationId xmlns:a16="http://schemas.microsoft.com/office/drawing/2014/main" id="{EC5BA736-290B-C333-D0F7-40283176F038}"/>
                </a:ext>
              </a:extLst>
            </p:cNvPr>
            <p:cNvSpPr/>
            <p:nvPr/>
          </p:nvSpPr>
          <p:spPr>
            <a:xfrm>
              <a:off x="4721928" y="4384415"/>
              <a:ext cx="366435" cy="370333"/>
            </a:xfrm>
            <a:custGeom>
              <a:avLst/>
              <a:gdLst/>
              <a:ahLst/>
              <a:cxnLst/>
              <a:rect l="l" t="t" r="r" b="b"/>
              <a:pathLst>
                <a:path w="488580" h="493777" extrusionOk="0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229;p30">
              <a:extLst>
                <a:ext uri="{FF2B5EF4-FFF2-40B4-BE49-F238E27FC236}">
                  <a16:creationId xmlns:a16="http://schemas.microsoft.com/office/drawing/2014/main" id="{E8B4CD26-20C4-07AA-EC66-5E6B60138AA3}"/>
                </a:ext>
              </a:extLst>
            </p:cNvPr>
            <p:cNvSpPr/>
            <p:nvPr/>
          </p:nvSpPr>
          <p:spPr>
            <a:xfrm>
              <a:off x="4733859" y="3776202"/>
              <a:ext cx="530379" cy="514958"/>
            </a:xfrm>
            <a:custGeom>
              <a:avLst/>
              <a:gdLst/>
              <a:ahLst/>
              <a:cxnLst/>
              <a:rect l="l" t="t" r="r" b="b"/>
              <a:pathLst>
                <a:path w="707172" h="686611" extrusionOk="0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230;p30">
              <a:extLst>
                <a:ext uri="{FF2B5EF4-FFF2-40B4-BE49-F238E27FC236}">
                  <a16:creationId xmlns:a16="http://schemas.microsoft.com/office/drawing/2014/main" id="{C4A1854C-5F05-3ED9-B3F7-5E79C833C560}"/>
                </a:ext>
              </a:extLst>
            </p:cNvPr>
            <p:cNvSpPr/>
            <p:nvPr/>
          </p:nvSpPr>
          <p:spPr>
            <a:xfrm>
              <a:off x="4716816" y="4038674"/>
              <a:ext cx="347688" cy="380073"/>
            </a:xfrm>
            <a:custGeom>
              <a:avLst/>
              <a:gdLst/>
              <a:ahLst/>
              <a:cxnLst/>
              <a:rect l="l" t="t" r="r" b="b"/>
              <a:pathLst>
                <a:path w="204" h="223" extrusionOk="0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231;p30">
              <a:extLst>
                <a:ext uri="{FF2B5EF4-FFF2-40B4-BE49-F238E27FC236}">
                  <a16:creationId xmlns:a16="http://schemas.microsoft.com/office/drawing/2014/main" id="{4A42A659-008C-5C37-17EF-3A518B3FA4E5}"/>
                </a:ext>
              </a:extLst>
            </p:cNvPr>
            <p:cNvSpPr/>
            <p:nvPr/>
          </p:nvSpPr>
          <p:spPr>
            <a:xfrm>
              <a:off x="4701475" y="3817106"/>
              <a:ext cx="208093" cy="245589"/>
            </a:xfrm>
            <a:custGeom>
              <a:avLst/>
              <a:gdLst/>
              <a:ahLst/>
              <a:cxnLst/>
              <a:rect l="l" t="t" r="r" b="b"/>
              <a:pathLst>
                <a:path w="277458" h="327452" extrusionOk="0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232;p30">
              <a:extLst>
                <a:ext uri="{FF2B5EF4-FFF2-40B4-BE49-F238E27FC236}">
                  <a16:creationId xmlns:a16="http://schemas.microsoft.com/office/drawing/2014/main" id="{D97C6880-240A-C649-FE96-B74DF9C108AB}"/>
                </a:ext>
              </a:extLst>
            </p:cNvPr>
            <p:cNvSpPr/>
            <p:nvPr/>
          </p:nvSpPr>
          <p:spPr>
            <a:xfrm>
              <a:off x="4652051" y="3858011"/>
              <a:ext cx="57948" cy="39363"/>
            </a:xfrm>
            <a:custGeom>
              <a:avLst/>
              <a:gdLst/>
              <a:ahLst/>
              <a:cxnLst/>
              <a:rect l="l" t="t" r="r" b="b"/>
              <a:pathLst>
                <a:path w="77264" h="52484" extrusionOk="0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233;p30">
              <a:extLst>
                <a:ext uri="{FF2B5EF4-FFF2-40B4-BE49-F238E27FC236}">
                  <a16:creationId xmlns:a16="http://schemas.microsoft.com/office/drawing/2014/main" id="{05344270-4AC0-25FC-0B6C-0B939B4D1C8B}"/>
                </a:ext>
              </a:extLst>
            </p:cNvPr>
            <p:cNvSpPr/>
            <p:nvPr/>
          </p:nvSpPr>
          <p:spPr>
            <a:xfrm>
              <a:off x="4640119" y="3858010"/>
              <a:ext cx="153392" cy="174089"/>
            </a:xfrm>
            <a:custGeom>
              <a:avLst/>
              <a:gdLst/>
              <a:ahLst/>
              <a:cxnLst/>
              <a:rect l="l" t="t" r="r" b="b"/>
              <a:pathLst>
                <a:path w="204522" h="232118" extrusionOk="0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234;p30">
              <a:extLst>
                <a:ext uri="{FF2B5EF4-FFF2-40B4-BE49-F238E27FC236}">
                  <a16:creationId xmlns:a16="http://schemas.microsoft.com/office/drawing/2014/main" id="{62B124BC-91BB-17D6-C8D0-75794A68EE3B}"/>
                </a:ext>
              </a:extLst>
            </p:cNvPr>
            <p:cNvSpPr/>
            <p:nvPr/>
          </p:nvSpPr>
          <p:spPr>
            <a:xfrm>
              <a:off x="4793511" y="3610880"/>
              <a:ext cx="363189" cy="256060"/>
            </a:xfrm>
            <a:custGeom>
              <a:avLst/>
              <a:gdLst/>
              <a:ahLst/>
              <a:cxnLst/>
              <a:rect l="l" t="t" r="r" b="b"/>
              <a:pathLst>
                <a:path w="484252" h="341413" extrusionOk="0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235;p30">
              <a:extLst>
                <a:ext uri="{FF2B5EF4-FFF2-40B4-BE49-F238E27FC236}">
                  <a16:creationId xmlns:a16="http://schemas.microsoft.com/office/drawing/2014/main" id="{F08BBBA5-0EFA-6437-D093-C735E2442642}"/>
                </a:ext>
              </a:extLst>
            </p:cNvPr>
            <p:cNvSpPr/>
            <p:nvPr/>
          </p:nvSpPr>
          <p:spPr>
            <a:xfrm>
              <a:off x="4633301" y="3563157"/>
              <a:ext cx="208093" cy="313763"/>
            </a:xfrm>
            <a:custGeom>
              <a:avLst/>
              <a:gdLst/>
              <a:ahLst/>
              <a:cxnLst/>
              <a:rect l="l" t="t" r="r" b="b"/>
              <a:pathLst>
                <a:path w="277458" h="418350" extrusionOk="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236;p30">
              <a:extLst>
                <a:ext uri="{FF2B5EF4-FFF2-40B4-BE49-F238E27FC236}">
                  <a16:creationId xmlns:a16="http://schemas.microsoft.com/office/drawing/2014/main" id="{2A52096C-04A3-3EDA-34F6-D6A26381BFC0}"/>
                </a:ext>
              </a:extLst>
            </p:cNvPr>
            <p:cNvSpPr/>
            <p:nvPr/>
          </p:nvSpPr>
          <p:spPr>
            <a:xfrm>
              <a:off x="4471387" y="3534184"/>
              <a:ext cx="332592" cy="274726"/>
            </a:xfrm>
            <a:custGeom>
              <a:avLst/>
              <a:gdLst/>
              <a:ahLst/>
              <a:cxnLst/>
              <a:rect l="l" t="t" r="r" b="b"/>
              <a:pathLst>
                <a:path w="443456" h="366302" extrusionOk="0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237;p30">
              <a:extLst>
                <a:ext uri="{FF2B5EF4-FFF2-40B4-BE49-F238E27FC236}">
                  <a16:creationId xmlns:a16="http://schemas.microsoft.com/office/drawing/2014/main" id="{C8691725-79BE-3B4F-E12C-0933AF12A59F}"/>
                </a:ext>
              </a:extLst>
            </p:cNvPr>
            <p:cNvSpPr/>
            <p:nvPr/>
          </p:nvSpPr>
          <p:spPr>
            <a:xfrm>
              <a:off x="4418553" y="3583610"/>
              <a:ext cx="88789" cy="168731"/>
            </a:xfrm>
            <a:custGeom>
              <a:avLst/>
              <a:gdLst/>
              <a:ahLst/>
              <a:cxnLst/>
              <a:rect l="l" t="t" r="r" b="b"/>
              <a:pathLst>
                <a:path w="118385" h="224975" extrusionOk="0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238;p30">
              <a:extLst>
                <a:ext uri="{FF2B5EF4-FFF2-40B4-BE49-F238E27FC236}">
                  <a16:creationId xmlns:a16="http://schemas.microsoft.com/office/drawing/2014/main" id="{2EEA47AC-3672-1979-F9E9-41D5CDC13ABA}"/>
                </a:ext>
              </a:extLst>
            </p:cNvPr>
            <p:cNvSpPr/>
            <p:nvPr/>
          </p:nvSpPr>
          <p:spPr>
            <a:xfrm>
              <a:off x="4394691" y="3615992"/>
              <a:ext cx="58193" cy="141461"/>
            </a:xfrm>
            <a:custGeom>
              <a:avLst/>
              <a:gdLst/>
              <a:ahLst/>
              <a:cxnLst/>
              <a:rect l="l" t="t" r="r" b="b"/>
              <a:pathLst>
                <a:path w="77590" h="188615" extrusionOk="0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239;p30">
              <a:extLst>
                <a:ext uri="{FF2B5EF4-FFF2-40B4-BE49-F238E27FC236}">
                  <a16:creationId xmlns:a16="http://schemas.microsoft.com/office/drawing/2014/main" id="{859F1DC9-74D2-A69A-E332-B2054DB2C422}"/>
                </a:ext>
              </a:extLst>
            </p:cNvPr>
            <p:cNvSpPr/>
            <p:nvPr/>
          </p:nvSpPr>
          <p:spPr>
            <a:xfrm>
              <a:off x="4306065" y="3615992"/>
              <a:ext cx="122795" cy="173843"/>
            </a:xfrm>
            <a:custGeom>
              <a:avLst/>
              <a:gdLst/>
              <a:ahLst/>
              <a:cxnLst/>
              <a:rect l="l" t="t" r="r" b="b"/>
              <a:pathLst>
                <a:path w="163727" h="231791" extrusionOk="0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240;p30">
              <a:extLst>
                <a:ext uri="{FF2B5EF4-FFF2-40B4-BE49-F238E27FC236}">
                  <a16:creationId xmlns:a16="http://schemas.microsoft.com/office/drawing/2014/main" id="{47151807-B4E8-94F6-0CEC-4ED7F12F2DC0}"/>
                </a:ext>
              </a:extLst>
            </p:cNvPr>
            <p:cNvSpPr/>
            <p:nvPr/>
          </p:nvSpPr>
          <p:spPr>
            <a:xfrm>
              <a:off x="4246412" y="3498392"/>
              <a:ext cx="214993" cy="167515"/>
            </a:xfrm>
            <a:custGeom>
              <a:avLst/>
              <a:gdLst/>
              <a:ahLst/>
              <a:cxnLst/>
              <a:rect l="l" t="t" r="r" b="b"/>
              <a:pathLst>
                <a:path w="286657" h="223353" extrusionOk="0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241;p30">
              <a:extLst>
                <a:ext uri="{FF2B5EF4-FFF2-40B4-BE49-F238E27FC236}">
                  <a16:creationId xmlns:a16="http://schemas.microsoft.com/office/drawing/2014/main" id="{CD74C227-35E0-FA95-E060-0C24BDB31DA2}"/>
                </a:ext>
              </a:extLst>
            </p:cNvPr>
            <p:cNvSpPr/>
            <p:nvPr/>
          </p:nvSpPr>
          <p:spPr>
            <a:xfrm>
              <a:off x="4905998" y="2591672"/>
              <a:ext cx="59979" cy="63062"/>
            </a:xfrm>
            <a:custGeom>
              <a:avLst/>
              <a:gdLst/>
              <a:ahLst/>
              <a:cxnLst/>
              <a:rect l="l" t="t" r="r" b="b"/>
              <a:pathLst>
                <a:path w="79972" h="84082" extrusionOk="0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242;p30">
              <a:extLst>
                <a:ext uri="{FF2B5EF4-FFF2-40B4-BE49-F238E27FC236}">
                  <a16:creationId xmlns:a16="http://schemas.microsoft.com/office/drawing/2014/main" id="{5B456C7B-97E9-9AE5-80AC-924ECC647487}"/>
                </a:ext>
              </a:extLst>
            </p:cNvPr>
            <p:cNvSpPr/>
            <p:nvPr/>
          </p:nvSpPr>
          <p:spPr>
            <a:xfrm>
              <a:off x="4912489" y="2489410"/>
              <a:ext cx="119631" cy="149983"/>
            </a:xfrm>
            <a:custGeom>
              <a:avLst/>
              <a:gdLst/>
              <a:ahLst/>
              <a:cxnLst/>
              <a:rect l="l" t="t" r="r" b="b"/>
              <a:pathLst>
                <a:path w="159508" h="199977" extrusionOk="0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243;p30">
              <a:extLst>
                <a:ext uri="{FF2B5EF4-FFF2-40B4-BE49-F238E27FC236}">
                  <a16:creationId xmlns:a16="http://schemas.microsoft.com/office/drawing/2014/main" id="{288D9DDD-BF45-CA5E-7B79-57159608FACD}"/>
                </a:ext>
              </a:extLst>
            </p:cNvPr>
            <p:cNvSpPr/>
            <p:nvPr/>
          </p:nvSpPr>
          <p:spPr>
            <a:xfrm>
              <a:off x="5035529" y="2049686"/>
              <a:ext cx="267827" cy="226678"/>
            </a:xfrm>
            <a:custGeom>
              <a:avLst/>
              <a:gdLst/>
              <a:ahLst/>
              <a:cxnLst/>
              <a:rect l="l" t="t" r="r" b="b"/>
              <a:pathLst>
                <a:path w="357103" h="302238" extrusionOk="0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244;p30">
              <a:extLst>
                <a:ext uri="{FF2B5EF4-FFF2-40B4-BE49-F238E27FC236}">
                  <a16:creationId xmlns:a16="http://schemas.microsoft.com/office/drawing/2014/main" id="{C486DA8F-992F-28FF-0920-DF63ECD83589}"/>
                </a:ext>
              </a:extLst>
            </p:cNvPr>
            <p:cNvSpPr/>
            <p:nvPr/>
          </p:nvSpPr>
          <p:spPr>
            <a:xfrm>
              <a:off x="5132678" y="2395589"/>
              <a:ext cx="95606" cy="122795"/>
            </a:xfrm>
            <a:custGeom>
              <a:avLst/>
              <a:gdLst/>
              <a:ahLst/>
              <a:cxnLst/>
              <a:rect l="l" t="t" r="r" b="b"/>
              <a:pathLst>
                <a:path w="127475" h="163727" extrusionOk="0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245;p30">
              <a:extLst>
                <a:ext uri="{FF2B5EF4-FFF2-40B4-BE49-F238E27FC236}">
                  <a16:creationId xmlns:a16="http://schemas.microsoft.com/office/drawing/2014/main" id="{3E11549D-18F9-FC8E-4DD6-A5D92CD8DE69}"/>
                </a:ext>
              </a:extLst>
            </p:cNvPr>
            <p:cNvSpPr/>
            <p:nvPr/>
          </p:nvSpPr>
          <p:spPr>
            <a:xfrm>
              <a:off x="4953639" y="2405733"/>
              <a:ext cx="259144" cy="180824"/>
            </a:xfrm>
            <a:custGeom>
              <a:avLst/>
              <a:gdLst/>
              <a:ahLst/>
              <a:cxnLst/>
              <a:rect l="l" t="t" r="r" b="b"/>
              <a:pathLst>
                <a:path w="345525" h="241098" extrusionOk="0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246;p30">
              <a:extLst>
                <a:ext uri="{FF2B5EF4-FFF2-40B4-BE49-F238E27FC236}">
                  <a16:creationId xmlns:a16="http://schemas.microsoft.com/office/drawing/2014/main" id="{D6B426C8-F637-7BA9-D27A-1CB864922FBB}"/>
                </a:ext>
              </a:extLst>
            </p:cNvPr>
            <p:cNvSpPr/>
            <p:nvPr/>
          </p:nvSpPr>
          <p:spPr>
            <a:xfrm>
              <a:off x="4784990" y="2114449"/>
              <a:ext cx="279758" cy="262633"/>
            </a:xfrm>
            <a:custGeom>
              <a:avLst/>
              <a:gdLst/>
              <a:ahLst/>
              <a:cxnLst/>
              <a:rect l="l" t="t" r="r" b="b"/>
              <a:pathLst>
                <a:path w="373011" h="350178" extrusionOk="0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247;p30">
              <a:extLst>
                <a:ext uri="{FF2B5EF4-FFF2-40B4-BE49-F238E27FC236}">
                  <a16:creationId xmlns:a16="http://schemas.microsoft.com/office/drawing/2014/main" id="{45E911C6-33BB-6DB0-29F1-CFEB88E99CCF}"/>
                </a:ext>
              </a:extLst>
            </p:cNvPr>
            <p:cNvSpPr/>
            <p:nvPr/>
          </p:nvSpPr>
          <p:spPr>
            <a:xfrm>
              <a:off x="4268488" y="2279775"/>
              <a:ext cx="356453" cy="356210"/>
            </a:xfrm>
            <a:custGeom>
              <a:avLst/>
              <a:gdLst/>
              <a:ahLst/>
              <a:cxnLst/>
              <a:rect l="l" t="t" r="r" b="b"/>
              <a:pathLst>
                <a:path w="475271" h="474946" extrusionOk="0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248;p30">
              <a:extLst>
                <a:ext uri="{FF2B5EF4-FFF2-40B4-BE49-F238E27FC236}">
                  <a16:creationId xmlns:a16="http://schemas.microsoft.com/office/drawing/2014/main" id="{10D37E83-2DC6-30E2-4F1F-D1DE839FA38B}"/>
                </a:ext>
              </a:extLst>
            </p:cNvPr>
            <p:cNvSpPr/>
            <p:nvPr/>
          </p:nvSpPr>
          <p:spPr>
            <a:xfrm>
              <a:off x="4486726" y="2179216"/>
              <a:ext cx="111143" cy="122551"/>
            </a:xfrm>
            <a:custGeom>
              <a:avLst/>
              <a:gdLst/>
              <a:ahLst/>
              <a:cxnLst/>
              <a:rect l="l" t="t" r="r" b="b"/>
              <a:pathLst>
                <a:path w="148190" h="163402" extrusionOk="0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249;p30">
              <a:extLst>
                <a:ext uri="{FF2B5EF4-FFF2-40B4-BE49-F238E27FC236}">
                  <a16:creationId xmlns:a16="http://schemas.microsoft.com/office/drawing/2014/main" id="{F48246F7-07C9-19C0-26BD-1FB72D7A6719}"/>
                </a:ext>
              </a:extLst>
            </p:cNvPr>
            <p:cNvSpPr/>
            <p:nvPr/>
          </p:nvSpPr>
          <p:spPr>
            <a:xfrm>
              <a:off x="4563423" y="2426348"/>
              <a:ext cx="121010" cy="87249"/>
            </a:xfrm>
            <a:custGeom>
              <a:avLst/>
              <a:gdLst/>
              <a:ahLst/>
              <a:cxnLst/>
              <a:rect l="l" t="t" r="r" b="b"/>
              <a:pathLst>
                <a:path w="161346" h="116332" extrusionOk="0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250;p30">
              <a:extLst>
                <a:ext uri="{FF2B5EF4-FFF2-40B4-BE49-F238E27FC236}">
                  <a16:creationId xmlns:a16="http://schemas.microsoft.com/office/drawing/2014/main" id="{2475692B-CF63-3E93-0025-7B9D154C257C}"/>
                </a:ext>
              </a:extLst>
            </p:cNvPr>
            <p:cNvSpPr/>
            <p:nvPr/>
          </p:nvSpPr>
          <p:spPr>
            <a:xfrm>
              <a:off x="4979287" y="2039296"/>
              <a:ext cx="153392" cy="119467"/>
            </a:xfrm>
            <a:custGeom>
              <a:avLst/>
              <a:gdLst/>
              <a:ahLst/>
              <a:cxnLst/>
              <a:rect l="l" t="t" r="r" b="b"/>
              <a:pathLst>
                <a:path w="204522" h="159290" extrusionOk="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251;p30">
              <a:extLst>
                <a:ext uri="{FF2B5EF4-FFF2-40B4-BE49-F238E27FC236}">
                  <a16:creationId xmlns:a16="http://schemas.microsoft.com/office/drawing/2014/main" id="{34E5EBC4-F765-35EC-6778-05318A06137A}"/>
                </a:ext>
              </a:extLst>
            </p:cNvPr>
            <p:cNvSpPr/>
            <p:nvPr/>
          </p:nvSpPr>
          <p:spPr>
            <a:xfrm>
              <a:off x="4157786" y="2821760"/>
              <a:ext cx="570957" cy="573070"/>
            </a:xfrm>
            <a:custGeom>
              <a:avLst/>
              <a:gdLst/>
              <a:ahLst/>
              <a:cxnLst/>
              <a:rect l="l" t="t" r="r" b="b"/>
              <a:pathLst>
                <a:path w="761276" h="764093" extrusionOk="0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252;p30">
              <a:extLst>
                <a:ext uri="{FF2B5EF4-FFF2-40B4-BE49-F238E27FC236}">
                  <a16:creationId xmlns:a16="http://schemas.microsoft.com/office/drawing/2014/main" id="{75A68E29-F59A-DB77-DEBE-86B2FD0EDA4C}"/>
                </a:ext>
              </a:extLst>
            </p:cNvPr>
            <p:cNvSpPr/>
            <p:nvPr/>
          </p:nvSpPr>
          <p:spPr>
            <a:xfrm>
              <a:off x="4031665" y="3639853"/>
              <a:ext cx="88789" cy="92035"/>
            </a:xfrm>
            <a:custGeom>
              <a:avLst/>
              <a:gdLst/>
              <a:ahLst/>
              <a:cxnLst/>
              <a:rect l="l" t="t" r="r" b="b"/>
              <a:pathLst>
                <a:path w="118385" h="122713" extrusionOk="0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253;p30">
              <a:extLst>
                <a:ext uri="{FF2B5EF4-FFF2-40B4-BE49-F238E27FC236}">
                  <a16:creationId xmlns:a16="http://schemas.microsoft.com/office/drawing/2014/main" id="{DCA343F5-9A08-63AE-8E7D-B26B0A24161D}"/>
                </a:ext>
              </a:extLst>
            </p:cNvPr>
            <p:cNvSpPr/>
            <p:nvPr/>
          </p:nvSpPr>
          <p:spPr>
            <a:xfrm>
              <a:off x="3978830" y="3571678"/>
              <a:ext cx="206389" cy="151850"/>
            </a:xfrm>
            <a:custGeom>
              <a:avLst/>
              <a:gdLst/>
              <a:ahLst/>
              <a:cxnLst/>
              <a:rect l="l" t="t" r="r" b="b"/>
              <a:pathLst>
                <a:path w="275186" h="202467" extrusionOk="0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254;p30">
              <a:extLst>
                <a:ext uri="{FF2B5EF4-FFF2-40B4-BE49-F238E27FC236}">
                  <a16:creationId xmlns:a16="http://schemas.microsoft.com/office/drawing/2014/main" id="{80D0DF2F-224F-BF4E-41DF-2AF598658875}"/>
                </a:ext>
              </a:extLst>
            </p:cNvPr>
            <p:cNvSpPr/>
            <p:nvPr/>
          </p:nvSpPr>
          <p:spPr>
            <a:xfrm>
              <a:off x="3927698" y="2869482"/>
              <a:ext cx="439967" cy="455388"/>
            </a:xfrm>
            <a:custGeom>
              <a:avLst/>
              <a:gdLst/>
              <a:ahLst/>
              <a:cxnLst/>
              <a:rect l="l" t="t" r="r" b="b"/>
              <a:pathLst>
                <a:path w="586622" h="607184" extrusionOk="0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255;p30">
              <a:extLst>
                <a:ext uri="{FF2B5EF4-FFF2-40B4-BE49-F238E27FC236}">
                  <a16:creationId xmlns:a16="http://schemas.microsoft.com/office/drawing/2014/main" id="{30EDFAD9-BE38-0BB6-205B-295B7D8BACCB}"/>
                </a:ext>
              </a:extLst>
            </p:cNvPr>
            <p:cNvSpPr/>
            <p:nvPr/>
          </p:nvSpPr>
          <p:spPr>
            <a:xfrm>
              <a:off x="4053494" y="3212057"/>
              <a:ext cx="462205" cy="431364"/>
            </a:xfrm>
            <a:custGeom>
              <a:avLst/>
              <a:gdLst/>
              <a:ahLst/>
              <a:cxnLst/>
              <a:rect l="l" t="t" r="r" b="b"/>
              <a:pathLst>
                <a:path w="616273" h="575152" extrusionOk="0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256;p30">
              <a:extLst>
                <a:ext uri="{FF2B5EF4-FFF2-40B4-BE49-F238E27FC236}">
                  <a16:creationId xmlns:a16="http://schemas.microsoft.com/office/drawing/2014/main" id="{53405D12-AFEB-A3A5-35A8-9CE8BC9C181C}"/>
                </a:ext>
              </a:extLst>
            </p:cNvPr>
            <p:cNvSpPr/>
            <p:nvPr/>
          </p:nvSpPr>
          <p:spPr>
            <a:xfrm>
              <a:off x="4406622" y="3252801"/>
              <a:ext cx="438344" cy="353289"/>
            </a:xfrm>
            <a:custGeom>
              <a:avLst/>
              <a:gdLst/>
              <a:ahLst/>
              <a:cxnLst/>
              <a:rect l="l" t="t" r="r" b="b"/>
              <a:pathLst>
                <a:path w="584459" h="471052" extrusionOk="0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257;p30">
              <a:extLst>
                <a:ext uri="{FF2B5EF4-FFF2-40B4-BE49-F238E27FC236}">
                  <a16:creationId xmlns:a16="http://schemas.microsoft.com/office/drawing/2014/main" id="{B0FCC58C-E1B9-2F50-B236-5DD68DD58060}"/>
                </a:ext>
              </a:extLst>
            </p:cNvPr>
            <p:cNvSpPr/>
            <p:nvPr/>
          </p:nvSpPr>
          <p:spPr>
            <a:xfrm>
              <a:off x="2664771" y="4459650"/>
              <a:ext cx="242619" cy="245174"/>
            </a:xfrm>
            <a:custGeom>
              <a:avLst/>
              <a:gdLst/>
              <a:ahLst/>
              <a:cxnLst/>
              <a:rect l="l" t="t" r="r" b="b"/>
              <a:pathLst>
                <a:path w="226218" h="228600" extrusionOk="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258;p30">
              <a:extLst>
                <a:ext uri="{FF2B5EF4-FFF2-40B4-BE49-F238E27FC236}">
                  <a16:creationId xmlns:a16="http://schemas.microsoft.com/office/drawing/2014/main" id="{4B9E7822-285F-0FE9-7817-20F14305BEDE}"/>
                </a:ext>
              </a:extLst>
            </p:cNvPr>
            <p:cNvSpPr/>
            <p:nvPr/>
          </p:nvSpPr>
          <p:spPr>
            <a:xfrm>
              <a:off x="4938382" y="2099112"/>
              <a:ext cx="88627" cy="40904"/>
            </a:xfrm>
            <a:custGeom>
              <a:avLst/>
              <a:gdLst/>
              <a:ahLst/>
              <a:cxnLst/>
              <a:rect l="l" t="t" r="r" b="b"/>
              <a:pathLst>
                <a:path w="52" h="24" extrusionOk="0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259;p30">
              <a:extLst>
                <a:ext uri="{FF2B5EF4-FFF2-40B4-BE49-F238E27FC236}">
                  <a16:creationId xmlns:a16="http://schemas.microsoft.com/office/drawing/2014/main" id="{5011C90A-9010-E682-0FD0-668C3206C720}"/>
                </a:ext>
              </a:extLst>
            </p:cNvPr>
            <p:cNvSpPr/>
            <p:nvPr/>
          </p:nvSpPr>
          <p:spPr>
            <a:xfrm>
              <a:off x="4931565" y="2624055"/>
              <a:ext cx="47723" cy="112487"/>
            </a:xfrm>
            <a:custGeom>
              <a:avLst/>
              <a:gdLst/>
              <a:ahLst/>
              <a:cxnLst/>
              <a:rect l="l" t="t" r="r" b="b"/>
              <a:pathLst>
                <a:path w="28" h="66" extrusionOk="0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260;p30">
              <a:extLst>
                <a:ext uri="{FF2B5EF4-FFF2-40B4-BE49-F238E27FC236}">
                  <a16:creationId xmlns:a16="http://schemas.microsoft.com/office/drawing/2014/main" id="{83C3FD8D-6B2A-A949-B4D2-F2CAB90D568B}"/>
                </a:ext>
              </a:extLst>
            </p:cNvPr>
            <p:cNvSpPr/>
            <p:nvPr/>
          </p:nvSpPr>
          <p:spPr>
            <a:xfrm>
              <a:off x="2371623" y="4531234"/>
              <a:ext cx="543691" cy="1210096"/>
            </a:xfrm>
            <a:custGeom>
              <a:avLst/>
              <a:gdLst/>
              <a:ahLst/>
              <a:cxnLst/>
              <a:rect l="l" t="t" r="r" b="b"/>
              <a:pathLst>
                <a:path w="319" h="710" extrusionOk="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261;p30">
              <a:extLst>
                <a:ext uri="{FF2B5EF4-FFF2-40B4-BE49-F238E27FC236}">
                  <a16:creationId xmlns:a16="http://schemas.microsoft.com/office/drawing/2014/main" id="{7C8507A0-4174-9665-4FE7-68EE1872570F}"/>
                </a:ext>
              </a:extLst>
            </p:cNvPr>
            <p:cNvSpPr/>
            <p:nvPr/>
          </p:nvSpPr>
          <p:spPr>
            <a:xfrm>
              <a:off x="7523888" y="4215927"/>
              <a:ext cx="1111239" cy="1032844"/>
            </a:xfrm>
            <a:custGeom>
              <a:avLst/>
              <a:gdLst/>
              <a:ahLst/>
              <a:cxnLst/>
              <a:rect l="l" t="t" r="r" b="b"/>
              <a:pathLst>
                <a:path w="652" h="606" extrusionOk="0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262;p30">
              <a:extLst>
                <a:ext uri="{FF2B5EF4-FFF2-40B4-BE49-F238E27FC236}">
                  <a16:creationId xmlns:a16="http://schemas.microsoft.com/office/drawing/2014/main" id="{380CAE92-0297-0939-BCC7-1057A0B08BC6}"/>
                </a:ext>
              </a:extLst>
            </p:cNvPr>
            <p:cNvSpPr/>
            <p:nvPr/>
          </p:nvSpPr>
          <p:spPr>
            <a:xfrm>
              <a:off x="4657162" y="2373514"/>
              <a:ext cx="209637" cy="103966"/>
            </a:xfrm>
            <a:custGeom>
              <a:avLst/>
              <a:gdLst/>
              <a:ahLst/>
              <a:cxnLst/>
              <a:rect l="l" t="t" r="r" b="b"/>
              <a:pathLst>
                <a:path w="123" h="61" extrusionOk="0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263;p30">
              <a:extLst>
                <a:ext uri="{FF2B5EF4-FFF2-40B4-BE49-F238E27FC236}">
                  <a16:creationId xmlns:a16="http://schemas.microsoft.com/office/drawing/2014/main" id="{BCE3F955-0C0E-5B24-7AFD-D947A91A471F}"/>
                </a:ext>
              </a:extLst>
            </p:cNvPr>
            <p:cNvSpPr/>
            <p:nvPr/>
          </p:nvSpPr>
          <p:spPr>
            <a:xfrm>
              <a:off x="4467980" y="2267843"/>
              <a:ext cx="95444" cy="85217"/>
            </a:xfrm>
            <a:custGeom>
              <a:avLst/>
              <a:gdLst/>
              <a:ahLst/>
              <a:cxnLst/>
              <a:rect l="l" t="t" r="r" b="b"/>
              <a:pathLst>
                <a:path w="56" h="50" extrusionOk="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264;p30">
              <a:extLst>
                <a:ext uri="{FF2B5EF4-FFF2-40B4-BE49-F238E27FC236}">
                  <a16:creationId xmlns:a16="http://schemas.microsoft.com/office/drawing/2014/main" id="{0F6CA30A-75BB-35CA-4B68-99AD44483A18}"/>
                </a:ext>
              </a:extLst>
            </p:cNvPr>
            <p:cNvSpPr/>
            <p:nvPr/>
          </p:nvSpPr>
          <p:spPr>
            <a:xfrm>
              <a:off x="5015077" y="2566107"/>
              <a:ext cx="170436" cy="109080"/>
            </a:xfrm>
            <a:custGeom>
              <a:avLst/>
              <a:gdLst/>
              <a:ahLst/>
              <a:cxnLst/>
              <a:rect l="l" t="t" r="r" b="b"/>
              <a:pathLst>
                <a:path w="100" h="64" extrusionOk="0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265;p30">
              <a:extLst>
                <a:ext uri="{FF2B5EF4-FFF2-40B4-BE49-F238E27FC236}">
                  <a16:creationId xmlns:a16="http://schemas.microsoft.com/office/drawing/2014/main" id="{7B9961FC-573E-94A7-1841-BB4C5FBC57AF}"/>
                </a:ext>
              </a:extLst>
            </p:cNvPr>
            <p:cNvSpPr/>
            <p:nvPr/>
          </p:nvSpPr>
          <p:spPr>
            <a:xfrm>
              <a:off x="2218231" y="3152406"/>
              <a:ext cx="52835" cy="95444"/>
            </a:xfrm>
            <a:custGeom>
              <a:avLst/>
              <a:gdLst/>
              <a:ahLst/>
              <a:cxnLst/>
              <a:rect l="l" t="t" r="r" b="b"/>
              <a:pathLst>
                <a:path w="31" h="56" extrusionOk="0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266;p30">
              <a:extLst>
                <a:ext uri="{FF2B5EF4-FFF2-40B4-BE49-F238E27FC236}">
                  <a16:creationId xmlns:a16="http://schemas.microsoft.com/office/drawing/2014/main" id="{3A442CAD-6A21-C639-2CB5-BBEEF96B2E18}"/>
                </a:ext>
              </a:extLst>
            </p:cNvPr>
            <p:cNvSpPr/>
            <p:nvPr/>
          </p:nvSpPr>
          <p:spPr>
            <a:xfrm>
              <a:off x="4831007" y="2526907"/>
              <a:ext cx="107376" cy="97149"/>
            </a:xfrm>
            <a:custGeom>
              <a:avLst/>
              <a:gdLst/>
              <a:ahLst/>
              <a:cxnLst/>
              <a:rect l="l" t="t" r="r" b="b"/>
              <a:pathLst>
                <a:path w="63" h="57" extrusionOk="0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267;p30">
              <a:extLst>
                <a:ext uri="{FF2B5EF4-FFF2-40B4-BE49-F238E27FC236}">
                  <a16:creationId xmlns:a16="http://schemas.microsoft.com/office/drawing/2014/main" id="{EA114FBB-6FC6-2C70-AE8C-60C00BEE839A}"/>
                </a:ext>
              </a:extLst>
            </p:cNvPr>
            <p:cNvSpPr/>
            <p:nvPr/>
          </p:nvSpPr>
          <p:spPr>
            <a:xfrm>
              <a:off x="1935307" y="3401244"/>
              <a:ext cx="32384" cy="76697"/>
            </a:xfrm>
            <a:custGeom>
              <a:avLst/>
              <a:gdLst/>
              <a:ahLst/>
              <a:cxnLst/>
              <a:rect l="l" t="t" r="r" b="b"/>
              <a:pathLst>
                <a:path w="19" h="45" extrusionOk="0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268;p30">
              <a:extLst>
                <a:ext uri="{FF2B5EF4-FFF2-40B4-BE49-F238E27FC236}">
                  <a16:creationId xmlns:a16="http://schemas.microsoft.com/office/drawing/2014/main" id="{62D6577C-9E0F-69CC-21F4-AF56D7ACAB49}"/>
                </a:ext>
              </a:extLst>
            </p:cNvPr>
            <p:cNvSpPr/>
            <p:nvPr/>
          </p:nvSpPr>
          <p:spPr>
            <a:xfrm>
              <a:off x="2475587" y="4186101"/>
              <a:ext cx="333708" cy="379678"/>
            </a:xfrm>
            <a:custGeom>
              <a:avLst/>
              <a:gdLst/>
              <a:ahLst/>
              <a:cxnLst/>
              <a:rect l="l" t="t" r="r" b="b"/>
              <a:pathLst>
                <a:path w="311150" h="354012" extrusionOk="0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269;p30">
              <a:extLst>
                <a:ext uri="{FF2B5EF4-FFF2-40B4-BE49-F238E27FC236}">
                  <a16:creationId xmlns:a16="http://schemas.microsoft.com/office/drawing/2014/main" id="{B123AD2A-DF4E-9C00-E54A-9954ABECDF72}"/>
                </a:ext>
              </a:extLst>
            </p:cNvPr>
            <p:cNvSpPr/>
            <p:nvPr/>
          </p:nvSpPr>
          <p:spPr>
            <a:xfrm>
              <a:off x="2354579" y="3776202"/>
              <a:ext cx="1083970" cy="1126582"/>
            </a:xfrm>
            <a:custGeom>
              <a:avLst/>
              <a:gdLst/>
              <a:ahLst/>
              <a:cxnLst/>
              <a:rect l="l" t="t" r="r" b="b"/>
              <a:pathLst>
                <a:path w="636" h="661" extrusionOk="0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270;p30">
              <a:extLst>
                <a:ext uri="{FF2B5EF4-FFF2-40B4-BE49-F238E27FC236}">
                  <a16:creationId xmlns:a16="http://schemas.microsoft.com/office/drawing/2014/main" id="{8767166A-6D5B-5153-FE5D-43022B03D4C0}"/>
                </a:ext>
              </a:extLst>
            </p:cNvPr>
            <p:cNvSpPr/>
            <p:nvPr/>
          </p:nvSpPr>
          <p:spPr>
            <a:xfrm>
              <a:off x="505354" y="-518785"/>
              <a:ext cx="2438932" cy="3182040"/>
            </a:xfrm>
            <a:custGeom>
              <a:avLst/>
              <a:gdLst/>
              <a:ahLst/>
              <a:cxnLst/>
              <a:rect l="l" t="t" r="r" b="b"/>
              <a:pathLst>
                <a:path w="1431" h="1867" extrusionOk="0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271;p30">
              <a:extLst>
                <a:ext uri="{FF2B5EF4-FFF2-40B4-BE49-F238E27FC236}">
                  <a16:creationId xmlns:a16="http://schemas.microsoft.com/office/drawing/2014/main" id="{F349948B-C674-B4F4-3EDD-BFA3794D5A53}"/>
                </a:ext>
              </a:extLst>
            </p:cNvPr>
            <p:cNvSpPr/>
            <p:nvPr/>
          </p:nvSpPr>
          <p:spPr>
            <a:xfrm>
              <a:off x="2312822" y="4407667"/>
              <a:ext cx="238610" cy="1351559"/>
            </a:xfrm>
            <a:custGeom>
              <a:avLst/>
              <a:gdLst/>
              <a:ahLst/>
              <a:cxnLst/>
              <a:rect l="l" t="t" r="r" b="b"/>
              <a:pathLst>
                <a:path w="140" h="793" extrusionOk="0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272;p30">
              <a:extLst>
                <a:ext uri="{FF2B5EF4-FFF2-40B4-BE49-F238E27FC236}">
                  <a16:creationId xmlns:a16="http://schemas.microsoft.com/office/drawing/2014/main" id="{EDBB60E6-3E15-C2C5-5817-3E5D4BE63B71}"/>
                </a:ext>
              </a:extLst>
            </p:cNvPr>
            <p:cNvSpPr/>
            <p:nvPr/>
          </p:nvSpPr>
          <p:spPr>
            <a:xfrm>
              <a:off x="4161195" y="3631332"/>
              <a:ext cx="165324" cy="170436"/>
            </a:xfrm>
            <a:custGeom>
              <a:avLst/>
              <a:gdLst/>
              <a:ahLst/>
              <a:cxnLst/>
              <a:rect l="l" t="t" r="r" b="b"/>
              <a:pathLst>
                <a:path w="97" h="100" extrusionOk="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273;p30">
              <a:extLst>
                <a:ext uri="{FF2B5EF4-FFF2-40B4-BE49-F238E27FC236}">
                  <a16:creationId xmlns:a16="http://schemas.microsoft.com/office/drawing/2014/main" id="{61F82B98-D850-A395-F271-E78ED3603EA2}"/>
                </a:ext>
              </a:extLst>
            </p:cNvPr>
            <p:cNvSpPr/>
            <p:nvPr/>
          </p:nvSpPr>
          <p:spPr>
            <a:xfrm>
              <a:off x="2218231" y="3575088"/>
              <a:ext cx="334054" cy="460178"/>
            </a:xfrm>
            <a:custGeom>
              <a:avLst/>
              <a:gdLst/>
              <a:ahLst/>
              <a:cxnLst/>
              <a:rect l="l" t="t" r="r" b="b"/>
              <a:pathLst>
                <a:path w="196" h="270" extrusionOk="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274;p30">
              <a:extLst>
                <a:ext uri="{FF2B5EF4-FFF2-40B4-BE49-F238E27FC236}">
                  <a16:creationId xmlns:a16="http://schemas.microsoft.com/office/drawing/2014/main" id="{52BD8975-908D-06C3-562C-0D83BDBBD08F}"/>
                </a:ext>
              </a:extLst>
            </p:cNvPr>
            <p:cNvSpPr/>
            <p:nvPr/>
          </p:nvSpPr>
          <p:spPr>
            <a:xfrm>
              <a:off x="2023934" y="3610880"/>
              <a:ext cx="97149" cy="81810"/>
            </a:xfrm>
            <a:custGeom>
              <a:avLst/>
              <a:gdLst/>
              <a:ahLst/>
              <a:cxnLst/>
              <a:rect l="l" t="t" r="r" b="b"/>
              <a:pathLst>
                <a:path w="57" h="48" extrusionOk="0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275;p30">
              <a:extLst>
                <a:ext uri="{FF2B5EF4-FFF2-40B4-BE49-F238E27FC236}">
                  <a16:creationId xmlns:a16="http://schemas.microsoft.com/office/drawing/2014/main" id="{E0DE693F-6763-BBBE-8DEE-C437515DBB03}"/>
                </a:ext>
              </a:extLst>
            </p:cNvPr>
            <p:cNvSpPr/>
            <p:nvPr/>
          </p:nvSpPr>
          <p:spPr>
            <a:xfrm>
              <a:off x="2047796" y="3264895"/>
              <a:ext cx="303375" cy="100558"/>
            </a:xfrm>
            <a:custGeom>
              <a:avLst/>
              <a:gdLst/>
              <a:ahLst/>
              <a:cxnLst/>
              <a:rect l="l" t="t" r="r" b="b"/>
              <a:pathLst>
                <a:path w="178" h="59" extrusionOk="0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276;p30">
              <a:extLst>
                <a:ext uri="{FF2B5EF4-FFF2-40B4-BE49-F238E27FC236}">
                  <a16:creationId xmlns:a16="http://schemas.microsoft.com/office/drawing/2014/main" id="{CBD7FF37-3A95-D1A3-1CA0-440FF6F4C97A}"/>
                </a:ext>
              </a:extLst>
            </p:cNvPr>
            <p:cNvSpPr/>
            <p:nvPr/>
          </p:nvSpPr>
          <p:spPr>
            <a:xfrm>
              <a:off x="5301409" y="2872891"/>
              <a:ext cx="49427" cy="20453"/>
            </a:xfrm>
            <a:custGeom>
              <a:avLst/>
              <a:gdLst/>
              <a:ahLst/>
              <a:cxnLst/>
              <a:rect l="l" t="t" r="r" b="b"/>
              <a:pathLst>
                <a:path w="29" h="12" extrusionOk="0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277;p30">
              <a:extLst>
                <a:ext uri="{FF2B5EF4-FFF2-40B4-BE49-F238E27FC236}">
                  <a16:creationId xmlns:a16="http://schemas.microsoft.com/office/drawing/2014/main" id="{FB08B04D-2528-4FFA-5FD0-5111FEF1CAA6}"/>
                </a:ext>
              </a:extLst>
            </p:cNvPr>
            <p:cNvSpPr/>
            <p:nvPr/>
          </p:nvSpPr>
          <p:spPr>
            <a:xfrm>
              <a:off x="5286071" y="2889935"/>
              <a:ext cx="47723" cy="20453"/>
            </a:xfrm>
            <a:custGeom>
              <a:avLst/>
              <a:gdLst/>
              <a:ahLst/>
              <a:cxnLst/>
              <a:rect l="l" t="t" r="r" b="b"/>
              <a:pathLst>
                <a:path w="28" h="12" extrusionOk="0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278;p30">
              <a:extLst>
                <a:ext uri="{FF2B5EF4-FFF2-40B4-BE49-F238E27FC236}">
                  <a16:creationId xmlns:a16="http://schemas.microsoft.com/office/drawing/2014/main" id="{E203E022-0FE3-7CD9-5AAA-D2B72CB99F8E}"/>
                </a:ext>
              </a:extLst>
            </p:cNvPr>
            <p:cNvSpPr/>
            <p:nvPr/>
          </p:nvSpPr>
          <p:spPr>
            <a:xfrm>
              <a:off x="4733859" y="2284887"/>
              <a:ext cx="185775" cy="109080"/>
            </a:xfrm>
            <a:custGeom>
              <a:avLst/>
              <a:gdLst/>
              <a:ahLst/>
              <a:cxnLst/>
              <a:rect l="l" t="t" r="r" b="b"/>
              <a:pathLst>
                <a:path w="109" h="64" extrusionOk="0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279;p30">
              <a:extLst>
                <a:ext uri="{FF2B5EF4-FFF2-40B4-BE49-F238E27FC236}">
                  <a16:creationId xmlns:a16="http://schemas.microsoft.com/office/drawing/2014/main" id="{17AE4F7D-AE98-25CC-3825-647A65458C10}"/>
                </a:ext>
              </a:extLst>
            </p:cNvPr>
            <p:cNvSpPr/>
            <p:nvPr/>
          </p:nvSpPr>
          <p:spPr>
            <a:xfrm>
              <a:off x="4560015" y="2111043"/>
              <a:ext cx="250541" cy="334055"/>
            </a:xfrm>
            <a:custGeom>
              <a:avLst/>
              <a:gdLst/>
              <a:ahLst/>
              <a:cxnLst/>
              <a:rect l="l" t="t" r="r" b="b"/>
              <a:pathLst>
                <a:path w="147" h="196" extrusionOk="0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buSzPts val="1400"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488" name="Google Shape;280;p30">
              <a:extLst>
                <a:ext uri="{FF2B5EF4-FFF2-40B4-BE49-F238E27FC236}">
                  <a16:creationId xmlns:a16="http://schemas.microsoft.com/office/drawing/2014/main" id="{A56D8BC7-71A2-0272-C022-2B86B4835293}"/>
                </a:ext>
              </a:extLst>
            </p:cNvPr>
            <p:cNvSpPr/>
            <p:nvPr/>
          </p:nvSpPr>
          <p:spPr>
            <a:xfrm>
              <a:off x="4621371" y="1972989"/>
              <a:ext cx="124419" cy="146575"/>
            </a:xfrm>
            <a:custGeom>
              <a:avLst/>
              <a:gdLst/>
              <a:ahLst/>
              <a:cxnLst/>
              <a:rect l="l" t="t" r="r" b="b"/>
              <a:pathLst>
                <a:path w="73" h="86" extrusionOk="0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281;p30">
              <a:extLst>
                <a:ext uri="{FF2B5EF4-FFF2-40B4-BE49-F238E27FC236}">
                  <a16:creationId xmlns:a16="http://schemas.microsoft.com/office/drawing/2014/main" id="{9792CB8C-75BB-DD0D-1648-7DBBDCA38D14}"/>
                </a:ext>
              </a:extLst>
            </p:cNvPr>
            <p:cNvSpPr/>
            <p:nvPr/>
          </p:nvSpPr>
          <p:spPr>
            <a:xfrm>
              <a:off x="2410823" y="3362043"/>
              <a:ext cx="100558" cy="68174"/>
            </a:xfrm>
            <a:custGeom>
              <a:avLst/>
              <a:gdLst/>
              <a:ahLst/>
              <a:cxnLst/>
              <a:rect l="l" t="t" r="r" b="b"/>
              <a:pathLst>
                <a:path w="59" h="40" extrusionOk="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282;p30">
              <a:extLst>
                <a:ext uri="{FF2B5EF4-FFF2-40B4-BE49-F238E27FC236}">
                  <a16:creationId xmlns:a16="http://schemas.microsoft.com/office/drawing/2014/main" id="{B1DE623E-EAB9-3AB2-2608-0BB84405C8FD}"/>
                </a:ext>
              </a:extLst>
            </p:cNvPr>
            <p:cNvSpPr/>
            <p:nvPr/>
          </p:nvSpPr>
          <p:spPr>
            <a:xfrm>
              <a:off x="2161986" y="3881873"/>
              <a:ext cx="160210" cy="173845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283;p30">
              <a:extLst>
                <a:ext uri="{FF2B5EF4-FFF2-40B4-BE49-F238E27FC236}">
                  <a16:creationId xmlns:a16="http://schemas.microsoft.com/office/drawing/2014/main" id="{FC17105C-525A-503A-BBCC-E56193DF532C}"/>
                </a:ext>
              </a:extLst>
            </p:cNvPr>
            <p:cNvSpPr/>
            <p:nvPr/>
          </p:nvSpPr>
          <p:spPr>
            <a:xfrm>
              <a:off x="5079842" y="3005832"/>
              <a:ext cx="334054" cy="294855"/>
            </a:xfrm>
            <a:custGeom>
              <a:avLst/>
              <a:gdLst/>
              <a:ahLst/>
              <a:cxnLst/>
              <a:rect l="l" t="t" r="r" b="b"/>
              <a:pathLst>
                <a:path w="196" h="173" extrusionOk="0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284;p30">
              <a:extLst>
                <a:ext uri="{FF2B5EF4-FFF2-40B4-BE49-F238E27FC236}">
                  <a16:creationId xmlns:a16="http://schemas.microsoft.com/office/drawing/2014/main" id="{CDDB507C-1EFE-15D8-1AFC-8F782A7D41D3}"/>
                </a:ext>
              </a:extLst>
            </p:cNvPr>
            <p:cNvSpPr/>
            <p:nvPr/>
          </p:nvSpPr>
          <p:spPr>
            <a:xfrm>
              <a:off x="4137336" y="2583150"/>
              <a:ext cx="342577" cy="277811"/>
            </a:xfrm>
            <a:custGeom>
              <a:avLst/>
              <a:gdLst/>
              <a:ahLst/>
              <a:cxnLst/>
              <a:rect l="l" t="t" r="r" b="b"/>
              <a:pathLst>
                <a:path w="201" h="163" extrusionOk="0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285;p30">
              <a:extLst>
                <a:ext uri="{FF2B5EF4-FFF2-40B4-BE49-F238E27FC236}">
                  <a16:creationId xmlns:a16="http://schemas.microsoft.com/office/drawing/2014/main" id="{6AAB6DC4-3724-5069-D643-533F277D3F76}"/>
                </a:ext>
              </a:extLst>
            </p:cNvPr>
            <p:cNvSpPr/>
            <p:nvPr/>
          </p:nvSpPr>
          <p:spPr>
            <a:xfrm>
              <a:off x="5040644" y="1872432"/>
              <a:ext cx="132940" cy="114193"/>
            </a:xfrm>
            <a:custGeom>
              <a:avLst/>
              <a:gdLst/>
              <a:ahLst/>
              <a:cxnLst/>
              <a:rect l="l" t="t" r="r" b="b"/>
              <a:pathLst>
                <a:path w="78" h="67" extrusionOk="0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286;p30">
              <a:extLst>
                <a:ext uri="{FF2B5EF4-FFF2-40B4-BE49-F238E27FC236}">
                  <a16:creationId xmlns:a16="http://schemas.microsoft.com/office/drawing/2014/main" id="{040F95CA-210B-9E46-C938-87AB8D489071}"/>
                </a:ext>
              </a:extLst>
            </p:cNvPr>
            <p:cNvSpPr/>
            <p:nvPr/>
          </p:nvSpPr>
          <p:spPr>
            <a:xfrm>
              <a:off x="4967356" y="1183870"/>
              <a:ext cx="298263" cy="676631"/>
            </a:xfrm>
            <a:custGeom>
              <a:avLst/>
              <a:gdLst/>
              <a:ahLst/>
              <a:cxnLst/>
              <a:rect l="l" t="t" r="r" b="b"/>
              <a:pathLst>
                <a:path w="175" h="397" extrusionOk="0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287;p30">
              <a:extLst>
                <a:ext uri="{FF2B5EF4-FFF2-40B4-BE49-F238E27FC236}">
                  <a16:creationId xmlns:a16="http://schemas.microsoft.com/office/drawing/2014/main" id="{22418E12-F2F0-CF67-1802-BE23CB4D2BF8}"/>
                </a:ext>
              </a:extLst>
            </p:cNvPr>
            <p:cNvSpPr/>
            <p:nvPr/>
          </p:nvSpPr>
          <p:spPr>
            <a:xfrm>
              <a:off x="2709085" y="5552145"/>
              <a:ext cx="93740" cy="52835"/>
            </a:xfrm>
            <a:custGeom>
              <a:avLst/>
              <a:gdLst/>
              <a:ahLst/>
              <a:cxnLst/>
              <a:rect l="l" t="t" r="r" b="b"/>
              <a:pathLst>
                <a:path w="55" h="31" extrusionOk="0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288;p30">
              <a:extLst>
                <a:ext uri="{FF2B5EF4-FFF2-40B4-BE49-F238E27FC236}">
                  <a16:creationId xmlns:a16="http://schemas.microsoft.com/office/drawing/2014/main" id="{1F7E8540-0EB9-1EB4-845A-62120F0CC343}"/>
                </a:ext>
              </a:extLst>
            </p:cNvPr>
            <p:cNvSpPr/>
            <p:nvPr/>
          </p:nvSpPr>
          <p:spPr>
            <a:xfrm>
              <a:off x="2891451" y="3760864"/>
              <a:ext cx="80106" cy="100558"/>
            </a:xfrm>
            <a:custGeom>
              <a:avLst/>
              <a:gdLst/>
              <a:ahLst/>
              <a:cxnLst/>
              <a:rect l="l" t="t" r="r" b="b"/>
              <a:pathLst>
                <a:path w="47" h="59" extrusionOk="0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289;p30">
              <a:extLst>
                <a:ext uri="{FF2B5EF4-FFF2-40B4-BE49-F238E27FC236}">
                  <a16:creationId xmlns:a16="http://schemas.microsoft.com/office/drawing/2014/main" id="{27C67C34-1EEA-0337-C3FA-564B38B38280}"/>
                </a:ext>
              </a:extLst>
            </p:cNvPr>
            <p:cNvSpPr/>
            <p:nvPr/>
          </p:nvSpPr>
          <p:spPr>
            <a:xfrm>
              <a:off x="4633301" y="2610420"/>
              <a:ext cx="27269" cy="61357"/>
            </a:xfrm>
            <a:custGeom>
              <a:avLst/>
              <a:gdLst/>
              <a:ahLst/>
              <a:cxnLst/>
              <a:rect l="l" t="t" r="r" b="b"/>
              <a:pathLst>
                <a:path w="16" h="36" extrusionOk="0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290;p30">
              <a:extLst>
                <a:ext uri="{FF2B5EF4-FFF2-40B4-BE49-F238E27FC236}">
                  <a16:creationId xmlns:a16="http://schemas.microsoft.com/office/drawing/2014/main" id="{4E8720B1-6B91-B1D5-C723-69F407985692}"/>
                </a:ext>
              </a:extLst>
            </p:cNvPr>
            <p:cNvSpPr/>
            <p:nvPr/>
          </p:nvSpPr>
          <p:spPr>
            <a:xfrm>
              <a:off x="4188466" y="1925267"/>
              <a:ext cx="253950" cy="410752"/>
            </a:xfrm>
            <a:custGeom>
              <a:avLst/>
              <a:gdLst/>
              <a:ahLst/>
              <a:cxnLst/>
              <a:rect l="l" t="t" r="r" b="b"/>
              <a:pathLst>
                <a:path w="149" h="241" extrusionOk="0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291;p30">
              <a:extLst>
                <a:ext uri="{FF2B5EF4-FFF2-40B4-BE49-F238E27FC236}">
                  <a16:creationId xmlns:a16="http://schemas.microsoft.com/office/drawing/2014/main" id="{DDADF754-9A24-8D57-4BE0-1B61B8EE93D5}"/>
                </a:ext>
              </a:extLst>
            </p:cNvPr>
            <p:cNvSpPr/>
            <p:nvPr/>
          </p:nvSpPr>
          <p:spPr>
            <a:xfrm>
              <a:off x="3931107" y="3534184"/>
              <a:ext cx="85217" cy="25810"/>
            </a:xfrm>
            <a:custGeom>
              <a:avLst/>
              <a:gdLst/>
              <a:ahLst/>
              <a:cxnLst/>
              <a:rect l="l" t="t" r="r" b="b"/>
              <a:pathLst>
                <a:path w="113623" h="34413" extrusionOk="0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292;p30">
              <a:extLst>
                <a:ext uri="{FF2B5EF4-FFF2-40B4-BE49-F238E27FC236}">
                  <a16:creationId xmlns:a16="http://schemas.microsoft.com/office/drawing/2014/main" id="{F52AE4DF-0101-9D86-6837-043413A58B8E}"/>
                </a:ext>
              </a:extLst>
            </p:cNvPr>
            <p:cNvSpPr/>
            <p:nvPr/>
          </p:nvSpPr>
          <p:spPr>
            <a:xfrm>
              <a:off x="3934516" y="3571679"/>
              <a:ext cx="85217" cy="44313"/>
            </a:xfrm>
            <a:custGeom>
              <a:avLst/>
              <a:gdLst/>
              <a:ahLst/>
              <a:cxnLst/>
              <a:rect l="l" t="t" r="r" b="b"/>
              <a:pathLst>
                <a:path w="50" h="26" extrusionOk="0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293;p30">
              <a:extLst>
                <a:ext uri="{FF2B5EF4-FFF2-40B4-BE49-F238E27FC236}">
                  <a16:creationId xmlns:a16="http://schemas.microsoft.com/office/drawing/2014/main" id="{127AFD56-D3EA-AA45-3AD1-329B98448FFB}"/>
                </a:ext>
              </a:extLst>
            </p:cNvPr>
            <p:cNvSpPr/>
            <p:nvPr/>
          </p:nvSpPr>
          <p:spPr>
            <a:xfrm>
              <a:off x="4950312" y="2651162"/>
              <a:ext cx="182367" cy="242020"/>
            </a:xfrm>
            <a:custGeom>
              <a:avLst/>
              <a:gdLst/>
              <a:ahLst/>
              <a:cxnLst/>
              <a:rect l="l" t="t" r="r" b="b"/>
              <a:pathLst>
                <a:path w="107" h="142" extrusionOk="0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294;p30">
              <a:extLst>
                <a:ext uri="{FF2B5EF4-FFF2-40B4-BE49-F238E27FC236}">
                  <a16:creationId xmlns:a16="http://schemas.microsoft.com/office/drawing/2014/main" id="{493045C5-1D98-F987-F0FD-294EE637AC0E}"/>
                </a:ext>
              </a:extLst>
            </p:cNvPr>
            <p:cNvSpPr/>
            <p:nvPr/>
          </p:nvSpPr>
          <p:spPr>
            <a:xfrm>
              <a:off x="2375031" y="-621047"/>
              <a:ext cx="1685607" cy="2469618"/>
            </a:xfrm>
            <a:custGeom>
              <a:avLst/>
              <a:gdLst/>
              <a:ahLst/>
              <a:cxnLst/>
              <a:rect l="l" t="t" r="r" b="b"/>
              <a:pathLst>
                <a:path w="989" h="1449" extrusionOk="0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295;p30">
              <a:extLst>
                <a:ext uri="{FF2B5EF4-FFF2-40B4-BE49-F238E27FC236}">
                  <a16:creationId xmlns:a16="http://schemas.microsoft.com/office/drawing/2014/main" id="{A1505E92-48A4-354F-1BD0-3D02CBB49B8A}"/>
                </a:ext>
              </a:extLst>
            </p:cNvPr>
            <p:cNvSpPr/>
            <p:nvPr/>
          </p:nvSpPr>
          <p:spPr>
            <a:xfrm>
              <a:off x="1851794" y="3421695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296;p30">
              <a:extLst>
                <a:ext uri="{FF2B5EF4-FFF2-40B4-BE49-F238E27FC236}">
                  <a16:creationId xmlns:a16="http://schemas.microsoft.com/office/drawing/2014/main" id="{70124EFB-8A0D-B50E-AA03-5D4BD4D16B67}"/>
                </a:ext>
              </a:extLst>
            </p:cNvPr>
            <p:cNvSpPr/>
            <p:nvPr/>
          </p:nvSpPr>
          <p:spPr>
            <a:xfrm>
              <a:off x="2702267" y="3687576"/>
              <a:ext cx="136348" cy="197706"/>
            </a:xfrm>
            <a:custGeom>
              <a:avLst/>
              <a:gdLst/>
              <a:ahLst/>
              <a:cxnLst/>
              <a:rect l="l" t="t" r="r" b="b"/>
              <a:pathLst>
                <a:path w="80" h="116" extrusionOk="0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297;p30">
              <a:extLst>
                <a:ext uri="{FF2B5EF4-FFF2-40B4-BE49-F238E27FC236}">
                  <a16:creationId xmlns:a16="http://schemas.microsoft.com/office/drawing/2014/main" id="{771A6A76-507E-B4CA-812B-E57569D02BC2}"/>
                </a:ext>
              </a:extLst>
            </p:cNvPr>
            <p:cNvSpPr/>
            <p:nvPr/>
          </p:nvSpPr>
          <p:spPr>
            <a:xfrm>
              <a:off x="1931899" y="3474531"/>
              <a:ext cx="168732" cy="85217"/>
            </a:xfrm>
            <a:custGeom>
              <a:avLst/>
              <a:gdLst/>
              <a:ahLst/>
              <a:cxnLst/>
              <a:rect l="l" t="t" r="r" b="b"/>
              <a:pathLst>
                <a:path w="99" h="50" extrusionOk="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298;p30">
              <a:extLst>
                <a:ext uri="{FF2B5EF4-FFF2-40B4-BE49-F238E27FC236}">
                  <a16:creationId xmlns:a16="http://schemas.microsoft.com/office/drawing/2014/main" id="{33F95D55-8CD2-C4DC-BAFC-7F6FDBC4A84E}"/>
                </a:ext>
              </a:extLst>
            </p:cNvPr>
            <p:cNvSpPr/>
            <p:nvPr/>
          </p:nvSpPr>
          <p:spPr>
            <a:xfrm>
              <a:off x="4773059" y="2477480"/>
              <a:ext cx="158506" cy="153393"/>
            </a:xfrm>
            <a:custGeom>
              <a:avLst/>
              <a:gdLst/>
              <a:ahLst/>
              <a:cxnLst/>
              <a:rect l="l" t="t" r="r" b="b"/>
              <a:pathLst>
                <a:path w="93" h="90" extrusionOk="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299;p30">
              <a:extLst>
                <a:ext uri="{FF2B5EF4-FFF2-40B4-BE49-F238E27FC236}">
                  <a16:creationId xmlns:a16="http://schemas.microsoft.com/office/drawing/2014/main" id="{E99FF252-B688-7525-2E5F-2BE81DADE0E8}"/>
                </a:ext>
              </a:extLst>
            </p:cNvPr>
            <p:cNvSpPr/>
            <p:nvPr/>
          </p:nvSpPr>
          <p:spPr>
            <a:xfrm>
              <a:off x="2342649" y="3362043"/>
              <a:ext cx="76697" cy="56245"/>
            </a:xfrm>
            <a:custGeom>
              <a:avLst/>
              <a:gdLst/>
              <a:ahLst/>
              <a:cxnLst/>
              <a:rect l="l" t="t" r="r" b="b"/>
              <a:pathLst>
                <a:path w="45" h="33" extrusionOk="0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300;p30">
              <a:extLst>
                <a:ext uri="{FF2B5EF4-FFF2-40B4-BE49-F238E27FC236}">
                  <a16:creationId xmlns:a16="http://schemas.microsoft.com/office/drawing/2014/main" id="{881D064F-F19A-6509-EB79-ECDA1D9D246E}"/>
                </a:ext>
              </a:extLst>
            </p:cNvPr>
            <p:cNvSpPr/>
            <p:nvPr/>
          </p:nvSpPr>
          <p:spPr>
            <a:xfrm>
              <a:off x="4842937" y="2388853"/>
              <a:ext cx="180661" cy="117602"/>
            </a:xfrm>
            <a:custGeom>
              <a:avLst/>
              <a:gdLst/>
              <a:ahLst/>
              <a:cxnLst/>
              <a:rect l="l" t="t" r="r" b="b"/>
              <a:pathLst>
                <a:path w="106" h="69" extrusionOk="0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301;p30">
              <a:extLst>
                <a:ext uri="{FF2B5EF4-FFF2-40B4-BE49-F238E27FC236}">
                  <a16:creationId xmlns:a16="http://schemas.microsoft.com/office/drawing/2014/main" id="{453D546A-5B47-1324-C4DD-4505D5CB1A71}"/>
                </a:ext>
              </a:extLst>
            </p:cNvPr>
            <p:cNvSpPr/>
            <p:nvPr/>
          </p:nvSpPr>
          <p:spPr>
            <a:xfrm>
              <a:off x="7027922" y="3769386"/>
              <a:ext cx="1261223" cy="434612"/>
            </a:xfrm>
            <a:custGeom>
              <a:avLst/>
              <a:gdLst/>
              <a:ahLst/>
              <a:cxnLst/>
              <a:rect l="l" t="t" r="r" b="b"/>
              <a:pathLst>
                <a:path w="740" h="255" extrusionOk="0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302;p30">
              <a:extLst>
                <a:ext uri="{FF2B5EF4-FFF2-40B4-BE49-F238E27FC236}">
                  <a16:creationId xmlns:a16="http://schemas.microsoft.com/office/drawing/2014/main" id="{D01947B0-B17F-8636-10C8-6EC7F011310C}"/>
                </a:ext>
              </a:extLst>
            </p:cNvPr>
            <p:cNvSpPr/>
            <p:nvPr/>
          </p:nvSpPr>
          <p:spPr>
            <a:xfrm>
              <a:off x="4120292" y="2102521"/>
              <a:ext cx="109080" cy="158506"/>
            </a:xfrm>
            <a:custGeom>
              <a:avLst/>
              <a:gdLst/>
              <a:ahLst/>
              <a:cxnLst/>
              <a:rect l="l" t="t" r="r" b="b"/>
              <a:pathLst>
                <a:path w="64" h="93" extrusionOk="0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303;p30">
              <a:extLst>
                <a:ext uri="{FF2B5EF4-FFF2-40B4-BE49-F238E27FC236}">
                  <a16:creationId xmlns:a16="http://schemas.microsoft.com/office/drawing/2014/main" id="{5DADE210-CF4C-EE97-9C60-0C254639AFEC}"/>
                </a:ext>
              </a:extLst>
            </p:cNvPr>
            <p:cNvSpPr/>
            <p:nvPr/>
          </p:nvSpPr>
          <p:spPr>
            <a:xfrm>
              <a:off x="3724882" y="1453160"/>
              <a:ext cx="294854" cy="197706"/>
            </a:xfrm>
            <a:custGeom>
              <a:avLst/>
              <a:gdLst/>
              <a:ahLst/>
              <a:cxnLst/>
              <a:rect l="l" t="t" r="r" b="b"/>
              <a:pathLst>
                <a:path w="173" h="116" extrusionOk="0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304;p30">
              <a:extLst>
                <a:ext uri="{FF2B5EF4-FFF2-40B4-BE49-F238E27FC236}">
                  <a16:creationId xmlns:a16="http://schemas.microsoft.com/office/drawing/2014/main" id="{5D3729BB-4813-9DCD-F207-2ECB251E1A9C}"/>
                </a:ext>
              </a:extLst>
            </p:cNvPr>
            <p:cNvSpPr/>
            <p:nvPr/>
          </p:nvSpPr>
          <p:spPr>
            <a:xfrm>
              <a:off x="5342314" y="2954701"/>
              <a:ext cx="44313" cy="115897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305;p30">
              <a:extLst>
                <a:ext uri="{FF2B5EF4-FFF2-40B4-BE49-F238E27FC236}">
                  <a16:creationId xmlns:a16="http://schemas.microsoft.com/office/drawing/2014/main" id="{8767A155-2C81-F4F0-9DD4-69E026407C02}"/>
                </a:ext>
              </a:extLst>
            </p:cNvPr>
            <p:cNvSpPr/>
            <p:nvPr/>
          </p:nvSpPr>
          <p:spPr>
            <a:xfrm>
              <a:off x="4583876" y="2453619"/>
              <a:ext cx="322123" cy="386891"/>
            </a:xfrm>
            <a:custGeom>
              <a:avLst/>
              <a:gdLst/>
              <a:ahLst/>
              <a:cxnLst/>
              <a:rect l="l" t="t" r="r" b="b"/>
              <a:pathLst>
                <a:path w="189" h="227" extrusionOk="0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306;p30">
              <a:extLst>
                <a:ext uri="{FF2B5EF4-FFF2-40B4-BE49-F238E27FC236}">
                  <a16:creationId xmlns:a16="http://schemas.microsoft.com/office/drawing/2014/main" id="{4E0BD45B-99CF-4769-856F-6A6304A90B93}"/>
                </a:ext>
              </a:extLst>
            </p:cNvPr>
            <p:cNvSpPr/>
            <p:nvPr/>
          </p:nvSpPr>
          <p:spPr>
            <a:xfrm>
              <a:off x="2233569" y="3401244"/>
              <a:ext cx="61357" cy="25566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307;p30">
              <a:extLst>
                <a:ext uri="{FF2B5EF4-FFF2-40B4-BE49-F238E27FC236}">
                  <a16:creationId xmlns:a16="http://schemas.microsoft.com/office/drawing/2014/main" id="{C770C359-73D2-6F04-51BE-DA2CFE139B86}"/>
                </a:ext>
              </a:extLst>
            </p:cNvPr>
            <p:cNvSpPr/>
            <p:nvPr/>
          </p:nvSpPr>
          <p:spPr>
            <a:xfrm>
              <a:off x="8304483" y="2134903"/>
              <a:ext cx="85217" cy="363029"/>
            </a:xfrm>
            <a:custGeom>
              <a:avLst/>
              <a:gdLst/>
              <a:ahLst/>
              <a:cxnLst/>
              <a:rect l="l" t="t" r="r" b="b"/>
              <a:pathLst>
                <a:path w="50" h="213" extrusionOk="0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308;p30">
              <a:extLst>
                <a:ext uri="{FF2B5EF4-FFF2-40B4-BE49-F238E27FC236}">
                  <a16:creationId xmlns:a16="http://schemas.microsoft.com/office/drawing/2014/main" id="{643B54CA-8D73-C178-4040-6B3DE6F2FDC2}"/>
                </a:ext>
              </a:extLst>
            </p:cNvPr>
            <p:cNvSpPr/>
            <p:nvPr/>
          </p:nvSpPr>
          <p:spPr>
            <a:xfrm>
              <a:off x="7967020" y="2514977"/>
              <a:ext cx="446541" cy="507899"/>
            </a:xfrm>
            <a:custGeom>
              <a:avLst/>
              <a:gdLst/>
              <a:ahLst/>
              <a:cxnLst/>
              <a:rect l="l" t="t" r="r" b="b"/>
              <a:pathLst>
                <a:path w="262" h="298" extrusionOk="0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309;p30">
              <a:extLst>
                <a:ext uri="{FF2B5EF4-FFF2-40B4-BE49-F238E27FC236}">
                  <a16:creationId xmlns:a16="http://schemas.microsoft.com/office/drawing/2014/main" id="{D394D75F-BDF9-98EF-DDCE-25BCF2419B6B}"/>
                </a:ext>
              </a:extLst>
            </p:cNvPr>
            <p:cNvSpPr/>
            <p:nvPr/>
          </p:nvSpPr>
          <p:spPr>
            <a:xfrm>
              <a:off x="7220513" y="3515436"/>
              <a:ext cx="144870" cy="115897"/>
            </a:xfrm>
            <a:custGeom>
              <a:avLst/>
              <a:gdLst/>
              <a:ahLst/>
              <a:cxnLst/>
              <a:rect l="l" t="t" r="r" b="b"/>
              <a:pathLst>
                <a:path w="85" h="68" extrusionOk="0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310;p30">
              <a:extLst>
                <a:ext uri="{FF2B5EF4-FFF2-40B4-BE49-F238E27FC236}">
                  <a16:creationId xmlns:a16="http://schemas.microsoft.com/office/drawing/2014/main" id="{9A9392C3-E395-158B-F478-0995B15226AE}"/>
                </a:ext>
              </a:extLst>
            </p:cNvPr>
            <p:cNvSpPr/>
            <p:nvPr/>
          </p:nvSpPr>
          <p:spPr>
            <a:xfrm>
              <a:off x="7876608" y="2761621"/>
              <a:ext cx="92035" cy="141462"/>
            </a:xfrm>
            <a:custGeom>
              <a:avLst/>
              <a:gdLst/>
              <a:ahLst/>
              <a:cxnLst/>
              <a:rect l="l" t="t" r="r" b="b"/>
              <a:pathLst>
                <a:path w="54" h="83" extrusionOk="0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311;p30">
              <a:extLst>
                <a:ext uri="{FF2B5EF4-FFF2-40B4-BE49-F238E27FC236}">
                  <a16:creationId xmlns:a16="http://schemas.microsoft.com/office/drawing/2014/main" id="{D102E44A-D480-BDA2-9C89-E9A39EA12846}"/>
                </a:ext>
              </a:extLst>
            </p:cNvPr>
            <p:cNvSpPr/>
            <p:nvPr/>
          </p:nvSpPr>
          <p:spPr>
            <a:xfrm>
              <a:off x="4950312" y="2603603"/>
              <a:ext cx="44313" cy="51131"/>
            </a:xfrm>
            <a:custGeom>
              <a:avLst/>
              <a:gdLst/>
              <a:ahLst/>
              <a:cxnLst/>
              <a:rect l="l" t="t" r="r" b="b"/>
              <a:pathLst>
                <a:path w="26" h="30" extrusionOk="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312;p30">
              <a:extLst>
                <a:ext uri="{FF2B5EF4-FFF2-40B4-BE49-F238E27FC236}">
                  <a16:creationId xmlns:a16="http://schemas.microsoft.com/office/drawing/2014/main" id="{FE83B98D-5379-CF98-81B0-FDC9B7444C0F}"/>
                </a:ext>
              </a:extLst>
            </p:cNvPr>
            <p:cNvSpPr/>
            <p:nvPr/>
          </p:nvSpPr>
          <p:spPr>
            <a:xfrm>
              <a:off x="5681480" y="3055259"/>
              <a:ext cx="51131" cy="47723"/>
            </a:xfrm>
            <a:custGeom>
              <a:avLst/>
              <a:gdLst/>
              <a:ahLst/>
              <a:cxnLst/>
              <a:rect l="l" t="t" r="r" b="b"/>
              <a:pathLst>
                <a:path w="30" h="28" extrusionOk="0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313;p30">
              <a:extLst>
                <a:ext uri="{FF2B5EF4-FFF2-40B4-BE49-F238E27FC236}">
                  <a16:creationId xmlns:a16="http://schemas.microsoft.com/office/drawing/2014/main" id="{8C2DE29C-A717-1666-F67E-F7A2EF252A43}"/>
                </a:ext>
              </a:extLst>
            </p:cNvPr>
            <p:cNvSpPr/>
            <p:nvPr/>
          </p:nvSpPr>
          <p:spPr>
            <a:xfrm>
              <a:off x="4081091" y="3684166"/>
              <a:ext cx="107376" cy="117602"/>
            </a:xfrm>
            <a:custGeom>
              <a:avLst/>
              <a:gdLst/>
              <a:ahLst/>
              <a:cxnLst/>
              <a:rect l="l" t="t" r="r" b="b"/>
              <a:pathLst>
                <a:path w="63" h="69" extrusionOk="0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314;p30">
              <a:extLst>
                <a:ext uri="{FF2B5EF4-FFF2-40B4-BE49-F238E27FC236}">
                  <a16:creationId xmlns:a16="http://schemas.microsoft.com/office/drawing/2014/main" id="{60EEDBAB-5487-635D-DC02-52D674E3759C}"/>
                </a:ext>
              </a:extLst>
            </p:cNvPr>
            <p:cNvSpPr/>
            <p:nvPr/>
          </p:nvSpPr>
          <p:spPr>
            <a:xfrm>
              <a:off x="4652051" y="2958109"/>
              <a:ext cx="436315" cy="415864"/>
            </a:xfrm>
            <a:custGeom>
              <a:avLst/>
              <a:gdLst/>
              <a:ahLst/>
              <a:cxnLst/>
              <a:rect l="l" t="t" r="r" b="b"/>
              <a:pathLst>
                <a:path w="256" h="244" extrusionOk="0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315;p30">
              <a:extLst>
                <a:ext uri="{FF2B5EF4-FFF2-40B4-BE49-F238E27FC236}">
                  <a16:creationId xmlns:a16="http://schemas.microsoft.com/office/drawing/2014/main" id="{95BD5AC4-D58A-5481-21DE-CA52C08DE7FC}"/>
                </a:ext>
              </a:extLst>
            </p:cNvPr>
            <p:cNvSpPr/>
            <p:nvPr/>
          </p:nvSpPr>
          <p:spPr>
            <a:xfrm>
              <a:off x="6596719" y="3648376"/>
              <a:ext cx="56245" cy="109080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316;p30">
              <a:extLst>
                <a:ext uri="{FF2B5EF4-FFF2-40B4-BE49-F238E27FC236}">
                  <a16:creationId xmlns:a16="http://schemas.microsoft.com/office/drawing/2014/main" id="{B5EC7A36-EB10-7A4C-5EE6-080D0AA3F4C8}"/>
                </a:ext>
              </a:extLst>
            </p:cNvPr>
            <p:cNvSpPr/>
            <p:nvPr/>
          </p:nvSpPr>
          <p:spPr>
            <a:xfrm>
              <a:off x="4551493" y="2329202"/>
              <a:ext cx="17044" cy="27269"/>
            </a:xfrm>
            <a:custGeom>
              <a:avLst/>
              <a:gdLst/>
              <a:ahLst/>
              <a:cxnLst/>
              <a:rect l="l" t="t" r="r" b="b"/>
              <a:pathLst>
                <a:path w="10" h="16" extrusionOk="0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317;p30">
              <a:extLst>
                <a:ext uri="{FF2B5EF4-FFF2-40B4-BE49-F238E27FC236}">
                  <a16:creationId xmlns:a16="http://schemas.microsoft.com/office/drawing/2014/main" id="{1B603AC0-24A4-E454-4201-C6698037FD6D}"/>
                </a:ext>
              </a:extLst>
            </p:cNvPr>
            <p:cNvSpPr/>
            <p:nvPr/>
          </p:nvSpPr>
          <p:spPr>
            <a:xfrm>
              <a:off x="4979287" y="1961060"/>
              <a:ext cx="197705" cy="117602"/>
            </a:xfrm>
            <a:custGeom>
              <a:avLst/>
              <a:gdLst/>
              <a:ahLst/>
              <a:cxnLst/>
              <a:rect l="l" t="t" r="r" b="b"/>
              <a:pathLst>
                <a:path w="116" h="69" extrusionOk="0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318;p30">
              <a:extLst>
                <a:ext uri="{FF2B5EF4-FFF2-40B4-BE49-F238E27FC236}">
                  <a16:creationId xmlns:a16="http://schemas.microsoft.com/office/drawing/2014/main" id="{735905E5-6AF8-A4B2-3923-F8FFFEC72414}"/>
                </a:ext>
              </a:extLst>
            </p:cNvPr>
            <p:cNvSpPr/>
            <p:nvPr/>
          </p:nvSpPr>
          <p:spPr>
            <a:xfrm>
              <a:off x="5596263" y="4250727"/>
              <a:ext cx="201114" cy="390298"/>
            </a:xfrm>
            <a:custGeom>
              <a:avLst/>
              <a:gdLst/>
              <a:ahLst/>
              <a:cxnLst/>
              <a:rect l="l" t="t" r="r" b="b"/>
              <a:pathLst>
                <a:path w="118" h="229" extrusionOk="0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319;p30">
              <a:extLst>
                <a:ext uri="{FF2B5EF4-FFF2-40B4-BE49-F238E27FC236}">
                  <a16:creationId xmlns:a16="http://schemas.microsoft.com/office/drawing/2014/main" id="{ABEEFE01-CF6B-A920-1470-E7603777298B}"/>
                </a:ext>
              </a:extLst>
            </p:cNvPr>
            <p:cNvSpPr/>
            <p:nvPr/>
          </p:nvSpPr>
          <p:spPr>
            <a:xfrm>
              <a:off x="1164940" y="2970041"/>
              <a:ext cx="835134" cy="545395"/>
            </a:xfrm>
            <a:custGeom>
              <a:avLst/>
              <a:gdLst/>
              <a:ahLst/>
              <a:cxnLst/>
              <a:rect l="l" t="t" r="r" b="b"/>
              <a:pathLst>
                <a:path w="490" h="320" extrusionOk="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320;p30">
              <a:extLst>
                <a:ext uri="{FF2B5EF4-FFF2-40B4-BE49-F238E27FC236}">
                  <a16:creationId xmlns:a16="http://schemas.microsoft.com/office/drawing/2014/main" id="{C3C5A70F-1582-3196-8905-ED20C1D75906}"/>
                </a:ext>
              </a:extLst>
            </p:cNvPr>
            <p:cNvSpPr/>
            <p:nvPr/>
          </p:nvSpPr>
          <p:spPr>
            <a:xfrm>
              <a:off x="4963947" y="2639394"/>
              <a:ext cx="68174" cy="5283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321;p30">
              <a:extLst>
                <a:ext uri="{FF2B5EF4-FFF2-40B4-BE49-F238E27FC236}">
                  <a16:creationId xmlns:a16="http://schemas.microsoft.com/office/drawing/2014/main" id="{233F412B-1418-A706-B65B-BB1BF021B336}"/>
                </a:ext>
              </a:extLst>
            </p:cNvPr>
            <p:cNvSpPr/>
            <p:nvPr/>
          </p:nvSpPr>
          <p:spPr>
            <a:xfrm>
              <a:off x="6942702" y="3108093"/>
              <a:ext cx="245427" cy="535170"/>
            </a:xfrm>
            <a:custGeom>
              <a:avLst/>
              <a:gdLst/>
              <a:ahLst/>
              <a:cxnLst/>
              <a:rect l="l" t="t" r="r" b="b"/>
              <a:pathLst>
                <a:path w="144" h="314" extrusionOk="0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322;p30">
              <a:extLst>
                <a:ext uri="{FF2B5EF4-FFF2-40B4-BE49-F238E27FC236}">
                  <a16:creationId xmlns:a16="http://schemas.microsoft.com/office/drawing/2014/main" id="{36BC3974-E095-A076-4D76-F006357F815A}"/>
                </a:ext>
              </a:extLst>
            </p:cNvPr>
            <p:cNvSpPr/>
            <p:nvPr/>
          </p:nvSpPr>
          <p:spPr>
            <a:xfrm>
              <a:off x="3922585" y="3140476"/>
              <a:ext cx="339167" cy="374960"/>
            </a:xfrm>
            <a:custGeom>
              <a:avLst/>
              <a:gdLst/>
              <a:ahLst/>
              <a:cxnLst/>
              <a:rect l="l" t="t" r="r" b="b"/>
              <a:pathLst>
                <a:path w="199" h="220" extrusionOk="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323;p30">
              <a:extLst>
                <a:ext uri="{FF2B5EF4-FFF2-40B4-BE49-F238E27FC236}">
                  <a16:creationId xmlns:a16="http://schemas.microsoft.com/office/drawing/2014/main" id="{A4DCF023-3886-3D70-A91D-E58EC2151A1C}"/>
                </a:ext>
              </a:extLst>
            </p:cNvPr>
            <p:cNvSpPr/>
            <p:nvPr/>
          </p:nvSpPr>
          <p:spPr>
            <a:xfrm>
              <a:off x="7160860" y="3728480"/>
              <a:ext cx="528351" cy="168732"/>
            </a:xfrm>
            <a:custGeom>
              <a:avLst/>
              <a:gdLst/>
              <a:ahLst/>
              <a:cxnLst/>
              <a:rect l="l" t="t" r="r" b="b"/>
              <a:pathLst>
                <a:path w="310" h="99" extrusionOk="0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324;p30">
              <a:extLst>
                <a:ext uri="{FF2B5EF4-FFF2-40B4-BE49-F238E27FC236}">
                  <a16:creationId xmlns:a16="http://schemas.microsoft.com/office/drawing/2014/main" id="{FB2F7740-C6DB-C6C4-BF4B-8E6E0888A140}"/>
                </a:ext>
              </a:extLst>
            </p:cNvPr>
            <p:cNvSpPr/>
            <p:nvPr/>
          </p:nvSpPr>
          <p:spPr>
            <a:xfrm>
              <a:off x="8926573" y="4483511"/>
              <a:ext cx="80106" cy="68174"/>
            </a:xfrm>
            <a:custGeom>
              <a:avLst/>
              <a:gdLst/>
              <a:ahLst/>
              <a:cxnLst/>
              <a:rect l="l" t="t" r="r" b="b"/>
              <a:pathLst>
                <a:path w="47" h="40" extrusionOk="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325;p30">
              <a:extLst>
                <a:ext uri="{FF2B5EF4-FFF2-40B4-BE49-F238E27FC236}">
                  <a16:creationId xmlns:a16="http://schemas.microsoft.com/office/drawing/2014/main" id="{DF96422D-903B-3FB0-5F0B-ADC2D6E6E38B}"/>
                </a:ext>
              </a:extLst>
            </p:cNvPr>
            <p:cNvSpPr/>
            <p:nvPr/>
          </p:nvSpPr>
          <p:spPr>
            <a:xfrm>
              <a:off x="1976212" y="3503505"/>
              <a:ext cx="124419" cy="121010"/>
            </a:xfrm>
            <a:custGeom>
              <a:avLst/>
              <a:gdLst/>
              <a:ahLst/>
              <a:cxnLst/>
              <a:rect l="l" t="t" r="r" b="b"/>
              <a:pathLst>
                <a:path w="73" h="71" extrusionOk="0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326;p30">
              <a:extLst>
                <a:ext uri="{FF2B5EF4-FFF2-40B4-BE49-F238E27FC236}">
                  <a16:creationId xmlns:a16="http://schemas.microsoft.com/office/drawing/2014/main" id="{8072DF18-7842-374B-4951-0AE836C35AE1}"/>
                </a:ext>
              </a:extLst>
            </p:cNvPr>
            <p:cNvSpPr/>
            <p:nvPr/>
          </p:nvSpPr>
          <p:spPr>
            <a:xfrm>
              <a:off x="4536154" y="1106320"/>
              <a:ext cx="726055" cy="855589"/>
            </a:xfrm>
            <a:custGeom>
              <a:avLst/>
              <a:gdLst/>
              <a:ahLst/>
              <a:cxnLst/>
              <a:rect l="l" t="t" r="r" b="b"/>
              <a:pathLst>
                <a:path w="426" h="502" extrusionOk="0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327;p30">
              <a:extLst>
                <a:ext uri="{FF2B5EF4-FFF2-40B4-BE49-F238E27FC236}">
                  <a16:creationId xmlns:a16="http://schemas.microsoft.com/office/drawing/2014/main" id="{D260D493-5CB7-3426-A793-5B756C067330}"/>
                </a:ext>
              </a:extLst>
            </p:cNvPr>
            <p:cNvSpPr/>
            <p:nvPr/>
          </p:nvSpPr>
          <p:spPr>
            <a:xfrm>
              <a:off x="8991339" y="4926645"/>
              <a:ext cx="328941" cy="439725"/>
            </a:xfrm>
            <a:custGeom>
              <a:avLst/>
              <a:gdLst/>
              <a:ahLst/>
              <a:cxnLst/>
              <a:rect l="l" t="t" r="r" b="b"/>
              <a:pathLst>
                <a:path w="193" h="258" extrusionOk="0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328;p30">
              <a:extLst>
                <a:ext uri="{FF2B5EF4-FFF2-40B4-BE49-F238E27FC236}">
                  <a16:creationId xmlns:a16="http://schemas.microsoft.com/office/drawing/2014/main" id="{61657C2B-F98E-61DA-FFC9-64B4E83D7AE0}"/>
                </a:ext>
              </a:extLst>
            </p:cNvPr>
            <p:cNvSpPr/>
            <p:nvPr/>
          </p:nvSpPr>
          <p:spPr>
            <a:xfrm>
              <a:off x="6075185" y="2821760"/>
              <a:ext cx="468698" cy="426090"/>
            </a:xfrm>
            <a:custGeom>
              <a:avLst/>
              <a:gdLst/>
              <a:ahLst/>
              <a:cxnLst/>
              <a:rect l="l" t="t" r="r" b="b"/>
              <a:pathLst>
                <a:path w="275" h="250" extrusionOk="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329;p30">
              <a:extLst>
                <a:ext uri="{FF2B5EF4-FFF2-40B4-BE49-F238E27FC236}">
                  <a16:creationId xmlns:a16="http://schemas.microsoft.com/office/drawing/2014/main" id="{187FFCFD-B28E-18C4-F8C5-71034F65977B}"/>
                </a:ext>
              </a:extLst>
            </p:cNvPr>
            <p:cNvSpPr/>
            <p:nvPr/>
          </p:nvSpPr>
          <p:spPr>
            <a:xfrm>
              <a:off x="2105743" y="3655192"/>
              <a:ext cx="160210" cy="64767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330;p30">
              <a:extLst>
                <a:ext uri="{FF2B5EF4-FFF2-40B4-BE49-F238E27FC236}">
                  <a16:creationId xmlns:a16="http://schemas.microsoft.com/office/drawing/2014/main" id="{495338AE-B8E4-D170-2303-94486482AE65}"/>
                </a:ext>
              </a:extLst>
            </p:cNvPr>
            <p:cNvSpPr/>
            <p:nvPr/>
          </p:nvSpPr>
          <p:spPr>
            <a:xfrm>
              <a:off x="2150057" y="3922778"/>
              <a:ext cx="349393" cy="507899"/>
            </a:xfrm>
            <a:custGeom>
              <a:avLst/>
              <a:gdLst/>
              <a:ahLst/>
              <a:cxnLst/>
              <a:rect l="l" t="t" r="r" b="b"/>
              <a:pathLst>
                <a:path w="205" h="298" extrusionOk="0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331;p30">
              <a:extLst>
                <a:ext uri="{FF2B5EF4-FFF2-40B4-BE49-F238E27FC236}">
                  <a16:creationId xmlns:a16="http://schemas.microsoft.com/office/drawing/2014/main" id="{B4DB059E-6353-CD9B-299A-64AA035511C5}"/>
                </a:ext>
              </a:extLst>
            </p:cNvPr>
            <p:cNvSpPr/>
            <p:nvPr/>
          </p:nvSpPr>
          <p:spPr>
            <a:xfrm>
              <a:off x="7631263" y="3401244"/>
              <a:ext cx="259062" cy="368142"/>
            </a:xfrm>
            <a:custGeom>
              <a:avLst/>
              <a:gdLst/>
              <a:ahLst/>
              <a:cxnLst/>
              <a:rect l="l" t="t" r="r" b="b"/>
              <a:pathLst>
                <a:path w="152" h="216" extrusionOk="0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332;p30">
              <a:extLst>
                <a:ext uri="{FF2B5EF4-FFF2-40B4-BE49-F238E27FC236}">
                  <a16:creationId xmlns:a16="http://schemas.microsoft.com/office/drawing/2014/main" id="{B507FE80-94BA-9499-3441-78FA6BFA6DC7}"/>
                </a:ext>
              </a:extLst>
            </p:cNvPr>
            <p:cNvSpPr/>
            <p:nvPr/>
          </p:nvSpPr>
          <p:spPr>
            <a:xfrm>
              <a:off x="8289144" y="3987544"/>
              <a:ext cx="415863" cy="228384"/>
            </a:xfrm>
            <a:custGeom>
              <a:avLst/>
              <a:gdLst/>
              <a:ahLst/>
              <a:cxnLst/>
              <a:rect l="l" t="t" r="r" b="b"/>
              <a:pathLst>
                <a:path w="244" h="134" extrusionOk="0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333;p30">
              <a:extLst>
                <a:ext uri="{FF2B5EF4-FFF2-40B4-BE49-F238E27FC236}">
                  <a16:creationId xmlns:a16="http://schemas.microsoft.com/office/drawing/2014/main" id="{755F798E-EA43-2BD5-932A-918FECD805DC}"/>
                </a:ext>
              </a:extLst>
            </p:cNvPr>
            <p:cNvSpPr/>
            <p:nvPr/>
          </p:nvSpPr>
          <p:spPr>
            <a:xfrm>
              <a:off x="2540353" y="3401244"/>
              <a:ext cx="44313" cy="17044"/>
            </a:xfrm>
            <a:custGeom>
              <a:avLst/>
              <a:gdLst/>
              <a:ahLst/>
              <a:cxnLst/>
              <a:rect l="l" t="t" r="r" b="b"/>
              <a:pathLst>
                <a:path w="26" h="10" extrusionOk="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334;p30">
              <a:extLst>
                <a:ext uri="{FF2B5EF4-FFF2-40B4-BE49-F238E27FC236}">
                  <a16:creationId xmlns:a16="http://schemas.microsoft.com/office/drawing/2014/main" id="{205D8711-A120-A610-EC82-5261B6BF0F8B}"/>
                </a:ext>
              </a:extLst>
            </p:cNvPr>
            <p:cNvSpPr/>
            <p:nvPr/>
          </p:nvSpPr>
          <p:spPr>
            <a:xfrm>
              <a:off x="7825559" y="2610175"/>
              <a:ext cx="180661" cy="189184"/>
            </a:xfrm>
            <a:custGeom>
              <a:avLst/>
              <a:gdLst/>
              <a:ahLst/>
              <a:cxnLst/>
              <a:rect l="l" t="t" r="r" b="b"/>
              <a:pathLst>
                <a:path w="106" h="111" extrusionOk="0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335;p30">
              <a:extLst>
                <a:ext uri="{FF2B5EF4-FFF2-40B4-BE49-F238E27FC236}">
                  <a16:creationId xmlns:a16="http://schemas.microsoft.com/office/drawing/2014/main" id="{32A836FC-9A5B-E48A-D999-8EA9832033EA}"/>
                </a:ext>
              </a:extLst>
            </p:cNvPr>
            <p:cNvSpPr/>
            <p:nvPr/>
          </p:nvSpPr>
          <p:spPr>
            <a:xfrm>
              <a:off x="4132221" y="2639394"/>
              <a:ext cx="88627" cy="194297"/>
            </a:xfrm>
            <a:custGeom>
              <a:avLst/>
              <a:gdLst/>
              <a:ahLst/>
              <a:cxnLst/>
              <a:rect l="l" t="t" r="r" b="b"/>
              <a:pathLst>
                <a:path w="52" h="114" extrusionOk="0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336;p30">
              <a:extLst>
                <a:ext uri="{FF2B5EF4-FFF2-40B4-BE49-F238E27FC236}">
                  <a16:creationId xmlns:a16="http://schemas.microsoft.com/office/drawing/2014/main" id="{B956E917-AF1A-9D46-A883-AB5658B65112}"/>
                </a:ext>
              </a:extLst>
            </p:cNvPr>
            <p:cNvSpPr/>
            <p:nvPr/>
          </p:nvSpPr>
          <p:spPr>
            <a:xfrm>
              <a:off x="5797377" y="3179677"/>
              <a:ext cx="23861" cy="44313"/>
            </a:xfrm>
            <a:custGeom>
              <a:avLst/>
              <a:gdLst/>
              <a:ahLst/>
              <a:cxnLst/>
              <a:rect l="l" t="t" r="r" b="b"/>
              <a:pathLst>
                <a:path w="14" h="26" extrusionOk="0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337;p30">
              <a:extLst>
                <a:ext uri="{FF2B5EF4-FFF2-40B4-BE49-F238E27FC236}">
                  <a16:creationId xmlns:a16="http://schemas.microsoft.com/office/drawing/2014/main" id="{5EFA0130-EB1D-A3C6-733F-D3AD826593DF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338;p30">
              <a:extLst>
                <a:ext uri="{FF2B5EF4-FFF2-40B4-BE49-F238E27FC236}">
                  <a16:creationId xmlns:a16="http://schemas.microsoft.com/office/drawing/2014/main" id="{ACE996C5-A397-2808-B488-98DAE7BB0378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339;p30">
              <a:extLst>
                <a:ext uri="{FF2B5EF4-FFF2-40B4-BE49-F238E27FC236}">
                  <a16:creationId xmlns:a16="http://schemas.microsoft.com/office/drawing/2014/main" id="{AD85D70A-58CB-8F69-2CCB-AA01C15770C4}"/>
                </a:ext>
              </a:extLst>
            </p:cNvPr>
            <p:cNvSpPr/>
            <p:nvPr/>
          </p:nvSpPr>
          <p:spPr>
            <a:xfrm>
              <a:off x="3910655" y="3459192"/>
              <a:ext cx="170436" cy="121010"/>
            </a:xfrm>
            <a:custGeom>
              <a:avLst/>
              <a:gdLst/>
              <a:ahLst/>
              <a:cxnLst/>
              <a:rect l="l" t="t" r="r" b="b"/>
              <a:pathLst>
                <a:path w="100" h="71" extrusionOk="0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8" name="Google Shape;340;p30">
              <a:extLst>
                <a:ext uri="{FF2B5EF4-FFF2-40B4-BE49-F238E27FC236}">
                  <a16:creationId xmlns:a16="http://schemas.microsoft.com/office/drawing/2014/main" id="{F6F5014A-ED48-E0FD-6D47-D4320460A33C}"/>
                </a:ext>
              </a:extLst>
            </p:cNvPr>
            <p:cNvGrpSpPr/>
            <p:nvPr/>
          </p:nvGrpSpPr>
          <p:grpSpPr>
            <a:xfrm>
              <a:off x="4684410" y="-116555"/>
              <a:ext cx="4959651" cy="2796836"/>
              <a:chOff x="6245882" y="-155406"/>
              <a:chExt cx="6612868" cy="3729114"/>
            </a:xfrm>
            <a:grpFill/>
          </p:grpSpPr>
          <p:sp>
            <p:nvSpPr>
              <p:cNvPr id="569" name="Google Shape;341;p30">
                <a:extLst>
                  <a:ext uri="{FF2B5EF4-FFF2-40B4-BE49-F238E27FC236}">
                    <a16:creationId xmlns:a16="http://schemas.microsoft.com/office/drawing/2014/main" id="{45D6E40C-F9A6-A52B-6C0A-F53F7C017EED}"/>
                  </a:ext>
                </a:extLst>
              </p:cNvPr>
              <p:cNvSpPr/>
              <p:nvPr/>
            </p:nvSpPr>
            <p:spPr>
              <a:xfrm>
                <a:off x="6852085" y="567238"/>
                <a:ext cx="6006665" cy="3006470"/>
              </a:xfrm>
              <a:custGeom>
                <a:avLst/>
                <a:gdLst/>
                <a:ahLst/>
                <a:cxnLst/>
                <a:rect l="l" t="t" r="r" b="b"/>
                <a:pathLst>
                  <a:path w="6006665" h="3006470" extrusionOk="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342;p30">
                <a:extLst>
                  <a:ext uri="{FF2B5EF4-FFF2-40B4-BE49-F238E27FC236}">
                    <a16:creationId xmlns:a16="http://schemas.microsoft.com/office/drawing/2014/main" id="{345885D5-1D6E-77BA-44F4-54ED18DB6A59}"/>
                  </a:ext>
                </a:extLst>
              </p:cNvPr>
              <p:cNvSpPr/>
              <p:nvPr/>
            </p:nvSpPr>
            <p:spPr>
              <a:xfrm>
                <a:off x="10902160" y="812664"/>
                <a:ext cx="299965" cy="227246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00" extrusionOk="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343;p30">
                <a:extLst>
                  <a:ext uri="{FF2B5EF4-FFF2-40B4-BE49-F238E27FC236}">
                    <a16:creationId xmlns:a16="http://schemas.microsoft.com/office/drawing/2014/main" id="{64296DD7-183A-856B-1ACA-FBC5D0CD6C02}"/>
                  </a:ext>
                </a:extLst>
              </p:cNvPr>
              <p:cNvSpPr/>
              <p:nvPr/>
            </p:nvSpPr>
            <p:spPr>
              <a:xfrm>
                <a:off x="11008965" y="1142170"/>
                <a:ext cx="140893" cy="79537"/>
              </a:xfrm>
              <a:custGeom>
                <a:avLst/>
                <a:gdLst/>
                <a:ahLst/>
                <a:cxnLst/>
                <a:rect l="l" t="t" r="r" b="b"/>
                <a:pathLst>
                  <a:path w="62" h="35" extrusionOk="0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344;p30">
                <a:extLst>
                  <a:ext uri="{FF2B5EF4-FFF2-40B4-BE49-F238E27FC236}">
                    <a16:creationId xmlns:a16="http://schemas.microsoft.com/office/drawing/2014/main" id="{01C36D04-D7F9-E115-6C20-2F1E479CEE59}"/>
                  </a:ext>
                </a:extLst>
              </p:cNvPr>
              <p:cNvSpPr/>
              <p:nvPr/>
            </p:nvSpPr>
            <p:spPr>
              <a:xfrm>
                <a:off x="9520502" y="264999"/>
                <a:ext cx="220430" cy="25906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4" extrusionOk="0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345;p30">
                <a:extLst>
                  <a:ext uri="{FF2B5EF4-FFF2-40B4-BE49-F238E27FC236}">
                    <a16:creationId xmlns:a16="http://schemas.microsoft.com/office/drawing/2014/main" id="{97085D6B-8F0F-D907-14BF-6401B8FA8B88}"/>
                  </a:ext>
                </a:extLst>
              </p:cNvPr>
              <p:cNvSpPr/>
              <p:nvPr/>
            </p:nvSpPr>
            <p:spPr>
              <a:xfrm>
                <a:off x="11233940" y="910379"/>
                <a:ext cx="172707" cy="11816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2" extrusionOk="0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346;p30">
                <a:extLst>
                  <a:ext uri="{FF2B5EF4-FFF2-40B4-BE49-F238E27FC236}">
                    <a16:creationId xmlns:a16="http://schemas.microsoft.com/office/drawing/2014/main" id="{03036135-CBE1-0C88-EEC5-93493FC0F0A5}"/>
                  </a:ext>
                </a:extLst>
              </p:cNvPr>
              <p:cNvSpPr/>
              <p:nvPr/>
            </p:nvSpPr>
            <p:spPr>
              <a:xfrm>
                <a:off x="12438345" y="1421684"/>
                <a:ext cx="134076" cy="86354"/>
              </a:xfrm>
              <a:custGeom>
                <a:avLst/>
                <a:gdLst/>
                <a:ahLst/>
                <a:cxnLst/>
                <a:rect l="l" t="t" r="r" b="b"/>
                <a:pathLst>
                  <a:path w="59" h="38" extrusionOk="0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347;p30">
                <a:extLst>
                  <a:ext uri="{FF2B5EF4-FFF2-40B4-BE49-F238E27FC236}">
                    <a16:creationId xmlns:a16="http://schemas.microsoft.com/office/drawing/2014/main" id="{9C151938-8949-3975-1A93-AF097E6FD950}"/>
                  </a:ext>
                </a:extLst>
              </p:cNvPr>
              <p:cNvSpPr/>
              <p:nvPr/>
            </p:nvSpPr>
            <p:spPr>
              <a:xfrm>
                <a:off x="9218264" y="-155406"/>
                <a:ext cx="334053" cy="53403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35" extrusionOk="0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348;p30">
                <a:extLst>
                  <a:ext uri="{FF2B5EF4-FFF2-40B4-BE49-F238E27FC236}">
                    <a16:creationId xmlns:a16="http://schemas.microsoft.com/office/drawing/2014/main" id="{276330B4-342C-E636-CEBF-3B94794F010D}"/>
                  </a:ext>
                </a:extLst>
              </p:cNvPr>
              <p:cNvSpPr/>
              <p:nvPr/>
            </p:nvSpPr>
            <p:spPr>
              <a:xfrm>
                <a:off x="7757071" y="689951"/>
                <a:ext cx="638563" cy="83854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369" extrusionOk="0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349;p30">
                <a:extLst>
                  <a:ext uri="{FF2B5EF4-FFF2-40B4-BE49-F238E27FC236}">
                    <a16:creationId xmlns:a16="http://schemas.microsoft.com/office/drawing/2014/main" id="{A1B6ABA7-9D8F-7F00-2683-5B08870414CD}"/>
                  </a:ext>
                </a:extLst>
              </p:cNvPr>
              <p:cNvSpPr/>
              <p:nvPr/>
            </p:nvSpPr>
            <p:spPr>
              <a:xfrm>
                <a:off x="7516190" y="-73597"/>
                <a:ext cx="240881" cy="19770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87" extrusionOk="0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350;p30">
                <a:extLst>
                  <a:ext uri="{FF2B5EF4-FFF2-40B4-BE49-F238E27FC236}">
                    <a16:creationId xmlns:a16="http://schemas.microsoft.com/office/drawing/2014/main" id="{22F74973-29FE-F55B-F96B-A304B966FBB3}"/>
                  </a:ext>
                </a:extLst>
              </p:cNvPr>
              <p:cNvSpPr/>
              <p:nvPr/>
            </p:nvSpPr>
            <p:spPr>
              <a:xfrm>
                <a:off x="6245882" y="-14513"/>
                <a:ext cx="624928" cy="73173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22" extrusionOk="0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9" name="Google Shape;351;p30">
              <a:extLst>
                <a:ext uri="{FF2B5EF4-FFF2-40B4-BE49-F238E27FC236}">
                  <a16:creationId xmlns:a16="http://schemas.microsoft.com/office/drawing/2014/main" id="{8776EDBC-FF78-D4A8-B286-0694D00E0190}"/>
                </a:ext>
              </a:extLst>
            </p:cNvPr>
            <p:cNvSpPr/>
            <p:nvPr/>
          </p:nvSpPr>
          <p:spPr>
            <a:xfrm>
              <a:off x="8716937" y="4100030"/>
              <a:ext cx="160210" cy="115897"/>
            </a:xfrm>
            <a:custGeom>
              <a:avLst/>
              <a:gdLst/>
              <a:ahLst/>
              <a:cxnLst/>
              <a:rect l="l" t="t" r="r" b="b"/>
              <a:pathLst>
                <a:path w="94" h="68" extrusionOk="0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352;p30">
              <a:extLst>
                <a:ext uri="{FF2B5EF4-FFF2-40B4-BE49-F238E27FC236}">
                  <a16:creationId xmlns:a16="http://schemas.microsoft.com/office/drawing/2014/main" id="{3981C6D6-3B4D-4EE9-DBE0-8AB195144C61}"/>
                </a:ext>
              </a:extLst>
            </p:cNvPr>
            <p:cNvSpPr/>
            <p:nvPr/>
          </p:nvSpPr>
          <p:spPr>
            <a:xfrm>
              <a:off x="1911447" y="3518843"/>
              <a:ext cx="64767" cy="35792"/>
            </a:xfrm>
            <a:custGeom>
              <a:avLst/>
              <a:gdLst/>
              <a:ahLst/>
              <a:cxnLst/>
              <a:rect l="l" t="t" r="r" b="b"/>
              <a:pathLst>
                <a:path w="38" h="21" extrusionOk="0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353;p30">
              <a:extLst>
                <a:ext uri="{FF2B5EF4-FFF2-40B4-BE49-F238E27FC236}">
                  <a16:creationId xmlns:a16="http://schemas.microsoft.com/office/drawing/2014/main" id="{CD96949D-ED2E-F28A-4F91-3EE31816A6C3}"/>
                </a:ext>
              </a:extLst>
            </p:cNvPr>
            <p:cNvSpPr/>
            <p:nvPr/>
          </p:nvSpPr>
          <p:spPr>
            <a:xfrm>
              <a:off x="5520944" y="3587018"/>
              <a:ext cx="281219" cy="380072"/>
            </a:xfrm>
            <a:custGeom>
              <a:avLst/>
              <a:gdLst/>
              <a:ahLst/>
              <a:cxnLst/>
              <a:rect l="l" t="t" r="r" b="b"/>
              <a:pathLst>
                <a:path w="165" h="223" extrusionOk="0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354;p30">
              <a:extLst>
                <a:ext uri="{FF2B5EF4-FFF2-40B4-BE49-F238E27FC236}">
                  <a16:creationId xmlns:a16="http://schemas.microsoft.com/office/drawing/2014/main" id="{22F3B13C-F1BA-02F6-ADD0-E6D834B9D691}"/>
                </a:ext>
              </a:extLst>
            </p:cNvPr>
            <p:cNvSpPr/>
            <p:nvPr/>
          </p:nvSpPr>
          <p:spPr>
            <a:xfrm>
              <a:off x="2794303" y="3752342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355;p30">
              <a:extLst>
                <a:ext uri="{FF2B5EF4-FFF2-40B4-BE49-F238E27FC236}">
                  <a16:creationId xmlns:a16="http://schemas.microsoft.com/office/drawing/2014/main" id="{7760CCF0-BD1D-986B-C46E-0A84C4067966}"/>
                </a:ext>
              </a:extLst>
            </p:cNvPr>
            <p:cNvSpPr/>
            <p:nvPr/>
          </p:nvSpPr>
          <p:spPr>
            <a:xfrm>
              <a:off x="4861685" y="2353061"/>
              <a:ext cx="158506" cy="73289"/>
            </a:xfrm>
            <a:custGeom>
              <a:avLst/>
              <a:gdLst/>
              <a:ahLst/>
              <a:cxnLst/>
              <a:rect l="l" t="t" r="r" b="b"/>
              <a:pathLst>
                <a:path w="93" h="43" extrusionOk="0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356;p30">
              <a:extLst>
                <a:ext uri="{FF2B5EF4-FFF2-40B4-BE49-F238E27FC236}">
                  <a16:creationId xmlns:a16="http://schemas.microsoft.com/office/drawing/2014/main" id="{04AEE164-6AF8-897F-C54F-C37EE9EE45D4}"/>
                </a:ext>
              </a:extLst>
            </p:cNvPr>
            <p:cNvSpPr/>
            <p:nvPr/>
          </p:nvSpPr>
          <p:spPr>
            <a:xfrm>
              <a:off x="4773059" y="2462140"/>
              <a:ext cx="81810" cy="56245"/>
            </a:xfrm>
            <a:custGeom>
              <a:avLst/>
              <a:gdLst/>
              <a:ahLst/>
              <a:cxnLst/>
              <a:rect l="l" t="t" r="r" b="b"/>
              <a:pathLst>
                <a:path w="48" h="33" extrusionOk="0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357;p30">
              <a:extLst>
                <a:ext uri="{FF2B5EF4-FFF2-40B4-BE49-F238E27FC236}">
                  <a16:creationId xmlns:a16="http://schemas.microsoft.com/office/drawing/2014/main" id="{5F3FBCD2-82A4-CC9C-4E92-2AE943B1785D}"/>
                </a:ext>
              </a:extLst>
            </p:cNvPr>
            <p:cNvSpPr/>
            <p:nvPr/>
          </p:nvSpPr>
          <p:spPr>
            <a:xfrm>
              <a:off x="4701475" y="1263976"/>
              <a:ext cx="354506" cy="826616"/>
            </a:xfrm>
            <a:custGeom>
              <a:avLst/>
              <a:gdLst/>
              <a:ahLst/>
              <a:cxnLst/>
              <a:rect l="l" t="t" r="r" b="b"/>
              <a:pathLst>
                <a:path w="208" h="485" extrusionOk="0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358;p30">
              <a:extLst>
                <a:ext uri="{FF2B5EF4-FFF2-40B4-BE49-F238E27FC236}">
                  <a16:creationId xmlns:a16="http://schemas.microsoft.com/office/drawing/2014/main" id="{45CBBA0A-0319-CFA7-D758-6247F85C45E5}"/>
                </a:ext>
              </a:extLst>
            </p:cNvPr>
            <p:cNvSpPr/>
            <p:nvPr/>
          </p:nvSpPr>
          <p:spPr>
            <a:xfrm>
              <a:off x="5241757" y="4648834"/>
              <a:ext cx="40986" cy="53079"/>
            </a:xfrm>
            <a:custGeom>
              <a:avLst/>
              <a:gdLst/>
              <a:ahLst/>
              <a:cxnLst/>
              <a:rect l="l" t="t" r="r" b="b"/>
              <a:pathLst>
                <a:path w="54648" h="70772" extrusionOk="0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359;p30">
              <a:extLst>
                <a:ext uri="{FF2B5EF4-FFF2-40B4-BE49-F238E27FC236}">
                  <a16:creationId xmlns:a16="http://schemas.microsoft.com/office/drawing/2014/main" id="{D53EC86F-EF4D-B530-7A1A-18AA5F9A9ACD}"/>
                </a:ext>
              </a:extLst>
            </p:cNvPr>
            <p:cNvSpPr/>
            <p:nvPr/>
          </p:nvSpPr>
          <p:spPr>
            <a:xfrm>
              <a:off x="4769650" y="3261485"/>
              <a:ext cx="286332" cy="455065"/>
            </a:xfrm>
            <a:custGeom>
              <a:avLst/>
              <a:gdLst/>
              <a:ahLst/>
              <a:cxnLst/>
              <a:rect l="l" t="t" r="r" b="b"/>
              <a:pathLst>
                <a:path w="168" h="267" extrusionOk="0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360;p30">
              <a:extLst>
                <a:ext uri="{FF2B5EF4-FFF2-40B4-BE49-F238E27FC236}">
                  <a16:creationId xmlns:a16="http://schemas.microsoft.com/office/drawing/2014/main" id="{26ECC4B6-F47D-9F0B-751A-832B26BAC9B4}"/>
                </a:ext>
              </a:extLst>
            </p:cNvPr>
            <p:cNvSpPr/>
            <p:nvPr/>
          </p:nvSpPr>
          <p:spPr>
            <a:xfrm>
              <a:off x="7846012" y="4147753"/>
              <a:ext cx="64767" cy="28975"/>
            </a:xfrm>
            <a:custGeom>
              <a:avLst/>
              <a:gdLst/>
              <a:ahLst/>
              <a:cxnLst/>
              <a:rect l="l" t="t" r="r" b="b"/>
              <a:pathLst>
                <a:path w="38" h="17" extrusionOk="0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361;p30">
              <a:extLst>
                <a:ext uri="{FF2B5EF4-FFF2-40B4-BE49-F238E27FC236}">
                  <a16:creationId xmlns:a16="http://schemas.microsoft.com/office/drawing/2014/main" id="{EDF17E38-7D15-0FDE-89E1-4AC52A8CA636}"/>
                </a:ext>
              </a:extLst>
            </p:cNvPr>
            <p:cNvSpPr/>
            <p:nvPr/>
          </p:nvSpPr>
          <p:spPr>
            <a:xfrm>
              <a:off x="4604328" y="2813238"/>
              <a:ext cx="109080" cy="233498"/>
            </a:xfrm>
            <a:custGeom>
              <a:avLst/>
              <a:gdLst/>
              <a:ahLst/>
              <a:cxnLst/>
              <a:rect l="l" t="t" r="r" b="b"/>
              <a:pathLst>
                <a:path w="64" h="137" extrusionOk="0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362;p30">
              <a:extLst>
                <a:ext uri="{FF2B5EF4-FFF2-40B4-BE49-F238E27FC236}">
                  <a16:creationId xmlns:a16="http://schemas.microsoft.com/office/drawing/2014/main" id="{1CBE0392-1707-0F05-3F90-6D37019EFFAD}"/>
                </a:ext>
              </a:extLst>
            </p:cNvPr>
            <p:cNvSpPr/>
            <p:nvPr/>
          </p:nvSpPr>
          <p:spPr>
            <a:xfrm>
              <a:off x="5115635" y="2642802"/>
              <a:ext cx="516420" cy="223272"/>
            </a:xfrm>
            <a:custGeom>
              <a:avLst/>
              <a:gdLst/>
              <a:ahLst/>
              <a:cxnLst/>
              <a:rect l="l" t="t" r="r" b="b"/>
              <a:pathLst>
                <a:path w="303" h="131" extrusionOk="0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363;p30">
              <a:extLst>
                <a:ext uri="{FF2B5EF4-FFF2-40B4-BE49-F238E27FC236}">
                  <a16:creationId xmlns:a16="http://schemas.microsoft.com/office/drawing/2014/main" id="{7E5CF331-40F2-9103-D9DD-936C828AF97D}"/>
                </a:ext>
              </a:extLst>
            </p:cNvPr>
            <p:cNvSpPr/>
            <p:nvPr/>
          </p:nvSpPr>
          <p:spPr>
            <a:xfrm>
              <a:off x="7713072" y="3200128"/>
              <a:ext cx="47723" cy="10055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364;p30">
              <a:extLst>
                <a:ext uri="{FF2B5EF4-FFF2-40B4-BE49-F238E27FC236}">
                  <a16:creationId xmlns:a16="http://schemas.microsoft.com/office/drawing/2014/main" id="{06A1A083-40B7-F18D-B943-366E45BA7CA1}"/>
                </a:ext>
              </a:extLst>
            </p:cNvPr>
            <p:cNvSpPr/>
            <p:nvPr/>
          </p:nvSpPr>
          <p:spPr>
            <a:xfrm>
              <a:off x="5008260" y="2232052"/>
              <a:ext cx="495975" cy="330650"/>
            </a:xfrm>
            <a:custGeom>
              <a:avLst/>
              <a:gdLst/>
              <a:ahLst/>
              <a:cxnLst/>
              <a:rect l="l" t="t" r="r" b="b"/>
              <a:pathLst>
                <a:path w="10000" h="10000" extrusionOk="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365;p30">
              <a:extLst>
                <a:ext uri="{FF2B5EF4-FFF2-40B4-BE49-F238E27FC236}">
                  <a16:creationId xmlns:a16="http://schemas.microsoft.com/office/drawing/2014/main" id="{99E55537-484E-BB29-9EF5-02CDABBB96F5}"/>
                </a:ext>
              </a:extLst>
            </p:cNvPr>
            <p:cNvSpPr/>
            <p:nvPr/>
          </p:nvSpPr>
          <p:spPr>
            <a:xfrm>
              <a:off x="2785781" y="4785183"/>
              <a:ext cx="141462" cy="158506"/>
            </a:xfrm>
            <a:custGeom>
              <a:avLst/>
              <a:gdLst/>
              <a:ahLst/>
              <a:cxnLst/>
              <a:rect l="l" t="t" r="r" b="b"/>
              <a:pathLst>
                <a:path w="83" h="93" extrusionOk="0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366;p30">
              <a:extLst>
                <a:ext uri="{FF2B5EF4-FFF2-40B4-BE49-F238E27FC236}">
                  <a16:creationId xmlns:a16="http://schemas.microsoft.com/office/drawing/2014/main" id="{D1A27CF7-F7F5-F62B-7259-6FFB87F584AC}"/>
                </a:ext>
              </a:extLst>
            </p:cNvPr>
            <p:cNvSpPr/>
            <p:nvPr/>
          </p:nvSpPr>
          <p:spPr>
            <a:xfrm>
              <a:off x="-341711" y="1081608"/>
              <a:ext cx="2890586" cy="2312817"/>
            </a:xfrm>
            <a:custGeom>
              <a:avLst/>
              <a:gdLst/>
              <a:ahLst/>
              <a:cxnLst/>
              <a:rect l="l" t="t" r="r" b="b"/>
              <a:pathLst>
                <a:path w="1696" h="1357" extrusionOk="0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367;p30">
              <a:extLst>
                <a:ext uri="{FF2B5EF4-FFF2-40B4-BE49-F238E27FC236}">
                  <a16:creationId xmlns:a16="http://schemas.microsoft.com/office/drawing/2014/main" id="{32E297D5-C7DF-81B5-2617-0D61A024BEFF}"/>
                </a:ext>
              </a:extLst>
            </p:cNvPr>
            <p:cNvSpPr/>
            <p:nvPr/>
          </p:nvSpPr>
          <p:spPr>
            <a:xfrm>
              <a:off x="2375032" y="3583609"/>
              <a:ext cx="371550" cy="318715"/>
            </a:xfrm>
            <a:custGeom>
              <a:avLst/>
              <a:gdLst/>
              <a:ahLst/>
              <a:cxnLst/>
              <a:rect l="l" t="t" r="r" b="b"/>
              <a:pathLst>
                <a:path w="218" h="187" extrusionOk="0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368;p30">
              <a:extLst>
                <a:ext uri="{FF2B5EF4-FFF2-40B4-BE49-F238E27FC236}">
                  <a16:creationId xmlns:a16="http://schemas.microsoft.com/office/drawing/2014/main" id="{31936E51-9F69-1820-F043-63757A313B7D}"/>
                </a:ext>
              </a:extLst>
            </p:cNvPr>
            <p:cNvSpPr/>
            <p:nvPr/>
          </p:nvSpPr>
          <p:spPr>
            <a:xfrm>
              <a:off x="8994748" y="4325006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369;p30">
              <a:extLst>
                <a:ext uri="{FF2B5EF4-FFF2-40B4-BE49-F238E27FC236}">
                  <a16:creationId xmlns:a16="http://schemas.microsoft.com/office/drawing/2014/main" id="{6AACEA30-6BDF-4358-C0F7-86CB4010F462}"/>
                </a:ext>
              </a:extLst>
            </p:cNvPr>
            <p:cNvSpPr/>
            <p:nvPr/>
          </p:nvSpPr>
          <p:spPr>
            <a:xfrm>
              <a:off x="8994748" y="4325007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370;p30">
              <a:extLst>
                <a:ext uri="{FF2B5EF4-FFF2-40B4-BE49-F238E27FC236}">
                  <a16:creationId xmlns:a16="http://schemas.microsoft.com/office/drawing/2014/main" id="{4860D892-CB45-7C8A-F3D5-7B284134572C}"/>
                </a:ext>
              </a:extLst>
            </p:cNvPr>
            <p:cNvSpPr/>
            <p:nvPr/>
          </p:nvSpPr>
          <p:spPr>
            <a:xfrm>
              <a:off x="5139804" y="4740837"/>
              <a:ext cx="68006" cy="68500"/>
            </a:xfrm>
            <a:custGeom>
              <a:avLst/>
              <a:gdLst/>
              <a:ahLst/>
              <a:cxnLst/>
              <a:rect l="l" t="t" r="r" b="b"/>
              <a:pathLst>
                <a:path w="90674" h="91333" extrusionOk="0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2EEB04ED-4670-B639-58D0-BA7A9EF52365}"/>
              </a:ext>
            </a:extLst>
          </p:cNvPr>
          <p:cNvSpPr/>
          <p:nvPr/>
        </p:nvSpPr>
        <p:spPr>
          <a:xfrm>
            <a:off x="571500" y="9853574"/>
            <a:ext cx="95098" cy="95098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2201B51-30D0-C158-78D4-F26A85A2ED11}"/>
              </a:ext>
            </a:extLst>
          </p:cNvPr>
          <p:cNvSpPr txBox="1"/>
          <p:nvPr/>
        </p:nvSpPr>
        <p:spPr>
          <a:xfrm>
            <a:off x="743407" y="9810598"/>
            <a:ext cx="312907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Capacidad completa de entrega</a:t>
            </a:r>
            <a:endParaRPr lang="en-US" sz="975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FE4D491B-0A59-C1C9-4C08-63BD6CB8CA94}"/>
              </a:ext>
            </a:extLst>
          </p:cNvPr>
          <p:cNvSpPr/>
          <p:nvPr/>
        </p:nvSpPr>
        <p:spPr>
          <a:xfrm>
            <a:off x="3716122" y="9862718"/>
            <a:ext cx="75895" cy="75895"/>
          </a:xfrm>
          <a:prstGeom prst="ellipse">
            <a:avLst/>
          </a:prstGeom>
          <a:solidFill>
            <a:srgbClr val="E6A817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D5F4B6F-83D2-B3C7-CADB-18808222229F}"/>
              </a:ext>
            </a:extLst>
          </p:cNvPr>
          <p:cNvSpPr txBox="1"/>
          <p:nvPr/>
        </p:nvSpPr>
        <p:spPr>
          <a:xfrm>
            <a:off x="3868826" y="9810598"/>
            <a:ext cx="276606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Oficina de desarrollo de negocio</a:t>
            </a:r>
            <a:endParaRPr lang="en-US" sz="975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23413A5-F712-8D16-F533-E426FB72C4F6}"/>
              </a:ext>
            </a:extLst>
          </p:cNvPr>
          <p:cNvSpPr txBox="1"/>
          <p:nvPr/>
        </p:nvSpPr>
        <p:spPr>
          <a:xfrm>
            <a:off x="12859207" y="9810598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 · +25 países · un solo equipo</a:t>
            </a:r>
            <a:endParaRPr lang="en-US" sz="1050" dirty="0"/>
          </a:p>
        </p:txBody>
      </p:sp>
      <p:pic>
        <p:nvPicPr>
          <p:cNvPr id="24" name="Image 1" descr="gen-dedup-3fc9b6bd6bd01734c54b10a0f11af3f3.png">
            <a:extLst>
              <a:ext uri="{FF2B5EF4-FFF2-40B4-BE49-F238E27FC236}">
                <a16:creationId xmlns:a16="http://schemas.microsoft.com/office/drawing/2014/main" id="{1F1F5002-098B-43B6-64AF-3FBCE6966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5a09eb1f34288b436e57a041e43161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5524805"/>
            <a:ext cx="3905402" cy="4306575"/>
          </a:xfrm>
          <a:prstGeom prst="roundRect">
            <a:avLst>
              <a:gd name="adj" fmla="val 1992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524305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524305" y="8287207"/>
            <a:ext cx="38130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619902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5619902" y="8287207"/>
            <a:ext cx="381305" cy="192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715500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5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9715500" y="8287207"/>
            <a:ext cx="381305" cy="192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3811098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A0F1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gen-dedup-bf32672133d061a5c1accb4804bec1af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3811098" y="8287207"/>
            <a:ext cx="381305" cy="19202"/>
          </a:xfrm>
          <a:prstGeom prst="rect">
            <a:avLst/>
          </a:prstGeom>
        </p:spPr>
      </p:pic>
      <p:pic>
        <p:nvPicPr>
          <p:cNvPr id="17" name="Image 7" descr="gen-dedup-0113424e0df92296bf5e61a0b6035e3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76095" y="6057900"/>
            <a:ext cx="304495" cy="304495"/>
          </a:xfrm>
          <a:prstGeom prst="rect">
            <a:avLst/>
          </a:prstGeom>
        </p:spPr>
      </p:pic>
      <p:pic>
        <p:nvPicPr>
          <p:cNvPr id="18" name="Image 8" descr="gen-dedup-b867514278944b07393dfc986030d76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72607" y="6057900"/>
            <a:ext cx="304495" cy="304495"/>
          </a:xfrm>
          <a:prstGeom prst="rect">
            <a:avLst/>
          </a:prstGeom>
        </p:spPr>
      </p:pic>
      <p:pic>
        <p:nvPicPr>
          <p:cNvPr id="19" name="Image 9" descr="gen-dedup-6b7cda802fae2b4896161d9ae253451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68205" y="6057900"/>
            <a:ext cx="304495" cy="304495"/>
          </a:xfrm>
          <a:prstGeom prst="rect">
            <a:avLst/>
          </a:prstGeom>
        </p:spPr>
      </p:pic>
      <p:pic>
        <p:nvPicPr>
          <p:cNvPr id="20" name="Image 10" descr="gen-dedup-c2ad12cf8fbbac21265105de29b9e670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963802" y="6057900"/>
            <a:ext cx="304495" cy="304495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MTi · 06</a:t>
            </a:r>
            <a:endParaRPr lang="en-US" sz="975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pilares estratégicos</a:t>
            </a:r>
            <a:endParaRPr lang="en-US" sz="1125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2857500"/>
            <a:ext cx="15240305" cy="163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850" b="1" kern="0" spc="-1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 que opera donde</a:t>
            </a:r>
            <a:endParaRPr lang="en-US" sz="5850" b="1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850" b="1" kern="0" spc="-1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importa.</a:t>
            </a:r>
            <a:endParaRPr lang="en-US" sz="5850" b="1" dirty="0"/>
          </a:p>
        </p:txBody>
      </p:sp>
      <p:sp>
        <p:nvSpPr>
          <p:cNvPr id="24" name="Text 11"/>
          <p:cNvSpPr txBox="1"/>
          <p:nvPr/>
        </p:nvSpPr>
        <p:spPr>
          <a:xfrm>
            <a:off x="1524305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01</a:t>
            </a:r>
            <a:endParaRPr lang="en-US" sz="900" dirty="0"/>
          </a:p>
        </p:txBody>
      </p:sp>
      <p:sp>
        <p:nvSpPr>
          <p:cNvPr id="25" name="Text 12"/>
          <p:cNvSpPr txBox="1"/>
          <p:nvPr/>
        </p:nvSpPr>
        <p:spPr>
          <a:xfrm>
            <a:off x="1524305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en lo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endParaRPr lang="en-US" sz="2700" dirty="0"/>
          </a:p>
        </p:txBody>
      </p:sp>
      <p:sp>
        <p:nvSpPr>
          <p:cNvPr id="26" name="Text 13"/>
          <p:cNvSpPr txBox="1"/>
          <p:nvPr/>
        </p:nvSpPr>
        <p:spPr>
          <a:xfrm>
            <a:off x="1524305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Entregamos donde fallar no es una opción — aeropuertos, metros, hospitales, plantas industriales, infraestructura soberana.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5619902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02</a:t>
            </a:r>
            <a:endParaRPr lang="en-US" sz="900" dirty="0"/>
          </a:p>
        </p:txBody>
      </p:sp>
      <p:sp>
        <p:nvSpPr>
          <p:cNvPr id="28" name="Text 15"/>
          <p:cNvSpPr txBox="1"/>
          <p:nvPr/>
        </p:nvSpPr>
        <p:spPr>
          <a:xfrm>
            <a:off x="5619902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extremo a extremo</a:t>
            </a:r>
            <a:endParaRPr lang="en-US" sz="2700" dirty="0"/>
          </a:p>
        </p:txBody>
      </p:sp>
      <p:sp>
        <p:nvSpPr>
          <p:cNvPr id="29" name="Text 16"/>
          <p:cNvSpPr txBox="1"/>
          <p:nvPr/>
        </p:nvSpPr>
        <p:spPr>
          <a:xfrm>
            <a:off x="5619902" y="84774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Concepto, ingeniería, integración, despliegue y operación. Un único responsable desde la oferta hasta el mantenimiento 24/7.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9715500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03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9715500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propias</a:t>
            </a:r>
            <a:endParaRPr lang="en-US" sz="2700" dirty="0"/>
          </a:p>
        </p:txBody>
      </p:sp>
      <p:sp>
        <p:nvSpPr>
          <p:cNvPr id="32" name="Text 19"/>
          <p:cNvSpPr txBox="1"/>
          <p:nvPr/>
        </p:nvSpPr>
        <p:spPr>
          <a:xfrm>
            <a:off x="9715500" y="84774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 propias de IoT, Gemelo Digital, Smart City OS e IA Agéntica — nunca reventa. Roadmap y propiedad intelectual bajo control total.</a:t>
            </a:r>
            <a:endParaRPr lang="en-US" sz="1200" dirty="0"/>
          </a:p>
        </p:txBody>
      </p:sp>
      <p:sp>
        <p:nvSpPr>
          <p:cNvPr id="33" name="Text 20"/>
          <p:cNvSpPr txBox="1"/>
          <p:nvPr/>
        </p:nvSpPr>
        <p:spPr>
          <a:xfrm>
            <a:off x="13811098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04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3811098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</a:t>
            </a:r>
            <a:endParaRPr lang="en-US" sz="2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medible</a:t>
            </a:r>
            <a:endParaRPr lang="en-US" sz="2700" dirty="0"/>
          </a:p>
        </p:txBody>
      </p:sp>
      <p:sp>
        <p:nvSpPr>
          <p:cNvPr id="35" name="Text 22"/>
          <p:cNvSpPr txBox="1"/>
          <p:nvPr/>
        </p:nvSpPr>
        <p:spPr>
          <a:xfrm>
            <a:off x="13811098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proyecto reporta impacto cuantificado — horas ahorradas, ofertas generadas, paradas evitadas y ROI desde el primer día.</a:t>
            </a:r>
            <a:endParaRPr lang="en-US" sz="1200" dirty="0"/>
          </a:p>
        </p:txBody>
      </p:sp>
      <p:pic>
        <p:nvPicPr>
          <p:cNvPr id="37" name="Image 1" descr="gen-dedup-3fc9b6bd6bd01734c54b10a0f11af3f3.png">
            <a:extLst>
              <a:ext uri="{FF2B5EF4-FFF2-40B4-BE49-F238E27FC236}">
                <a16:creationId xmlns:a16="http://schemas.microsoft.com/office/drawing/2014/main" id="{B7B77A3D-4A56-ED7B-8DD6-C9AE4C2BD7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4858207"/>
            <a:ext cx="4000500" cy="2190902"/>
          </a:xfrm>
          <a:prstGeom prst="roundRect">
            <a:avLst>
              <a:gd name="adj" fmla="val 262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67805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91695" y="7334402"/>
            <a:ext cx="495330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11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4858207"/>
            <a:ext cx="761695" cy="38405"/>
          </a:xfrm>
          <a:prstGeom prst="rect">
            <a:avLst/>
          </a:prstGeom>
        </p:spPr>
      </p:pic>
      <p:pic>
        <p:nvPicPr>
          <p:cNvPr id="12" name="Image 3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143500" y="4858207"/>
            <a:ext cx="761695" cy="38405"/>
          </a:xfrm>
          <a:prstGeom prst="rect">
            <a:avLst/>
          </a:prstGeom>
        </p:spPr>
      </p:pic>
      <p:pic>
        <p:nvPicPr>
          <p:cNvPr id="13" name="Image 4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0" y="4858207"/>
            <a:ext cx="761695" cy="38405"/>
          </a:xfrm>
          <a:prstGeom prst="rect">
            <a:avLst/>
          </a:prstGeom>
        </p:spPr>
      </p:pic>
      <p:pic>
        <p:nvPicPr>
          <p:cNvPr id="14" name="Image 5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3144500" y="4858207"/>
            <a:ext cx="761695" cy="38405"/>
          </a:xfrm>
          <a:prstGeom prst="rect">
            <a:avLst/>
          </a:prstGeom>
        </p:spPr>
      </p:pic>
      <p:pic>
        <p:nvPicPr>
          <p:cNvPr id="15" name="Image 6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7334402"/>
            <a:ext cx="761695" cy="38405"/>
          </a:xfrm>
          <a:prstGeom prst="rect">
            <a:avLst/>
          </a:prstGeom>
        </p:spPr>
      </p:pic>
      <p:pic>
        <p:nvPicPr>
          <p:cNvPr id="16" name="Image 7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667805" y="7334402"/>
            <a:ext cx="761695" cy="38405"/>
          </a:xfrm>
          <a:prstGeom prst="rect">
            <a:avLst/>
          </a:prstGeom>
        </p:spPr>
      </p:pic>
      <p:pic>
        <p:nvPicPr>
          <p:cNvPr id="17" name="Image 8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2191695" y="7334402"/>
            <a:ext cx="761695" cy="384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cifras · 04</a:t>
            </a:r>
            <a:endParaRPr lang="en-US" sz="975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Probado a gran escala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2857500"/>
            <a:ext cx="15621610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kern="0" spc="-20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modelo de entrega </a:t>
            </a:r>
            <a:r>
              <a:rPr lang="en-US" sz="6900" b="1" kern="0" spc="-20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integrado.</a:t>
            </a:r>
            <a:endParaRPr lang="en-US" sz="6900" dirty="0"/>
          </a:p>
        </p:txBody>
      </p:sp>
      <p:sp>
        <p:nvSpPr>
          <p:cNvPr id="21" name="Text 10"/>
          <p:cNvSpPr txBox="1"/>
          <p:nvPr/>
        </p:nvSpPr>
        <p:spPr>
          <a:xfrm>
            <a:off x="1429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Años de innovación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429207" y="5477256"/>
            <a:ext cx="32388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3" name="Text 12"/>
          <p:cNvSpPr txBox="1"/>
          <p:nvPr/>
        </p:nvSpPr>
        <p:spPr>
          <a:xfrm>
            <a:off x="1429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Operando desde 2016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54297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conectados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5429707" y="5477256"/>
            <a:ext cx="3677717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6" name="Text 15"/>
          <p:cNvSpPr txBox="1"/>
          <p:nvPr/>
        </p:nvSpPr>
        <p:spPr>
          <a:xfrm>
            <a:off x="54297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vía plataforma thethings.io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9430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Administraciones atendidas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9430207" y="5477256"/>
            <a:ext cx="5048402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00" dirty="0"/>
          </a:p>
        </p:txBody>
      </p:sp>
      <p:sp>
        <p:nvSpPr>
          <p:cNvPr id="29" name="Text 18"/>
          <p:cNvSpPr txBox="1"/>
          <p:nvPr/>
        </p:nvSpPr>
        <p:spPr>
          <a:xfrm>
            <a:off x="9430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KAFD · Ciudades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13430707" y="52385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IA en producción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13430707" y="5477256"/>
            <a:ext cx="34290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2" name="Text 21"/>
          <p:cNvSpPr txBox="1"/>
          <p:nvPr/>
        </p:nvSpPr>
        <p:spPr>
          <a:xfrm>
            <a:off x="13430707" y="6661404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Agéntica, despliegues reales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1429207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de operación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1429207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5" name="Text 24"/>
          <p:cNvSpPr txBox="1"/>
          <p:nvPr/>
        </p:nvSpPr>
        <p:spPr>
          <a:xfrm>
            <a:off x="1429207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global · ejecución local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6953098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de referencia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6953098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8" name="Text 27"/>
          <p:cNvSpPr txBox="1"/>
          <p:nvPr/>
        </p:nvSpPr>
        <p:spPr>
          <a:xfrm>
            <a:off x="6953098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TMB · AENA · Abertis · Fujitsu · Indra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2477902" y="7715707"/>
            <a:ext cx="4381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Certificación ISO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12477902" y="8048549"/>
            <a:ext cx="470916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</a:t>
            </a: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000" dirty="0"/>
          </a:p>
        </p:txBody>
      </p:sp>
      <p:sp>
        <p:nvSpPr>
          <p:cNvPr id="41" name="Text 30"/>
          <p:cNvSpPr txBox="1"/>
          <p:nvPr/>
        </p:nvSpPr>
        <p:spPr>
          <a:xfrm>
            <a:off x="12477902" y="89821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27001 y 14001 en curso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1143000" y="9810598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Group · Presentación Corporativa</a:t>
            </a:r>
            <a:endParaRPr lang="en-US" sz="975" dirty="0"/>
          </a:p>
        </p:txBody>
      </p:sp>
      <p:pic>
        <p:nvPicPr>
          <p:cNvPr id="44" name="Image 1" descr="gen-dedup-3fc9b6bd6bd01734c54b10a0f11af3f3.png">
            <a:extLst>
              <a:ext uri="{FF2B5EF4-FFF2-40B4-BE49-F238E27FC236}">
                <a16:creationId xmlns:a16="http://schemas.microsoft.com/office/drawing/2014/main" id="{05084004-CB19-5691-9B3D-2970E85DB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15354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287707" y="38103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15354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87707" y="66678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en-dedup-96ab480cbdaae70610a0dffdd0c2b6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0305"/>
            <a:ext cx="2097509" cy="2667305"/>
          </a:xfrm>
          <a:prstGeom prst="rect">
            <a:avLst/>
          </a:prstGeom>
        </p:spPr>
      </p:pic>
      <p:pic>
        <p:nvPicPr>
          <p:cNvPr id="9" name="Image 1" descr="gen-dedup-a33ad67954a55759bca49c0de1455b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3810305"/>
            <a:ext cx="2095805" cy="2668429"/>
          </a:xfrm>
          <a:prstGeom prst="rect">
            <a:avLst/>
          </a:prstGeom>
        </p:spPr>
      </p:pic>
      <p:pic>
        <p:nvPicPr>
          <p:cNvPr id="10" name="Image 2" descr="gen-dedup-bad7156babdac6f5efbe62e518bdcc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707" y="3810305"/>
            <a:ext cx="1904695" cy="2668056"/>
          </a:xfrm>
          <a:prstGeom prst="rect">
            <a:avLst/>
          </a:prstGeom>
        </p:spPr>
      </p:pic>
      <p:pic>
        <p:nvPicPr>
          <p:cNvPr id="11" name="Image 3" descr="gen-dedup-f8ca8ceb4f70a0b428c85cf59ed8a28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667805"/>
            <a:ext cx="2096798" cy="2667305"/>
          </a:xfrm>
          <a:prstGeom prst="rect">
            <a:avLst/>
          </a:prstGeom>
        </p:spPr>
      </p:pic>
      <p:pic>
        <p:nvPicPr>
          <p:cNvPr id="12" name="Image 4" descr="gen-dedup-01d29c7bd8c0c62cfc5d9c750a4043f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4" y="6667805"/>
            <a:ext cx="2096798" cy="2667305"/>
          </a:xfrm>
          <a:prstGeom prst="rect">
            <a:avLst/>
          </a:prstGeom>
        </p:spPr>
      </p:pic>
      <p:pic>
        <p:nvPicPr>
          <p:cNvPr id="13" name="Image 5" descr="gen-dedup-ed2ee9f620afd25721d937ea60c30f6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7707" y="6667805"/>
            <a:ext cx="1905641" cy="2667305"/>
          </a:xfrm>
          <a:prstGeom prst="rect">
            <a:avLst/>
          </a:prstGeom>
        </p:spPr>
      </p:pic>
      <p:pic>
        <p:nvPicPr>
          <p:cNvPr id="14" name="Image 6" descr="gen-dedup-ae92611b10f53700cbdb6cb753da0f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957343" cy="676656"/>
          </a:xfrm>
          <a:prstGeom prst="rect">
            <a:avLst/>
          </a:prstGeom>
        </p:spPr>
      </p:pic>
      <p:pic>
        <p:nvPicPr>
          <p:cNvPr id="15" name="Image 7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6" name="Image 8" descr="gen-dedup-15a73e749e0a7d8b2774d77c55981ad9.png"/>
          <p:cNvPicPr>
            <a:picLocks noChangeAspect="1"/>
          </p:cNvPicPr>
          <p:nvPr/>
        </p:nvPicPr>
        <p:blipFill>
          <a:blip r:embed="rId11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· 07</a:t>
            </a:r>
            <a:endParaRPr lang="en-US" sz="975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2190902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de actividad</a:t>
            </a:r>
            <a:endParaRPr lang="en-US" sz="1125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619756"/>
            <a:ext cx="14287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250" b="1" kern="0" spc="-15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Entendemos </a:t>
            </a:r>
            <a:r>
              <a:rPr lang="en-US" sz="5250" b="1" kern="0" spc="-15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sector.</a:t>
            </a:r>
            <a:endParaRPr lang="en-US" sz="5250" dirty="0"/>
          </a:p>
        </p:txBody>
      </p:sp>
      <p:sp>
        <p:nvSpPr>
          <p:cNvPr id="20" name="Text 9"/>
          <p:cNvSpPr txBox="1"/>
          <p:nvPr/>
        </p:nvSpPr>
        <p:spPr>
          <a:xfrm>
            <a:off x="3429000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Prioridad</a:t>
            </a:r>
            <a:endParaRPr lang="en-US" sz="825" dirty="0"/>
          </a:p>
        </p:txBody>
      </p:sp>
      <p:sp>
        <p:nvSpPr>
          <p:cNvPr id="21" name="Text 10"/>
          <p:cNvSpPr txBox="1"/>
          <p:nvPr/>
        </p:nvSpPr>
        <p:spPr>
          <a:xfrm>
            <a:off x="3429000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</a:t>
            </a:r>
            <a:endParaRPr lang="en-US" sz="2400" dirty="0"/>
          </a:p>
        </p:txBody>
      </p:sp>
      <p:sp>
        <p:nvSpPr>
          <p:cNvPr id="22" name="Text 11"/>
          <p:cNvSpPr txBox="1"/>
          <p:nvPr/>
        </p:nvSpPr>
        <p:spPr>
          <a:xfrm>
            <a:off x="3429000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CCTV, VMS, control de accesos, perímetro y operación de sala de control.</a:t>
            </a:r>
            <a:endParaRPr lang="en-US" sz="1050" dirty="0"/>
          </a:p>
        </p:txBody>
      </p:sp>
      <p:sp>
        <p:nvSpPr>
          <p:cNvPr id="23" name="Text 12"/>
          <p:cNvSpPr txBox="1"/>
          <p:nvPr/>
        </p:nvSpPr>
        <p:spPr>
          <a:xfrm>
            <a:off x="3429000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SIPA · Metro · Aeropuertos</a:t>
            </a:r>
            <a:endParaRPr lang="en-US" sz="825" dirty="0"/>
          </a:p>
        </p:txBody>
      </p:sp>
      <p:sp>
        <p:nvSpPr>
          <p:cNvPr id="24" name="Text 13"/>
          <p:cNvSpPr txBox="1"/>
          <p:nvPr/>
        </p:nvSpPr>
        <p:spPr>
          <a:xfrm>
            <a:off x="9001354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Foco</a:t>
            </a:r>
            <a:endParaRPr lang="en-US" sz="825" dirty="0"/>
          </a:p>
        </p:txBody>
      </p:sp>
      <p:sp>
        <p:nvSpPr>
          <p:cNvPr id="25" name="Text 14"/>
          <p:cNvSpPr txBox="1"/>
          <p:nvPr/>
        </p:nvSpPr>
        <p:spPr>
          <a:xfrm>
            <a:off x="9001354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</a:t>
            </a:r>
            <a:endParaRPr lang="en-US" sz="2400" dirty="0"/>
          </a:p>
        </p:txBody>
      </p:sp>
      <p:sp>
        <p:nvSpPr>
          <p:cNvPr id="26" name="Text 15"/>
          <p:cNvSpPr txBox="1"/>
          <p:nvPr/>
        </p:nvSpPr>
        <p:spPr>
          <a:xfrm>
            <a:off x="9001354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Centros de mando, residuos, alumbrado, movilidad, utilities y telemedida IoT.</a:t>
            </a:r>
            <a:endParaRPr lang="en-US" sz="1050" dirty="0"/>
          </a:p>
        </p:txBody>
      </p:sp>
      <p:sp>
        <p:nvSpPr>
          <p:cNvPr id="27" name="Text 16"/>
          <p:cNvSpPr txBox="1"/>
          <p:nvPr/>
        </p:nvSpPr>
        <p:spPr>
          <a:xfrm>
            <a:off x="9001354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KAFD · Qatar · Hospitalet · NSU</a:t>
            </a:r>
            <a:endParaRPr lang="en-US" sz="825" dirty="0"/>
          </a:p>
        </p:txBody>
      </p:sp>
      <p:sp>
        <p:nvSpPr>
          <p:cNvPr id="28" name="Text 17"/>
          <p:cNvSpPr txBox="1"/>
          <p:nvPr/>
        </p:nvSpPr>
        <p:spPr>
          <a:xfrm>
            <a:off x="14382598" y="40480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Profundidad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14382598" y="4257446"/>
            <a:ext cx="317388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y Naval</a:t>
            </a:r>
            <a:endParaRPr lang="en-US" sz="2400" dirty="0"/>
          </a:p>
        </p:txBody>
      </p:sp>
      <p:sp>
        <p:nvSpPr>
          <p:cNvPr id="30" name="Text 19"/>
          <p:cNvSpPr txBox="1"/>
          <p:nvPr/>
        </p:nvSpPr>
        <p:spPr>
          <a:xfrm>
            <a:off x="14382598" y="47247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Gemelo Digital, SCADA, Industria 4.0 y fábricas digitales en astilleros.</a:t>
            </a:r>
            <a:endParaRPr lang="en-US" sz="1050" dirty="0"/>
          </a:p>
        </p:txBody>
      </p:sp>
      <p:sp>
        <p:nvSpPr>
          <p:cNvPr id="31" name="Text 20"/>
          <p:cNvSpPr txBox="1"/>
          <p:nvPr/>
        </p:nvSpPr>
        <p:spPr>
          <a:xfrm>
            <a:off x="14382598" y="52578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Freire · Industria 4.0</a:t>
            </a:r>
            <a:endParaRPr lang="en-US" sz="825" dirty="0"/>
          </a:p>
        </p:txBody>
      </p:sp>
      <p:sp>
        <p:nvSpPr>
          <p:cNvPr id="32" name="Text 21"/>
          <p:cNvSpPr txBox="1"/>
          <p:nvPr/>
        </p:nvSpPr>
        <p:spPr>
          <a:xfrm>
            <a:off x="3429000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Capa</a:t>
            </a:r>
            <a:endParaRPr lang="en-US" sz="825" dirty="0"/>
          </a:p>
        </p:txBody>
      </p:sp>
      <p:sp>
        <p:nvSpPr>
          <p:cNvPr id="33" name="Text 22"/>
          <p:cNvSpPr txBox="1"/>
          <p:nvPr/>
        </p:nvSpPr>
        <p:spPr>
          <a:xfrm>
            <a:off x="3429000" y="71149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Ciberseguridad</a:t>
            </a:r>
            <a:endParaRPr lang="en-US" sz="2400" dirty="0"/>
          </a:p>
        </p:txBody>
      </p:sp>
      <p:sp>
        <p:nvSpPr>
          <p:cNvPr id="34" name="Text 23"/>
          <p:cNvSpPr txBox="1"/>
          <p:nvPr/>
        </p:nvSpPr>
        <p:spPr>
          <a:xfrm>
            <a:off x="3429000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 SOC, segmentación de red y cumplimiento NIS2 e ISO 27001.</a:t>
            </a:r>
            <a:endParaRPr lang="en-US" sz="1050" dirty="0"/>
          </a:p>
        </p:txBody>
      </p:sp>
      <p:sp>
        <p:nvSpPr>
          <p:cNvPr id="35" name="Text 24"/>
          <p:cNvSpPr txBox="1"/>
          <p:nvPr/>
        </p:nvSpPr>
        <p:spPr>
          <a:xfrm>
            <a:off x="3429000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· Red cifrada</a:t>
            </a:r>
            <a:endParaRPr lang="en-US" sz="825" dirty="0"/>
          </a:p>
        </p:txBody>
      </p:sp>
      <p:sp>
        <p:nvSpPr>
          <p:cNvPr id="36" name="Text 25"/>
          <p:cNvSpPr txBox="1"/>
          <p:nvPr/>
        </p:nvSpPr>
        <p:spPr>
          <a:xfrm>
            <a:off x="9001354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Recintos</a:t>
            </a:r>
            <a:endParaRPr lang="en-US" sz="825" dirty="0"/>
          </a:p>
        </p:txBody>
      </p:sp>
      <p:sp>
        <p:nvSpPr>
          <p:cNvPr id="37" name="Text 26"/>
          <p:cNvSpPr txBox="1"/>
          <p:nvPr/>
        </p:nvSpPr>
        <p:spPr>
          <a:xfrm>
            <a:off x="9001354" y="7114946"/>
            <a:ext cx="351038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Recintos Deportivos</a:t>
            </a:r>
            <a:endParaRPr lang="en-US" sz="2400" dirty="0"/>
          </a:p>
        </p:txBody>
      </p:sp>
      <p:sp>
        <p:nvSpPr>
          <p:cNvPr id="38" name="Text 27"/>
          <p:cNvSpPr txBox="1"/>
          <p:nvPr/>
        </p:nvSpPr>
        <p:spPr>
          <a:xfrm>
            <a:off x="9001354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de estadio, accesos, IoT y gemelo digital del recinto.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9001354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 Barcelona · PortAventura</a:t>
            </a:r>
            <a:endParaRPr lang="en-US" sz="825" dirty="0"/>
          </a:p>
        </p:txBody>
      </p:sp>
      <p:sp>
        <p:nvSpPr>
          <p:cNvPr id="40" name="Text 29"/>
          <p:cNvSpPr txBox="1"/>
          <p:nvPr/>
        </p:nvSpPr>
        <p:spPr>
          <a:xfrm>
            <a:off x="14382598" y="69055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Escala</a:t>
            </a:r>
            <a:endParaRPr lang="en-US" sz="825" dirty="0"/>
          </a:p>
        </p:txBody>
      </p:sp>
      <p:sp>
        <p:nvSpPr>
          <p:cNvPr id="41" name="Text 30"/>
          <p:cNvSpPr txBox="1"/>
          <p:nvPr/>
        </p:nvSpPr>
        <p:spPr>
          <a:xfrm>
            <a:off x="14382598" y="7114946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</a:t>
            </a:r>
            <a:endParaRPr lang="en-US" sz="2400" dirty="0"/>
          </a:p>
        </p:txBody>
      </p:sp>
      <p:sp>
        <p:nvSpPr>
          <p:cNvPr id="42" name="Text 31"/>
          <p:cNvSpPr txBox="1"/>
          <p:nvPr/>
        </p:nvSpPr>
        <p:spPr>
          <a:xfrm>
            <a:off x="14382598" y="75822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Metros, autobuses y aeropuertos — VMS, ITxPT, SIU y CCTV embarcado.</a:t>
            </a:r>
            <a:endParaRPr lang="en-US" sz="1050" dirty="0"/>
          </a:p>
        </p:txBody>
      </p:sp>
      <p:sp>
        <p:nvSpPr>
          <p:cNvPr id="43" name="Text 32"/>
          <p:cNvSpPr txBox="1"/>
          <p:nvPr/>
        </p:nvSpPr>
        <p:spPr>
          <a:xfrm>
            <a:off x="14382598" y="81153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TMB · Moventia · AENA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1143000" y="9667951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También servimos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3238805" y="9667951"/>
            <a:ext cx="1390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 y Utilities · Centros de Datos · Telecomunicaciones · Sanidad y Campus · Edificios Públicos · Retail y Hostelería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16002000" cy="266730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34195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F1F5F9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ae92611b10f53700cbdb6cb753da0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957343" cy="676656"/>
          </a:xfrm>
          <a:prstGeom prst="rect">
            <a:avLst/>
          </a:prstGeom>
        </p:spPr>
      </p:pic>
      <p:pic>
        <p:nvPicPr>
          <p:cNvPr id="6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7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4667098"/>
            <a:ext cx="914400" cy="384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· 08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Confían en nosotros · Público + Privado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2619756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década de </a:t>
            </a:r>
            <a:r>
              <a:rPr lang="en-US" sz="5100" b="1" kern="0" spc="-153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</a:t>
            </a: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100" b="1" kern="0" spc="-153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críticos</a:t>
            </a:r>
            <a:r>
              <a:rPr lang="en-US" sz="5100" b="1" kern="0" spc="-15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1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3715207"/>
            <a:ext cx="14287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aeropuertos nacionales y ayuntamientos hasta astilleros y grupos industriales — MTi entrega tanto en licitación pública regulada como a operadores privados exigentes.</a:t>
            </a:r>
            <a:endParaRPr lang="en-US" sz="1425" dirty="0"/>
          </a:p>
        </p:txBody>
      </p:sp>
      <p:sp>
        <p:nvSpPr>
          <p:cNvPr id="12" name="Text 7"/>
          <p:cNvSpPr txBox="1"/>
          <p:nvPr/>
        </p:nvSpPr>
        <p:spPr>
          <a:xfrm>
            <a:off x="1429207" y="4858207"/>
            <a:ext cx="7620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seleccionados</a:t>
            </a:r>
            <a:endParaRPr lang="en-US" sz="900" dirty="0"/>
          </a:p>
        </p:txBody>
      </p:sp>
      <p:pic>
        <p:nvPicPr>
          <p:cNvPr id="25" name="Image 14" descr="gen-dedup-336319fed47658988bd452b623b0c2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29207" y="7905902"/>
            <a:ext cx="571500" cy="571500"/>
          </a:xfrm>
          <a:prstGeom prst="rect">
            <a:avLst/>
          </a:prstGeom>
        </p:spPr>
      </p:pic>
      <p:sp>
        <p:nvSpPr>
          <p:cNvPr id="26" name="Text 9"/>
          <p:cNvSpPr txBox="1"/>
          <p:nvPr/>
        </p:nvSpPr>
        <p:spPr>
          <a:xfrm>
            <a:off x="2190902" y="8001000"/>
            <a:ext cx="6477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público · Administraciones · Ayuntamientos</a:t>
            </a:r>
            <a:endParaRPr lang="en-US" sz="900" dirty="0"/>
          </a:p>
        </p:txBody>
      </p:sp>
      <p:sp>
        <p:nvSpPr>
          <p:cNvPr id="27" name="Text 10"/>
          <p:cNvSpPr txBox="1"/>
          <p:nvPr/>
        </p:nvSpPr>
        <p:spPr>
          <a:xfrm>
            <a:off x="2190902" y="8238744"/>
            <a:ext cx="6477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entrega en licitación pública.</a:t>
            </a:r>
            <a:endParaRPr lang="en-US" sz="2400" dirty="0"/>
          </a:p>
        </p:txBody>
      </p:sp>
      <p:sp>
        <p:nvSpPr>
          <p:cNvPr id="28" name="Text 11"/>
          <p:cNvSpPr txBox="1"/>
          <p:nvPr/>
        </p:nvSpPr>
        <p:spPr>
          <a:xfrm>
            <a:off x="2190902" y="8725205"/>
            <a:ext cx="6477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Autoridades nacionales, ayuntamientos y operadores de transporte público eligen a MTi para proyectos críticos — sujetos a licitación pública, habilitación de seguridad y compromisos SLA a largo plazo.</a:t>
            </a:r>
            <a:endParaRPr lang="en-US" sz="1050" dirty="0"/>
          </a:p>
        </p:txBody>
      </p:sp>
      <p:sp>
        <p:nvSpPr>
          <p:cNvPr id="29" name="Text 12"/>
          <p:cNvSpPr txBox="1"/>
          <p:nvPr/>
        </p:nvSpPr>
        <p:spPr>
          <a:xfrm>
            <a:off x="2190902" y="9477756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E6A81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Hospitalet · KAFD · Ministerio de Defensa · NSU Florida</a:t>
            </a:r>
            <a:endParaRPr lang="en-US" sz="825" dirty="0"/>
          </a:p>
        </p:txBody>
      </p:sp>
      <p:pic>
        <p:nvPicPr>
          <p:cNvPr id="30" name="Image 15" descr="gen-dedup-95aa97ed32d028ecf4abce15d6e509b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20402" y="7905902"/>
            <a:ext cx="571500" cy="571500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10382098" y="8001000"/>
            <a:ext cx="6572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privado · Industria · Corporativo</a:t>
            </a:r>
            <a:endParaRPr lang="en-US" sz="900" dirty="0"/>
          </a:p>
        </p:txBody>
      </p:sp>
      <p:sp>
        <p:nvSpPr>
          <p:cNvPr id="32" name="Text 14"/>
          <p:cNvSpPr txBox="1"/>
          <p:nvPr/>
        </p:nvSpPr>
        <p:spPr>
          <a:xfrm>
            <a:off x="10382098" y="8238744"/>
            <a:ext cx="65727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a operadores privados.</a:t>
            </a:r>
            <a:endParaRPr lang="en-US" sz="2400" dirty="0"/>
          </a:p>
        </p:txBody>
      </p:sp>
      <p:sp>
        <p:nvSpPr>
          <p:cNvPr id="33" name="Text 15"/>
          <p:cNvSpPr txBox="1"/>
          <p:nvPr/>
        </p:nvSpPr>
        <p:spPr>
          <a:xfrm>
            <a:off x="10382098" y="8725205"/>
            <a:ext cx="6572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Astilleros, grupos industriales, recintos deportivos y operadores de servicios — nos eligen por SLAs exigentes, integración segura y ROI medible en operación.</a:t>
            </a:r>
            <a:endParaRPr lang="en-US" sz="1050" dirty="0"/>
          </a:p>
        </p:txBody>
      </p:sp>
      <p:sp>
        <p:nvSpPr>
          <p:cNvPr id="34" name="Text 16"/>
          <p:cNvSpPr txBox="1"/>
          <p:nvPr/>
        </p:nvSpPr>
        <p:spPr>
          <a:xfrm>
            <a:off x="10382098" y="9271102"/>
            <a:ext cx="6572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Abertis · Moventia · Freire · FC Barcelona · PortAventura</a:t>
            </a:r>
            <a:endParaRPr lang="en-US" sz="825" dirty="0"/>
          </a:p>
        </p:txBody>
      </p:sp>
      <p:pic>
        <p:nvPicPr>
          <p:cNvPr id="36" name="Image 6" descr="gen-dedup-780ad63badfcdea4b0623a917cbe2c89.jpg">
            <a:extLst>
              <a:ext uri="{FF2B5EF4-FFF2-40B4-BE49-F238E27FC236}">
                <a16:creationId xmlns:a16="http://schemas.microsoft.com/office/drawing/2014/main" id="{1E0A8B2B-BE1F-B145-6DED-D432030666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7625" b="-47625"/>
          <a:stretch/>
        </p:blipFill>
        <p:spPr>
          <a:xfrm>
            <a:off x="8191195" y="5333695"/>
            <a:ext cx="1904695" cy="666598"/>
          </a:xfrm>
          <a:prstGeom prst="rect">
            <a:avLst/>
          </a:prstGeom>
        </p:spPr>
      </p:pic>
      <p:pic>
        <p:nvPicPr>
          <p:cNvPr id="38" name="Image 9" descr="gen-dedup-da108b5ea3b4c453445e71c9f9e8014e.png">
            <a:extLst>
              <a:ext uri="{FF2B5EF4-FFF2-40B4-BE49-F238E27FC236}">
                <a16:creationId xmlns:a16="http://schemas.microsoft.com/office/drawing/2014/main" id="{A14F2057-327D-BAF7-512B-C762A27E91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2867" r="-92867"/>
          <a:stretch/>
        </p:blipFill>
        <p:spPr>
          <a:xfrm>
            <a:off x="9711583" y="6053968"/>
            <a:ext cx="3466771" cy="1213287"/>
          </a:xfrm>
          <a:prstGeom prst="rect">
            <a:avLst/>
          </a:prstGeom>
        </p:spPr>
      </p:pic>
      <p:pic>
        <p:nvPicPr>
          <p:cNvPr id="40" name="Picture 39" descr="Archivo:Aena Logo New.svg - Wikipedia, la enciclopedia libre">
            <a:extLst>
              <a:ext uri="{FF2B5EF4-FFF2-40B4-BE49-F238E27FC236}">
                <a16:creationId xmlns:a16="http://schemas.microsoft.com/office/drawing/2014/main" id="{43DB1AD7-6184-9B54-69FD-D83C068D73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927" y="5404938"/>
            <a:ext cx="1351483" cy="638787"/>
          </a:xfrm>
          <a:prstGeom prst="rect">
            <a:avLst/>
          </a:prstGeom>
        </p:spPr>
      </p:pic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AFFF8238-954F-0FC6-61B1-7225547021D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298710" y="5367965"/>
            <a:ext cx="661098" cy="661098"/>
          </a:xfrm>
          <a:prstGeom prst="rect">
            <a:avLst/>
          </a:prstGeom>
        </p:spPr>
      </p:pic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6A7C5597-1A84-9A42-46D0-0A3B45CF84B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858641" y="6362674"/>
            <a:ext cx="921716" cy="921716"/>
          </a:xfrm>
          <a:prstGeom prst="rect">
            <a:avLst/>
          </a:prstGeom>
        </p:spPr>
      </p:pic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491149C8-E06D-2475-5297-AD2433ADB58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14" b="314"/>
          <a:stretch/>
        </p:blipFill>
        <p:spPr>
          <a:xfrm>
            <a:off x="13689721" y="6489938"/>
            <a:ext cx="916189" cy="476559"/>
          </a:xfrm>
          <a:prstGeom prst="rect">
            <a:avLst/>
          </a:prstGeom>
        </p:spPr>
      </p:pic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7228B8F2-1C11-92FC-A6BF-1928FBDBF4E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0" b="430"/>
          <a:stretch/>
        </p:blipFill>
        <p:spPr>
          <a:xfrm>
            <a:off x="12299989" y="6369075"/>
            <a:ext cx="878365" cy="609570"/>
          </a:xfrm>
          <a:prstGeom prst="rect">
            <a:avLst/>
          </a:prstGeom>
        </p:spPr>
      </p:pic>
      <p:pic>
        <p:nvPicPr>
          <p:cNvPr id="50" name="Image 7" descr="preencoded.png">
            <a:extLst>
              <a:ext uri="{FF2B5EF4-FFF2-40B4-BE49-F238E27FC236}">
                <a16:creationId xmlns:a16="http://schemas.microsoft.com/office/drawing/2014/main" id="{242E5DF2-0D45-1C31-14D1-9E325D8857F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2183861" y="5265211"/>
            <a:ext cx="918240" cy="918240"/>
          </a:xfrm>
          <a:prstGeom prst="rect">
            <a:avLst/>
          </a:prstGeom>
        </p:spPr>
      </p:pic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D6C19BE5-CEBF-216C-8F5B-7DA418E65F4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47" b="247"/>
          <a:stretch/>
        </p:blipFill>
        <p:spPr>
          <a:xfrm>
            <a:off x="16033089" y="6647080"/>
            <a:ext cx="921716" cy="371704"/>
          </a:xfrm>
          <a:prstGeom prst="rect">
            <a:avLst/>
          </a:prstGeom>
        </p:spPr>
      </p:pic>
      <p:pic>
        <p:nvPicPr>
          <p:cNvPr id="54" name="Picture 53" descr="A logo for a company&#10;&#10;AI-generated content may be incorrect.">
            <a:extLst>
              <a:ext uri="{FF2B5EF4-FFF2-40B4-BE49-F238E27FC236}">
                <a16:creationId xmlns:a16="http://schemas.microsoft.com/office/drawing/2014/main" id="{DB97A6C4-FBCA-2317-05E0-21209A082D3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649" t="37457" r="4981" b="41659"/>
          <a:stretch>
            <a:fillRect/>
          </a:stretch>
        </p:blipFill>
        <p:spPr>
          <a:xfrm>
            <a:off x="14511890" y="5533390"/>
            <a:ext cx="1572776" cy="371703"/>
          </a:xfrm>
          <a:prstGeom prst="rect">
            <a:avLst/>
          </a:prstGeom>
        </p:spPr>
      </p:pic>
      <p:pic>
        <p:nvPicPr>
          <p:cNvPr id="56" name="Imagen 15" descr="COPLEGAL | LinkedIn">
            <a:extLst>
              <a:ext uri="{FF2B5EF4-FFF2-40B4-BE49-F238E27FC236}">
                <a16:creationId xmlns:a16="http://schemas.microsoft.com/office/drawing/2014/main" id="{8E25785C-99F4-8CB9-3573-DA6C13706CE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730" b="4454"/>
          <a:stretch>
            <a:fillRect/>
          </a:stretch>
        </p:blipFill>
        <p:spPr>
          <a:xfrm>
            <a:off x="16382422" y="5519881"/>
            <a:ext cx="447584" cy="419906"/>
          </a:xfrm>
          <a:prstGeom prst="rect">
            <a:avLst/>
          </a:prstGeom>
        </p:spPr>
      </p:pic>
      <p:pic>
        <p:nvPicPr>
          <p:cNvPr id="58" name="Picture 57" descr="GMV">
            <a:extLst>
              <a:ext uri="{FF2B5EF4-FFF2-40B4-BE49-F238E27FC236}">
                <a16:creationId xmlns:a16="http://schemas.microsoft.com/office/drawing/2014/main" id="{863FB5B0-352B-41D4-3F1E-4ED8CFA34F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84292" y="6439433"/>
            <a:ext cx="1755611" cy="1009270"/>
          </a:xfrm>
          <a:prstGeom prst="rect">
            <a:avLst/>
          </a:prstGeom>
        </p:spPr>
      </p:pic>
      <p:pic>
        <p:nvPicPr>
          <p:cNvPr id="60" name="Picture 59" descr="Navantia, S.A.">
            <a:extLst>
              <a:ext uri="{FF2B5EF4-FFF2-40B4-BE49-F238E27FC236}">
                <a16:creationId xmlns:a16="http://schemas.microsoft.com/office/drawing/2014/main" id="{85C0C28B-FD69-2D57-9E04-A402FD3DBC8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7248" y="5172760"/>
            <a:ext cx="1470496" cy="1009270"/>
          </a:xfrm>
          <a:prstGeom prst="rect">
            <a:avLst/>
          </a:prstGeom>
        </p:spPr>
      </p:pic>
      <p:pic>
        <p:nvPicPr>
          <p:cNvPr id="62" name="Picture 61" descr="File:FC Barcelona (crest).svg - Wikipedia">
            <a:extLst>
              <a:ext uri="{FF2B5EF4-FFF2-40B4-BE49-F238E27FC236}">
                <a16:creationId xmlns:a16="http://schemas.microsoft.com/office/drawing/2014/main" id="{66D57DB9-CE51-C2F1-704E-1E87F481FB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4886" y="6457899"/>
            <a:ext cx="764061" cy="775005"/>
          </a:xfrm>
          <a:prstGeom prst="rect">
            <a:avLst/>
          </a:prstGeom>
        </p:spPr>
      </p:pic>
      <p:pic>
        <p:nvPicPr>
          <p:cNvPr id="64" name="Picture 63" descr="File:Indra-Sistemas-Logo.svg - Wikimedia Commons">
            <a:extLst>
              <a:ext uri="{FF2B5EF4-FFF2-40B4-BE49-F238E27FC236}">
                <a16:creationId xmlns:a16="http://schemas.microsoft.com/office/drawing/2014/main" id="{C82D9CE1-3342-D44C-E8A4-8AFEFB3CB2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62991" y="6546875"/>
            <a:ext cx="1845364" cy="595418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B082BEF7-6351-36C6-43EF-925607D57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63951" y="5505452"/>
            <a:ext cx="1904695" cy="44876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153FFF6-483B-F0F3-FDA5-7F042EBCA0C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22945" y="6323178"/>
            <a:ext cx="2249913" cy="793329"/>
          </a:xfrm>
          <a:prstGeom prst="rect">
            <a:avLst/>
          </a:prstGeom>
        </p:spPr>
      </p:pic>
      <p:pic>
        <p:nvPicPr>
          <p:cNvPr id="70" name="Image 8" descr="gen-dedup-2c20352ed2acdcd6868ab8fdad6acf09.png">
            <a:extLst>
              <a:ext uri="{FF2B5EF4-FFF2-40B4-BE49-F238E27FC236}">
                <a16:creationId xmlns:a16="http://schemas.microsoft.com/office/drawing/2014/main" id="{5EC7E1CF-0403-6D49-5B04-1AE87971D1C8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92867" r="-92867"/>
          <a:stretch/>
        </p:blipFill>
        <p:spPr>
          <a:xfrm>
            <a:off x="9445081" y="4964179"/>
            <a:ext cx="3522559" cy="12328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4" name="Image 2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Capitulo · IA </a:t>
            </a:r>
            <a:r>
              <a:rPr lang="en-US" sz="975" b="1" kern="0" spc="234" dirty="0" err="1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975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0" dirty="0"/>
          </a:p>
        </p:txBody>
      </p:sp>
      <p:sp>
        <p:nvSpPr>
          <p:cNvPr id="9" name="Text 3"/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Nuestros </a:t>
            </a:r>
            <a:r>
              <a:rPr lang="en-US" sz="1200" b="1" kern="0" spc="33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11250" b="1" kern="0" spc="-450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11250" dirty="0">
              <a:solidFill>
                <a:srgbClr val="FFC000"/>
              </a:solidFill>
            </a:endParaRPr>
          </a:p>
        </p:txBody>
      </p:sp>
      <p:sp>
        <p:nvSpPr>
          <p:cNvPr id="11" name="Text 5"/>
          <p:cNvSpPr txBox="1"/>
          <p:nvPr/>
        </p:nvSpPr>
        <p:spPr>
          <a:xfrm>
            <a:off x="3238805" y="6953098"/>
            <a:ext cx="12382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endParaRPr lang="en-US" sz="2250" dirty="0"/>
          </a:p>
        </p:txBody>
      </p:sp>
      <p:pic>
        <p:nvPicPr>
          <p:cNvPr id="12" name="Image 4" descr="gen-dedup-265bb08fe2905cdc8d45275c3826a70d.png"/>
          <p:cNvPicPr>
            <a:picLocks noChangeAspect="1"/>
          </p:cNvPicPr>
          <p:nvPr/>
        </p:nvPicPr>
        <p:blipFill>
          <a:blip r:embed="rId6"/>
          <a:srcRect l="-10" r="-10"/>
          <a:stretch/>
        </p:blipFill>
        <p:spPr>
          <a:xfrm>
            <a:off x="3238805" y="8762695"/>
            <a:ext cx="13334695" cy="666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695" y="6476695"/>
            <a:ext cx="4953305" cy="2857500"/>
          </a:xfrm>
          <a:prstGeom prst="roundRect">
            <a:avLst>
              <a:gd name="adj" fmla="val 201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5" name="Image 2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2191695" y="6476695"/>
            <a:ext cx="761695" cy="384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creemos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1142999" y="3143707"/>
            <a:ext cx="15454745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la "IA" se queda en un chat.</a:t>
            </a:r>
            <a:endParaRPr lang="en-US" sz="5700" b="1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nuestra empieza donde ocurre el </a:t>
            </a: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</a:t>
            </a: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700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7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6476695"/>
            <a:ext cx="9379857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41"/>
              </a:lnSpc>
              <a:buNone/>
            </a:pPr>
            <a:r>
              <a:rPr lang="es-ES" sz="15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construimos demos. Construimos Agentive AI que se integra con tus sistemas, conecta datos y procesos, automatiza tareas entre ERP, CRM y otras plataformas, y ejecuta acciones directamente sobre tus herramientas de negocio. Todos los días, en operaciones reales.</a:t>
            </a:r>
            <a:endParaRPr lang="en-US" sz="1575" dirty="0"/>
          </a:p>
        </p:txBody>
      </p:sp>
      <p:sp>
        <p:nvSpPr>
          <p:cNvPr id="10" name="Text 5"/>
          <p:cNvSpPr txBox="1"/>
          <p:nvPr/>
        </p:nvSpPr>
        <p:spPr>
          <a:xfrm>
            <a:off x="12477902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pocas palabras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12477902" y="7434979"/>
            <a:ext cx="43818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s-E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que se integra en tus sistemas, </a:t>
            </a:r>
            <a:r>
              <a:rPr lang="es-ES" sz="21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entiende tus procesos </a:t>
            </a:r>
            <a:r>
              <a:rPr lang="es-E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ejecuta tareas reales dentro de la operación.</a:t>
            </a:r>
          </a:p>
        </p:txBody>
      </p:sp>
      <p:sp>
        <p:nvSpPr>
          <p:cNvPr id="12" name="Text 7"/>
          <p:cNvSpPr txBox="1"/>
          <p:nvPr/>
        </p:nvSpPr>
        <p:spPr>
          <a:xfrm>
            <a:off x="1143000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Resultado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Hecho para ROI medible, no para presentaciones.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826203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Integración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826203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Nativo con tu ERP, IoT, CRM y stack documental.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8509406" y="8667598"/>
            <a:ext cx="3115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Confianza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509406" y="8906256"/>
            <a:ext cx="31153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auditable. Cada acción trazable.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572000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34195" y="4572000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34195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7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8" name="Image 2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4572000"/>
            <a:ext cx="761695" cy="38405"/>
          </a:xfrm>
          <a:prstGeom prst="rect">
            <a:avLst/>
          </a:prstGeom>
        </p:spPr>
      </p:pic>
      <p:pic>
        <p:nvPicPr>
          <p:cNvPr id="9" name="Image 3" descr="gen-dedup-e65000f84d4627e6571a7e1e30eddc0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24305" y="4953305"/>
            <a:ext cx="533095" cy="533095"/>
          </a:xfrm>
          <a:prstGeom prst="rect">
            <a:avLst/>
          </a:prstGeom>
        </p:spPr>
      </p:pic>
      <p:pic>
        <p:nvPicPr>
          <p:cNvPr id="10" name="Image 4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334195" y="4572000"/>
            <a:ext cx="761695" cy="38405"/>
          </a:xfrm>
          <a:prstGeom prst="rect">
            <a:avLst/>
          </a:prstGeom>
        </p:spPr>
      </p:pic>
      <p:pic>
        <p:nvPicPr>
          <p:cNvPr id="11" name="Image 5" descr="gen-dedup-75037bf2af15d86d4f656abe3c5f96e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15500" y="4953305"/>
            <a:ext cx="533095" cy="533095"/>
          </a:xfrm>
          <a:prstGeom prst="rect">
            <a:avLst/>
          </a:prstGeom>
        </p:spPr>
      </p:pic>
      <p:pic>
        <p:nvPicPr>
          <p:cNvPr id="12" name="Image 6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7048195"/>
            <a:ext cx="761695" cy="38405"/>
          </a:xfrm>
          <a:prstGeom prst="rect">
            <a:avLst/>
          </a:prstGeom>
        </p:spPr>
      </p:pic>
      <p:pic>
        <p:nvPicPr>
          <p:cNvPr id="13" name="Image 7" descr="gen-dedup-7cf54043d6be2bdfc97b0a09fe86cbf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24305" y="7429500"/>
            <a:ext cx="533095" cy="533095"/>
          </a:xfrm>
          <a:prstGeom prst="rect">
            <a:avLst/>
          </a:prstGeom>
        </p:spPr>
      </p:pic>
      <p:pic>
        <p:nvPicPr>
          <p:cNvPr id="14" name="Image 8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334195" y="7048195"/>
            <a:ext cx="761695" cy="38405"/>
          </a:xfrm>
          <a:prstGeom prst="rect">
            <a:avLst/>
          </a:prstGeom>
        </p:spPr>
      </p:pic>
      <p:pic>
        <p:nvPicPr>
          <p:cNvPr id="15" name="Image 9" descr="gen-dedup-ccd1d4577eb098e764a56a61e7ac3027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15500" y="7429500"/>
            <a:ext cx="533095" cy="533095"/>
          </a:xfrm>
          <a:prstGeom prst="rect">
            <a:avLst/>
          </a:prstGeom>
        </p:spPr>
      </p:pic>
      <p:sp>
        <p:nvSpPr>
          <p:cNvPr id="17" name="Text 5"/>
          <p:cNvSpPr txBox="1"/>
          <p:nvPr/>
        </p:nvSpPr>
        <p:spPr>
          <a:xfrm>
            <a:off x="1143000" y="2381098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 Agentive AI</a:t>
            </a:r>
            <a:endParaRPr lang="en-US" sz="1125" dirty="0"/>
          </a:p>
        </p:txBody>
      </p:sp>
      <p:sp>
        <p:nvSpPr>
          <p:cNvPr id="18" name="Text 6"/>
          <p:cNvSpPr txBox="1"/>
          <p:nvPr/>
        </p:nvSpPr>
        <p:spPr>
          <a:xfrm>
            <a:off x="1143000" y="2857500"/>
            <a:ext cx="16573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actúan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400" b="1" kern="0" spc="-16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</a:t>
            </a:r>
            <a:endParaRPr lang="en-US" sz="5400" dirty="0"/>
          </a:p>
        </p:txBody>
      </p:sp>
      <p:sp>
        <p:nvSpPr>
          <p:cNvPr id="19" name="Text 7"/>
          <p:cNvSpPr txBox="1"/>
          <p:nvPr/>
        </p:nvSpPr>
        <p:spPr>
          <a:xfrm>
            <a:off x="2286000" y="4953305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AUTÓNOMO</a:t>
            </a:r>
            <a:endParaRPr lang="en-US" sz="825" dirty="0"/>
          </a:p>
        </p:txBody>
      </p:sp>
      <p:sp>
        <p:nvSpPr>
          <p:cNvPr id="20" name="Text 8"/>
          <p:cNvSpPr txBox="1"/>
          <p:nvPr/>
        </p:nvSpPr>
        <p:spPr>
          <a:xfrm>
            <a:off x="2286000" y="5143500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Decide, y luego actúa.</a:t>
            </a:r>
            <a:endParaRPr lang="en-US" sz="1950" dirty="0"/>
          </a:p>
        </p:txBody>
      </p:sp>
      <p:sp>
        <p:nvSpPr>
          <p:cNvPr id="21" name="Text 9"/>
          <p:cNvSpPr txBox="1"/>
          <p:nvPr/>
        </p:nvSpPr>
        <p:spPr>
          <a:xfrm>
            <a:off x="2286000" y="5533949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 trabajo multi-paso, llama a las herramientas adecuadas, se recupera de errores y pide ayuda solo cuando una persona es realmente necesaria.</a:t>
            </a:r>
            <a:endParaRPr lang="en-US" sz="1200" dirty="0"/>
          </a:p>
        </p:txBody>
      </p:sp>
      <p:sp>
        <p:nvSpPr>
          <p:cNvPr id="22" name="Text 10"/>
          <p:cNvSpPr txBox="1"/>
          <p:nvPr/>
        </p:nvSpPr>
        <p:spPr>
          <a:xfrm>
            <a:off x="10477195" y="4953305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INTEGRADO</a:t>
            </a:r>
            <a:endParaRPr lang="en-US" sz="825" dirty="0"/>
          </a:p>
        </p:txBody>
      </p:sp>
      <p:sp>
        <p:nvSpPr>
          <p:cNvPr id="23" name="Text 11"/>
          <p:cNvSpPr txBox="1"/>
          <p:nvPr/>
        </p:nvSpPr>
        <p:spPr>
          <a:xfrm>
            <a:off x="10477195" y="5143500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 con tus sistemas.</a:t>
            </a:r>
            <a:endParaRPr lang="en-US" sz="1950" dirty="0"/>
          </a:p>
        </p:txBody>
      </p:sp>
      <p:sp>
        <p:nvSpPr>
          <p:cNvPr id="24" name="Text 12"/>
          <p:cNvSpPr txBox="1"/>
          <p:nvPr/>
        </p:nvSpPr>
        <p:spPr>
          <a:xfrm>
            <a:off x="10477195" y="5533949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nativos a SAP, Odoo, Dynamics, SAGE, SharePoint, HubSpot, Salesforce, IMAP, servidores MCP y hubs IoT.</a:t>
            </a:r>
            <a:endParaRPr lang="en-US" sz="1200" dirty="0"/>
          </a:p>
        </p:txBody>
      </p:sp>
      <p:sp>
        <p:nvSpPr>
          <p:cNvPr id="25" name="Text 13"/>
          <p:cNvSpPr txBox="1"/>
          <p:nvPr/>
        </p:nvSpPr>
        <p:spPr>
          <a:xfrm>
            <a:off x="2286000" y="7429500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EXPLICABLE</a:t>
            </a:r>
            <a:endParaRPr lang="en-US" sz="825" dirty="0"/>
          </a:p>
        </p:txBody>
      </p:sp>
      <p:sp>
        <p:nvSpPr>
          <p:cNvPr id="26" name="Text 14"/>
          <p:cNvSpPr txBox="1"/>
          <p:nvPr/>
        </p:nvSpPr>
        <p:spPr>
          <a:xfrm>
            <a:off x="2286000" y="7619695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 su trabajo.</a:t>
            </a:r>
            <a:endParaRPr lang="en-US" sz="1950" dirty="0"/>
          </a:p>
        </p:txBody>
      </p:sp>
      <p:sp>
        <p:nvSpPr>
          <p:cNvPr id="27" name="Text 15"/>
          <p:cNvSpPr txBox="1"/>
          <p:nvPr/>
        </p:nvSpPr>
        <p:spPr>
          <a:xfrm>
            <a:off x="2286000" y="8010144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queda registrada con entradas, fuentes y confianza. Trazas de auditoría que tu equipo de compliance puede defender en un concurso.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10477195" y="7429500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PRODUCTIVIZADO</a:t>
            </a:r>
            <a:endParaRPr lang="en-US" sz="825" dirty="0"/>
          </a:p>
        </p:txBody>
      </p:sp>
      <p:sp>
        <p:nvSpPr>
          <p:cNvPr id="29" name="Text 17"/>
          <p:cNvSpPr txBox="1"/>
          <p:nvPr/>
        </p:nvSpPr>
        <p:spPr>
          <a:xfrm>
            <a:off x="10477195" y="7619695"/>
            <a:ext cx="6477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Reutilizable, no a medida.</a:t>
            </a:r>
            <a:endParaRPr lang="en-US" sz="1950" dirty="0"/>
          </a:p>
        </p:txBody>
      </p:sp>
      <p:sp>
        <p:nvSpPr>
          <p:cNvPr id="30" name="Text 18"/>
          <p:cNvSpPr txBox="1"/>
          <p:nvPr/>
        </p:nvSpPr>
        <p:spPr>
          <a:xfrm>
            <a:off x="10477195" y="8010144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agentes probados en producción — cada uno entrenado con despliegues reales, configurado a tus datos y desplegado en semanas, no trimestres.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667098"/>
            <a:ext cx="3810305" cy="209580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4667098"/>
            <a:ext cx="4000500" cy="2095805"/>
          </a:xfrm>
          <a:prstGeom prst="roundRect">
            <a:avLst>
              <a:gd name="adj" fmla="val 274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34195" y="7048195"/>
            <a:ext cx="7810805" cy="2286000"/>
          </a:xfrm>
          <a:prstGeom prst="roundRect">
            <a:avLst>
              <a:gd name="adj" fmla="val 25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9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10" name="Image 2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4667098"/>
            <a:ext cx="761695" cy="38405"/>
          </a:xfrm>
          <a:prstGeom prst="rect">
            <a:avLst/>
          </a:prstGeom>
        </p:spPr>
      </p:pic>
      <p:pic>
        <p:nvPicPr>
          <p:cNvPr id="11" name="Image 3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143500" y="4667098"/>
            <a:ext cx="761695" cy="38405"/>
          </a:xfrm>
          <a:prstGeom prst="rect">
            <a:avLst/>
          </a:prstGeom>
        </p:spPr>
      </p:pic>
      <p:pic>
        <p:nvPicPr>
          <p:cNvPr id="12" name="Image 4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144000" y="4667098"/>
            <a:ext cx="761695" cy="38405"/>
          </a:xfrm>
          <a:prstGeom prst="rect">
            <a:avLst/>
          </a:prstGeom>
        </p:spPr>
      </p:pic>
      <p:pic>
        <p:nvPicPr>
          <p:cNvPr id="13" name="Image 5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3144500" y="4667098"/>
            <a:ext cx="761695" cy="38405"/>
          </a:xfrm>
          <a:prstGeom prst="rect">
            <a:avLst/>
          </a:prstGeom>
        </p:spPr>
      </p:pic>
      <p:pic>
        <p:nvPicPr>
          <p:cNvPr id="14" name="Image 6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7048195"/>
            <a:ext cx="761695" cy="38405"/>
          </a:xfrm>
          <a:prstGeom prst="rect">
            <a:avLst/>
          </a:prstGeom>
        </p:spPr>
      </p:pic>
      <p:pic>
        <p:nvPicPr>
          <p:cNvPr id="15" name="Image 7" descr="gen-dedup-a43b98b5c3ba884a6915492debe29a4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334195" y="7048195"/>
            <a:ext cx="761695" cy="3840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números detrás</a:t>
            </a:r>
            <a:endParaRPr lang="en-US" sz="1125" dirty="0"/>
          </a:p>
        </p:txBody>
      </p:sp>
      <p:sp>
        <p:nvSpPr>
          <p:cNvPr id="18" name="Text 8"/>
          <p:cNvSpPr txBox="1"/>
          <p:nvPr/>
        </p:nvSpPr>
        <p:spPr>
          <a:xfrm>
            <a:off x="1143000" y="2857500"/>
            <a:ext cx="1428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Trayectoria real, </a:t>
            </a: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teoría.</a:t>
            </a:r>
            <a:endParaRPr lang="en-US" sz="6000" dirty="0"/>
          </a:p>
        </p:txBody>
      </p:sp>
      <p:sp>
        <p:nvSpPr>
          <p:cNvPr id="19" name="Text 9"/>
          <p:cNvSpPr txBox="1"/>
          <p:nvPr/>
        </p:nvSpPr>
        <p:spPr>
          <a:xfrm>
            <a:off x="14292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en producción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4292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r>
              <a:rPr lang="en-US" sz="8100" b="1" kern="0" spc="-3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8100" dirty="0"/>
          </a:p>
        </p:txBody>
      </p:sp>
      <p:sp>
        <p:nvSpPr>
          <p:cNvPr id="21" name="Text 11"/>
          <p:cNvSpPr txBox="1"/>
          <p:nvPr/>
        </p:nvSpPr>
        <p:spPr>
          <a:xfrm>
            <a:off x="14292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Detallados en este mazo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54297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54297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100" dirty="0"/>
          </a:p>
        </p:txBody>
      </p:sp>
      <p:sp>
        <p:nvSpPr>
          <p:cNvPr id="24" name="Text 14"/>
          <p:cNvSpPr txBox="1"/>
          <p:nvPr/>
        </p:nvSpPr>
        <p:spPr>
          <a:xfrm>
            <a:off x="54297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reutilizable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9430207" y="50484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9430207" y="5248656"/>
            <a:ext cx="3238805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100" b="1" kern="0" spc="-32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r>
              <a:rPr lang="en-US" sz="8100" b="1" kern="0" spc="-3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8100" dirty="0"/>
          </a:p>
        </p:txBody>
      </p:sp>
      <p:sp>
        <p:nvSpPr>
          <p:cNvPr id="27" name="Text 17"/>
          <p:cNvSpPr txBox="1"/>
          <p:nvPr/>
        </p:nvSpPr>
        <p:spPr>
          <a:xfrm>
            <a:off x="9430207" y="6437376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· Logística · Medios · Salud</a:t>
            </a:r>
            <a:endParaRPr lang="en-US" sz="1050" dirty="0"/>
          </a:p>
        </p:txBody>
      </p:sp>
      <p:sp>
        <p:nvSpPr>
          <p:cNvPr id="28" name="Text 18"/>
          <p:cNvSpPr txBox="1"/>
          <p:nvPr/>
        </p:nvSpPr>
        <p:spPr>
          <a:xfrm>
            <a:off x="13430707" y="5048402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atendidos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3430707" y="5248656"/>
            <a:ext cx="3620110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6300" b="1" kern="0" spc="-18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300" dirty="0"/>
          </a:p>
        </p:txBody>
      </p:sp>
      <p:sp>
        <p:nvSpPr>
          <p:cNvPr id="30" name="Text 20"/>
          <p:cNvSpPr txBox="1"/>
          <p:nvPr/>
        </p:nvSpPr>
        <p:spPr>
          <a:xfrm>
            <a:off x="13430707" y="6185916"/>
            <a:ext cx="395478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 · Logística · Medios · Salud · Público</a:t>
            </a:r>
            <a:endParaRPr lang="en-US" sz="1050" dirty="0"/>
          </a:p>
        </p:txBody>
      </p:sp>
      <p:sp>
        <p:nvSpPr>
          <p:cNvPr id="31" name="Text 21"/>
          <p:cNvSpPr txBox="1"/>
          <p:nvPr/>
        </p:nvSpPr>
        <p:spPr>
          <a:xfrm>
            <a:off x="1429207" y="7429500"/>
            <a:ext cx="7239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medio en despliegues activos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1429207" y="7744054"/>
            <a:ext cx="2162556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6000" dirty="0"/>
          </a:p>
        </p:txBody>
      </p:sp>
      <p:sp>
        <p:nvSpPr>
          <p:cNvPr id="33" name="Text 23"/>
          <p:cNvSpPr txBox="1"/>
          <p:nvPr/>
        </p:nvSpPr>
        <p:spPr>
          <a:xfrm>
            <a:off x="1429207" y="8581644"/>
            <a:ext cx="21625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ciclo manual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059936" y="7744054"/>
            <a:ext cx="2086661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000" dirty="0"/>
          </a:p>
        </p:txBody>
      </p:sp>
      <p:sp>
        <p:nvSpPr>
          <p:cNvPr id="35" name="Text 25"/>
          <p:cNvSpPr txBox="1"/>
          <p:nvPr/>
        </p:nvSpPr>
        <p:spPr>
          <a:xfrm>
            <a:off x="4059936" y="8581644"/>
            <a:ext cx="20866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6620256" y="7744054"/>
            <a:ext cx="17529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6000" dirty="0"/>
          </a:p>
        </p:txBody>
      </p:sp>
      <p:sp>
        <p:nvSpPr>
          <p:cNvPr id="37" name="Text 27"/>
          <p:cNvSpPr txBox="1"/>
          <p:nvPr/>
        </p:nvSpPr>
        <p:spPr>
          <a:xfrm>
            <a:off x="6620256" y="8581644"/>
            <a:ext cx="17529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Aumento de capacidad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9620402" y="7429500"/>
            <a:ext cx="7239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 MTi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9620402" y="7744054"/>
            <a:ext cx="7239305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que entregamos es el mismo que mantenemos </a:t>
            </a:r>
            <a:r>
              <a:rPr lang="en-US" sz="21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 para nuestros clientes</a:t>
            </a: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nada de teatro de laboratorio.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7ed06a9a6c7f4dd10aa32700dc9806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bc91e7a89f5bdfbbbdf9aa6f86cbf494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6953098" y="1904695"/>
            <a:ext cx="10382098" cy="7429500"/>
          </a:xfrm>
          <a:prstGeom prst="rect">
            <a:avLst/>
          </a:prstGeom>
        </p:spPr>
      </p:pic>
      <p:pic>
        <p:nvPicPr>
          <p:cNvPr id="4" name="Image 2" descr="gen-dedup-6b1fea6ef9cf700851503bcdb8011f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· 05</a:t>
            </a:r>
            <a:endParaRPr lang="en-US" sz="975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2381098"/>
            <a:ext cx="6096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funciona</a:t>
            </a:r>
            <a:endParaRPr lang="en-US" sz="1125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800807"/>
            <a:ext cx="5906110" cy="1962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1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orquestador.</a:t>
            </a:r>
            <a:endParaRPr lang="en-US" sz="4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14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Muchos especialistas.</a:t>
            </a:r>
            <a:endParaRPr lang="en-US" sz="495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5603525"/>
            <a:ext cx="5334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capa central de razonamiento lee cada petición, planifica el camino y llama al agente adecuado. Cada especialista es auditable: cada paso se explica, cada salida se traza.</a:t>
            </a:r>
            <a:endParaRPr lang="en-US" sz="1350" dirty="0"/>
          </a:p>
        </p:txBody>
      </p:sp>
      <p:sp>
        <p:nvSpPr>
          <p:cNvPr id="10" name="Shape 4"/>
          <p:cNvSpPr/>
          <p:nvPr/>
        </p:nvSpPr>
        <p:spPr>
          <a:xfrm>
            <a:off x="1143000" y="6727323"/>
            <a:ext cx="514807" cy="5148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1303020" y="6884600"/>
            <a:ext cx="22128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12" name="Text 6"/>
          <p:cNvSpPr txBox="1"/>
          <p:nvPr/>
        </p:nvSpPr>
        <p:spPr>
          <a:xfrm>
            <a:off x="1828800" y="6727323"/>
            <a:ext cx="46488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la petición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1828800" y="6984269"/>
            <a:ext cx="46488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PDFs, correos, eventos IoT, disparadores de CRM, notas de voz — en paralelo.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1143000" y="7470730"/>
            <a:ext cx="514807" cy="514807"/>
          </a:xfrm>
          <a:prstGeom prst="ellipse">
            <a:avLst/>
          </a:prstGeom>
          <a:solidFill>
            <a:srgbClr val="E6A817">
              <a:alpha val="18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1286561" y="7627093"/>
            <a:ext cx="228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828800" y="7470730"/>
            <a:ext cx="45153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Encaminar al especialista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828800" y="7727677"/>
            <a:ext cx="5201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Planifica, llama, valida. Cada paso deja una traza de auditoría completa.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1143000" y="8213223"/>
            <a:ext cx="514807" cy="514807"/>
          </a:xfrm>
          <a:prstGeom prst="ellipse">
            <a:avLst/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1284732" y="8370500"/>
            <a:ext cx="2386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828800" y="8213223"/>
            <a:ext cx="46488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Actuar y explicar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828800" y="8470169"/>
            <a:ext cx="46488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en ERP, envía correo, abre ticket — nunca en silencio, siempre con fuentes.</a:t>
            </a:r>
            <a:endParaRPr lang="en-US" sz="1050" dirty="0"/>
          </a:p>
        </p:txBody>
      </p:sp>
      <p:pic>
        <p:nvPicPr>
          <p:cNvPr id="22" name="Image 4" descr="gen-dedup-69718777f252ebecae8fa992f7256d46.png"/>
          <p:cNvPicPr>
            <a:picLocks noChangeAspect="1"/>
          </p:cNvPicPr>
          <p:nvPr/>
        </p:nvPicPr>
        <p:blipFill>
          <a:blip r:embed="rId7"/>
          <a:srcRect t="-4" b="-4"/>
          <a:stretch/>
        </p:blipFill>
        <p:spPr>
          <a:xfrm>
            <a:off x="7239305" y="2095805"/>
            <a:ext cx="9905695" cy="72393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239305" y="6743700"/>
            <a:ext cx="9620402" cy="381305"/>
          </a:xfrm>
          <a:prstGeom prst="roundRect">
            <a:avLst>
              <a:gd name="adj" fmla="val 10072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7239305" y="6819595"/>
            <a:ext cx="9620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DE DATOS · TRAZA · MEMORIA · AUDITORÍA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1370591c2981caadc50d232db66166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4476902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4476902"/>
            <a:ext cx="3715207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38598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334195" y="7239305"/>
            <a:ext cx="3905402" cy="2572207"/>
          </a:xfrm>
          <a:prstGeom prst="roundRect">
            <a:avLst>
              <a:gd name="adj" fmla="val 224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430707" y="7239305"/>
            <a:ext cx="3715207" cy="2572207"/>
          </a:xfrm>
          <a:prstGeom prst="roundRect">
            <a:avLst>
              <a:gd name="adj" fmla="val 224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gen-dedup-6b1fea6ef9cf700851503bcdb8011f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12" name="Image 2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49195" y="914400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agentes · 06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619756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agentes.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plataforma.</a:t>
            </a:r>
            <a:endParaRPr lang="en-US" sz="46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619195"/>
            <a:ext cx="130686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es software real — construido a partir de despliegues operativos, configurado a tu stack y desplegado en producción.</a:t>
            </a:r>
            <a:endParaRPr lang="en-US" sz="1350" dirty="0"/>
          </a:p>
        </p:txBody>
      </p:sp>
      <p:pic>
        <p:nvPicPr>
          <p:cNvPr id="17" name="Image 3" descr="gen-dedup-aa50fd00a4c86a5bbf13edb284e40d3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33195" y="4667098"/>
            <a:ext cx="533095" cy="5330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95805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25" dirty="0"/>
          </a:p>
        </p:txBody>
      </p:sp>
      <p:sp>
        <p:nvSpPr>
          <p:cNvPr id="19" name="Text 13"/>
          <p:cNvSpPr txBox="1"/>
          <p:nvPr/>
        </p:nvSpPr>
        <p:spPr>
          <a:xfrm>
            <a:off x="2095805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</a:t>
            </a: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Email</a:t>
            </a:r>
            <a:endParaRPr lang="en-US" sz="1425" dirty="0"/>
          </a:p>
        </p:txBody>
      </p:sp>
      <p:sp>
        <p:nvSpPr>
          <p:cNvPr id="20" name="Text 14"/>
          <p:cNvSpPr txBox="1"/>
          <p:nvPr/>
        </p:nvSpPr>
        <p:spPr>
          <a:xfrm>
            <a:off x="1333195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la intención, extrae datos, consulta ERP/CRM y redacta una respuesta contextual.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1333195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Multi-intención · Auditoría completa</a:t>
            </a:r>
            <a:endParaRPr lang="en-US" sz="825" dirty="0"/>
          </a:p>
        </p:txBody>
      </p:sp>
      <p:pic>
        <p:nvPicPr>
          <p:cNvPr id="22" name="Image 4" descr="gen-dedup-d97af93a885ca9711e3d61847d8d8b0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29707" y="4667098"/>
            <a:ext cx="533095" cy="5330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191402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25" dirty="0"/>
          </a:p>
        </p:txBody>
      </p:sp>
      <p:sp>
        <p:nvSpPr>
          <p:cNvPr id="24" name="Text 17"/>
          <p:cNvSpPr txBox="1"/>
          <p:nvPr/>
        </p:nvSpPr>
        <p:spPr>
          <a:xfrm>
            <a:off x="6191402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y Oferta</a:t>
            </a:r>
            <a:endParaRPr lang="en-US" sz="1425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Costea cada línea, redacta la oferta técnica y gana más concursos en menos tiempo.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−50% prep · 100% traza</a:t>
            </a:r>
            <a:endParaRPr lang="en-US" sz="825" dirty="0"/>
          </a:p>
        </p:txBody>
      </p:sp>
      <p:pic>
        <p:nvPicPr>
          <p:cNvPr id="27" name="Image 5" descr="gen-dedup-86fdde465996e54eea2339f42d01201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5305" y="4667098"/>
            <a:ext cx="533095" cy="5330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287000" y="4743907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25" dirty="0"/>
          </a:p>
        </p:txBody>
      </p:sp>
      <p:sp>
        <p:nvSpPr>
          <p:cNvPr id="29" name="Text 21"/>
          <p:cNvSpPr txBox="1"/>
          <p:nvPr/>
        </p:nvSpPr>
        <p:spPr>
          <a:xfrm>
            <a:off x="10287000" y="48956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 por Voz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9525305" y="5505602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de llamadas 24/7, captura estructurada de incidencias y traspaso humano sin costuras.</a:t>
            </a:r>
            <a:endParaRPr lang="en-US" sz="975" dirty="0"/>
          </a:p>
        </p:txBody>
      </p:sp>
      <p:sp>
        <p:nvSpPr>
          <p:cNvPr id="31" name="Text 23"/>
          <p:cNvSpPr txBox="1"/>
          <p:nvPr/>
        </p:nvSpPr>
        <p:spPr>
          <a:xfrm>
            <a:off x="9525305" y="6010351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no almacenado · GDPR</a:t>
            </a:r>
            <a:endParaRPr lang="en-US" sz="825" dirty="0"/>
          </a:p>
        </p:txBody>
      </p:sp>
      <p:pic>
        <p:nvPicPr>
          <p:cNvPr id="32" name="Image 6" descr="gen-dedup-41cd52b6f61371c70def250b0c26c71c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620902" y="4667098"/>
            <a:ext cx="533095" cy="5330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4382598" y="4743907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25" dirty="0"/>
          </a:p>
        </p:txBody>
      </p:sp>
      <p:sp>
        <p:nvSpPr>
          <p:cNvPr id="34" name="Text 25"/>
          <p:cNvSpPr txBox="1"/>
          <p:nvPr/>
        </p:nvSpPr>
        <p:spPr>
          <a:xfrm>
            <a:off x="14382598" y="4895698"/>
            <a:ext cx="2477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Comercial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3620902" y="5505602"/>
            <a:ext cx="3333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siempre al día. Pipeline siempre enriquecido. Siguiente mejor acción destacada.</a:t>
            </a:r>
            <a:endParaRPr lang="en-US" sz="975" dirty="0"/>
          </a:p>
        </p:txBody>
      </p:sp>
      <p:sp>
        <p:nvSpPr>
          <p:cNvPr id="36" name="Text 27"/>
          <p:cNvSpPr txBox="1"/>
          <p:nvPr/>
        </p:nvSpPr>
        <p:spPr>
          <a:xfrm>
            <a:off x="13620902" y="6010351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· Salesforce · Zoho</a:t>
            </a:r>
            <a:endParaRPr lang="en-US" sz="825" dirty="0"/>
          </a:p>
        </p:txBody>
      </p:sp>
      <p:pic>
        <p:nvPicPr>
          <p:cNvPr id="37" name="Image 7" descr="gen-dedup-89d714809f6b6e98bf8b89e5689f4042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33195" y="7429500"/>
            <a:ext cx="533095" cy="5330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2095805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25" dirty="0"/>
          </a:p>
        </p:txBody>
      </p:sp>
      <p:sp>
        <p:nvSpPr>
          <p:cNvPr id="39" name="Text 29"/>
          <p:cNvSpPr txBox="1"/>
          <p:nvPr/>
        </p:nvSpPr>
        <p:spPr>
          <a:xfrm>
            <a:off x="2095805" y="7658100"/>
            <a:ext cx="279989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de Pedidos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333195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correo de pedido al asiento en ERP — automatizado. Lee SKUs, valida precios.</a:t>
            </a:r>
            <a:endParaRPr lang="en-US" sz="975" dirty="0"/>
          </a:p>
        </p:txBody>
      </p:sp>
      <p:sp>
        <p:nvSpPr>
          <p:cNvPr id="41" name="Text 31"/>
          <p:cNvSpPr txBox="1"/>
          <p:nvPr/>
        </p:nvSpPr>
        <p:spPr>
          <a:xfrm>
            <a:off x="1333195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· Odoo · Dynamics · SAGE</a:t>
            </a:r>
            <a:endParaRPr lang="en-US" sz="825" dirty="0"/>
          </a:p>
        </p:txBody>
      </p:sp>
      <p:pic>
        <p:nvPicPr>
          <p:cNvPr id="42" name="Image 8" descr="gen-dedup-0ec799150431bbf9918661a4083ede38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429707" y="7429500"/>
            <a:ext cx="533095" cy="5330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191402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6191402" y="76581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y Documentación</a:t>
            </a:r>
            <a:endParaRPr lang="en-US" sz="1425" dirty="0"/>
          </a:p>
        </p:txBody>
      </p:sp>
      <p:sp>
        <p:nvSpPr>
          <p:cNvPr id="45" name="Text 34"/>
          <p:cNvSpPr txBox="1"/>
          <p:nvPr/>
        </p:nvSpPr>
        <p:spPr>
          <a:xfrm>
            <a:off x="5429707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Albaranes, facturas, pedidos y notas de entrega — generados, enviados y conciliados.</a:t>
            </a:r>
            <a:endParaRPr lang="en-US" sz="975" dirty="0"/>
          </a:p>
        </p:txBody>
      </p:sp>
      <p:sp>
        <p:nvSpPr>
          <p:cNvPr id="46" name="Text 35"/>
          <p:cNvSpPr txBox="1"/>
          <p:nvPr/>
        </p:nvSpPr>
        <p:spPr>
          <a:xfrm>
            <a:off x="5429707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errores documentales</a:t>
            </a:r>
            <a:endParaRPr lang="en-US" sz="825" dirty="0"/>
          </a:p>
        </p:txBody>
      </p:sp>
      <p:pic>
        <p:nvPicPr>
          <p:cNvPr id="47" name="Image 9" descr="gen-dedup-3dbcc38e1d9e456685d4093b67a534ee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25305" y="7429500"/>
            <a:ext cx="533095" cy="53309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0287000" y="750539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825" dirty="0"/>
          </a:p>
        </p:txBody>
      </p:sp>
      <p:sp>
        <p:nvSpPr>
          <p:cNvPr id="49" name="Text 37"/>
          <p:cNvSpPr txBox="1"/>
          <p:nvPr/>
        </p:nvSpPr>
        <p:spPr>
          <a:xfrm>
            <a:off x="10287000" y="7658100"/>
            <a:ext cx="291236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Conocimiento</a:t>
            </a:r>
            <a:endParaRPr lang="en-US" sz="1425" dirty="0"/>
          </a:p>
        </p:txBody>
      </p:sp>
      <p:sp>
        <p:nvSpPr>
          <p:cNvPr id="50" name="Text 38"/>
          <p:cNvSpPr txBox="1"/>
          <p:nvPr/>
        </p:nvSpPr>
        <p:spPr>
          <a:xfrm>
            <a:off x="9525305" y="8268005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documentación, localizable al instante. RAG + Knowledge Graph sobre pliegos, manuales y contratos.</a:t>
            </a:r>
            <a:endParaRPr lang="en-US" sz="975" dirty="0"/>
          </a:p>
        </p:txBody>
      </p:sp>
      <p:sp>
        <p:nvSpPr>
          <p:cNvPr id="51" name="Text 39"/>
          <p:cNvSpPr txBox="1"/>
          <p:nvPr/>
        </p:nvSpPr>
        <p:spPr>
          <a:xfrm>
            <a:off x="9525305" y="8772754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con fuentes · Versiones</a:t>
            </a:r>
            <a:endParaRPr lang="en-US" sz="825" dirty="0"/>
          </a:p>
        </p:txBody>
      </p:sp>
      <p:pic>
        <p:nvPicPr>
          <p:cNvPr id="52" name="Image 10" descr="gen-dedup-3dab6814a90fe03162a2327b10499bd7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620902" y="7429500"/>
            <a:ext cx="533095" cy="533095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4382598" y="7658100"/>
            <a:ext cx="2477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y Calidad</a:t>
            </a:r>
            <a:endParaRPr lang="en-US" sz="1425" dirty="0"/>
          </a:p>
        </p:txBody>
      </p:sp>
      <p:sp>
        <p:nvSpPr>
          <p:cNvPr id="54" name="Text 41"/>
          <p:cNvSpPr txBox="1"/>
          <p:nvPr/>
        </p:nvSpPr>
        <p:spPr>
          <a:xfrm>
            <a:off x="14382598" y="7505395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825" dirty="0"/>
          </a:p>
        </p:txBody>
      </p:sp>
      <p:sp>
        <p:nvSpPr>
          <p:cNvPr id="55" name="Text 42"/>
          <p:cNvSpPr txBox="1"/>
          <p:nvPr/>
        </p:nvSpPr>
        <p:spPr>
          <a:xfrm>
            <a:off x="13620902" y="8268005"/>
            <a:ext cx="3333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incidencia capturada, clasificada y resuelta. Anomalías detectadas antes de que escalen.</a:t>
            </a:r>
            <a:endParaRPr lang="en-US" sz="975" dirty="0"/>
          </a:p>
        </p:txBody>
      </p:sp>
      <p:sp>
        <p:nvSpPr>
          <p:cNvPr id="56" name="Text 43"/>
          <p:cNvSpPr txBox="1"/>
          <p:nvPr/>
        </p:nvSpPr>
        <p:spPr>
          <a:xfrm>
            <a:off x="13620902" y="8772754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predictivas · Causa raíz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b4ddae22bedef8b87ff326f01f4c58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74b96e5666bf3cda27c9008de1617d4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6286500" y="3381451"/>
            <a:ext cx="914400" cy="38405"/>
          </a:xfrm>
          <a:prstGeom prst="rect">
            <a:avLst/>
          </a:prstGeom>
        </p:spPr>
      </p:pic>
      <p:pic>
        <p:nvPicPr>
          <p:cNvPr id="5" name="Image 3" descr="gen-dedup-88517622ce00ba509b5675516fbb8565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Capítulo · Casos de uso</a:t>
            </a:r>
            <a:endParaRPr lang="en-US" sz="975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714500"/>
            <a:ext cx="4953305" cy="2514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0" b="1" kern="0" spc="-90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0" dirty="0"/>
          </a:p>
        </p:txBody>
      </p:sp>
      <p:sp>
        <p:nvSpPr>
          <p:cNvPr id="10" name="Text 3"/>
          <p:cNvSpPr txBox="1"/>
          <p:nvPr/>
        </p:nvSpPr>
        <p:spPr>
          <a:xfrm>
            <a:off x="6286500" y="3666744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8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Catorce despliegues en producción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6286500" y="4095598"/>
            <a:ext cx="11430000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0" b="1" kern="0" spc="-3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uso.</a:t>
            </a:r>
            <a:endParaRPr lang="en-US" sz="9750" dirty="0"/>
          </a:p>
        </p:txBody>
      </p:sp>
      <p:sp>
        <p:nvSpPr>
          <p:cNvPr id="12" name="Text 5"/>
          <p:cNvSpPr txBox="1"/>
          <p:nvPr/>
        </p:nvSpPr>
        <p:spPr>
          <a:xfrm>
            <a:off x="6286500" y="5715000"/>
            <a:ext cx="1085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reales. Números reales. Integración real con sus sistemas </a:t>
            </a:r>
            <a:r>
              <a:rPr lang="en-US" sz="1800" dirty="0" err="1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existentes</a:t>
            </a: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Shape 6"/>
          <p:cNvSpPr/>
          <p:nvPr/>
        </p:nvSpPr>
        <p:spPr>
          <a:xfrm>
            <a:off x="3485693" y="8820302"/>
            <a:ext cx="9235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3485693" y="8820302"/>
            <a:ext cx="9244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n-US" sz="825" dirty="0"/>
          </a:p>
        </p:txBody>
      </p:sp>
      <p:sp>
        <p:nvSpPr>
          <p:cNvPr id="15" name="Shape 8"/>
          <p:cNvSpPr/>
          <p:nvPr/>
        </p:nvSpPr>
        <p:spPr>
          <a:xfrm>
            <a:off x="4555541" y="8820302"/>
            <a:ext cx="6766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4555541" y="8820302"/>
            <a:ext cx="6766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825" dirty="0"/>
          </a:p>
        </p:txBody>
      </p:sp>
      <p:sp>
        <p:nvSpPr>
          <p:cNvPr id="17" name="Shape 10"/>
          <p:cNvSpPr/>
          <p:nvPr/>
        </p:nvSpPr>
        <p:spPr>
          <a:xfrm>
            <a:off x="5378501" y="8820302"/>
            <a:ext cx="6766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378501" y="8820302"/>
            <a:ext cx="6766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6206947" y="8820302"/>
            <a:ext cx="1009498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6206947" y="8820302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825" dirty="0"/>
          </a:p>
        </p:txBody>
      </p:sp>
      <p:sp>
        <p:nvSpPr>
          <p:cNvPr id="21" name="Shape 14"/>
          <p:cNvSpPr/>
          <p:nvPr/>
        </p:nvSpPr>
        <p:spPr>
          <a:xfrm>
            <a:off x="7367321" y="8820302"/>
            <a:ext cx="10195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7367321" y="8820302"/>
            <a:ext cx="10195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8537753" y="8820302"/>
            <a:ext cx="952805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8537753" y="8820302"/>
            <a:ext cx="9528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825" dirty="0"/>
          </a:p>
        </p:txBody>
      </p:sp>
      <p:sp>
        <p:nvSpPr>
          <p:cNvPr id="25" name="Shape 18"/>
          <p:cNvSpPr/>
          <p:nvPr/>
        </p:nvSpPr>
        <p:spPr>
          <a:xfrm>
            <a:off x="9635947" y="8820302"/>
            <a:ext cx="6949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9635947" y="8820302"/>
            <a:ext cx="6958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10476281" y="8820302"/>
            <a:ext cx="838505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10476281" y="8820302"/>
            <a:ext cx="8385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11458346" y="8820302"/>
            <a:ext cx="694944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11458346" y="8820302"/>
            <a:ext cx="6958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12298680" y="8820302"/>
            <a:ext cx="571500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2298680" y="8820302"/>
            <a:ext cx="5715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13016484" y="8820302"/>
            <a:ext cx="905256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13016484" y="8820302"/>
            <a:ext cx="9052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14071702" y="8820302"/>
            <a:ext cx="733349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4071702" y="8820302"/>
            <a:ext cx="7342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gen-dedup-c598c0eaea1b63fd6e102d7e43f05bfb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8" name="Image 1" descr="gen-dedup-8d36d38583ddb784200f4bd6f6321296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10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11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2573000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1714500" y="1938528"/>
            <a:ext cx="38477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1714500" y="1938528"/>
            <a:ext cx="38487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COPLEGAL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configuración y cálculo</a:t>
            </a:r>
            <a:endParaRPr lang="en-US" sz="1125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429000"/>
            <a:ext cx="78108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Cotizaciones que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construyen solas.</a:t>
            </a:r>
            <a:endParaRPr lang="en-US" sz="55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585613"/>
            <a:ext cx="7239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 y agiliza la preparación de cotizaciones integrando datos del ERP, documentación histórica y tarifas. Lee cada PDF, extrae parámetros, calcula cada línea y devuelve la oferta al ERP con trazabilidad completa.</a:t>
            </a:r>
            <a:endParaRPr lang="en-US" sz="1425" dirty="0"/>
          </a:p>
        </p:txBody>
      </p:sp>
      <p:sp>
        <p:nvSpPr>
          <p:cNvPr id="24" name="Text 17"/>
          <p:cNvSpPr txBox="1"/>
          <p:nvPr/>
        </p:nvSpPr>
        <p:spPr>
          <a:xfrm>
            <a:off x="9620402" y="382950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Fabricante de racores, soportes y herrajes de precisión.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9334195" y="4286707"/>
            <a:ext cx="7810805" cy="1772107"/>
          </a:xfrm>
          <a:prstGeom prst="roundRect">
            <a:avLst>
              <a:gd name="adj" fmla="val 536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9544507" y="4496105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9544507" y="476219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9667951" y="4858207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9667951" y="48582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067544" y="4884725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10067544" y="5020970"/>
            <a:ext cx="12243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Composición de oferta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13287146" y="476219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3411505" y="4858207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3411505" y="48582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3811098" y="4884725"/>
            <a:ext cx="105156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36" name="Text 29"/>
          <p:cNvSpPr txBox="1"/>
          <p:nvPr/>
        </p:nvSpPr>
        <p:spPr>
          <a:xfrm>
            <a:off x="13811098" y="5020970"/>
            <a:ext cx="12161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Tarifas &amp; histórico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9544507" y="5352898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9667951" y="544799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9667951" y="54479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0067544" y="5475427"/>
            <a:ext cx="7818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975" dirty="0"/>
          </a:p>
        </p:txBody>
      </p:sp>
      <p:sp>
        <p:nvSpPr>
          <p:cNvPr id="41" name="Text 34"/>
          <p:cNvSpPr txBox="1"/>
          <p:nvPr/>
        </p:nvSpPr>
        <p:spPr>
          <a:xfrm>
            <a:off x="10067544" y="5611673"/>
            <a:ext cx="11466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 justificada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13287146" y="5352898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13411505" y="544799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3411505" y="54479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3811098" y="5475427"/>
            <a:ext cx="952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13811098" y="5611673"/>
            <a:ext cx="11338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Solicitudes entrantes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</a:t>
            </a:r>
            <a:endParaRPr lang="en-US" sz="3300" dirty="0"/>
          </a:p>
        </p:txBody>
      </p:sp>
      <p:sp>
        <p:nvSpPr>
          <p:cNvPr id="48" name="Text 41"/>
          <p:cNvSpPr txBox="1"/>
          <p:nvPr/>
        </p:nvSpPr>
        <p:spPr>
          <a:xfrm>
            <a:off x="1333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cotización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323880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−40%</a:t>
            </a:r>
            <a:endParaRPr lang="en-US" sz="3300" dirty="0"/>
          </a:p>
        </p:txBody>
      </p:sp>
      <p:sp>
        <p:nvSpPr>
          <p:cNvPr id="50" name="Text 43"/>
          <p:cNvSpPr txBox="1"/>
          <p:nvPr/>
        </p:nvSpPr>
        <p:spPr>
          <a:xfrm>
            <a:off x="323880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manuales</a:t>
            </a:r>
            <a:endParaRPr lang="en-US" sz="825" dirty="0"/>
          </a:p>
        </p:txBody>
      </p:sp>
      <p:sp>
        <p:nvSpPr>
          <p:cNvPr id="51" name="Text 44"/>
          <p:cNvSpPr txBox="1"/>
          <p:nvPr/>
        </p:nvSpPr>
        <p:spPr>
          <a:xfrm>
            <a:off x="5143500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300" dirty="0"/>
          </a:p>
        </p:txBody>
      </p:sp>
      <p:sp>
        <p:nvSpPr>
          <p:cNvPr id="52" name="Text 45"/>
          <p:cNvSpPr txBox="1"/>
          <p:nvPr/>
        </p:nvSpPr>
        <p:spPr>
          <a:xfrm>
            <a:off x="5143500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Trazable</a:t>
            </a:r>
            <a:endParaRPr lang="en-US" sz="825" dirty="0"/>
          </a:p>
        </p:txBody>
      </p:sp>
      <p:sp>
        <p:nvSpPr>
          <p:cNvPr id="53" name="Text 46"/>
          <p:cNvSpPr txBox="1"/>
          <p:nvPr/>
        </p:nvSpPr>
        <p:spPr>
          <a:xfrm>
            <a:off x="7048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300" dirty="0"/>
          </a:p>
        </p:txBody>
      </p:sp>
      <p:sp>
        <p:nvSpPr>
          <p:cNvPr id="54" name="Text 47"/>
          <p:cNvSpPr txBox="1"/>
          <p:nvPr/>
        </p:nvSpPr>
        <p:spPr>
          <a:xfrm>
            <a:off x="7048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cotización</a:t>
            </a:r>
            <a:endParaRPr lang="en-US" sz="825" dirty="0"/>
          </a:p>
        </p:txBody>
      </p:sp>
      <p:sp>
        <p:nvSpPr>
          <p:cNvPr id="55" name="Shape 48"/>
          <p:cNvSpPr/>
          <p:nvPr/>
        </p:nvSpPr>
        <p:spPr>
          <a:xfrm>
            <a:off x="9334195" y="6286500"/>
            <a:ext cx="7810805" cy="961949"/>
          </a:xfrm>
          <a:prstGeom prst="roundRect">
            <a:avLst>
              <a:gd name="adj" fmla="val 9886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9553651" y="6467551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57" name="Text 50"/>
          <p:cNvSpPr txBox="1"/>
          <p:nvPr/>
        </p:nvSpPr>
        <p:spPr>
          <a:xfrm>
            <a:off x="9553651" y="6696151"/>
            <a:ext cx="7372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PDFs y planos · Extrae material · Calcula línea + tiempo estándar + margen · Tarifas e histórico · Documento final con justificación.</a:t>
            </a:r>
            <a:endParaRPr lang="en-US" sz="975" dirty="0"/>
          </a:p>
        </p:txBody>
      </p:sp>
      <p:sp>
        <p:nvSpPr>
          <p:cNvPr id="58" name="Text 51"/>
          <p:cNvSpPr txBox="1"/>
          <p:nvPr/>
        </p:nvSpPr>
        <p:spPr>
          <a:xfrm>
            <a:off x="1143000" y="100391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59" name="Text 52"/>
          <p:cNvSpPr txBox="1"/>
          <p:nvPr/>
        </p:nvSpPr>
        <p:spPr>
          <a:xfrm>
            <a:off x="14287500" y="100391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 desde 2024</a:t>
            </a:r>
            <a:endParaRPr lang="en-US" sz="975" dirty="0"/>
          </a:p>
        </p:txBody>
      </p:sp>
      <p:pic>
        <p:nvPicPr>
          <p:cNvPr id="61" name="Imagen 2" descr="COPLEGAL | LinkedIn">
            <a:extLst>
              <a:ext uri="{FF2B5EF4-FFF2-40B4-BE49-F238E27FC236}">
                <a16:creationId xmlns:a16="http://schemas.microsoft.com/office/drawing/2014/main" id="{D8C72E66-B89E-1B49-1509-E634615320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30" b="4454"/>
          <a:stretch>
            <a:fillRect/>
          </a:stretch>
        </p:blipFill>
        <p:spPr>
          <a:xfrm>
            <a:off x="13735903" y="2429230"/>
            <a:ext cx="912998" cy="8565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878483" y="1238097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8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927093" y="1619402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714500" y="1938528"/>
            <a:ext cx="330555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714500" y="1938528"/>
            <a:ext cx="33055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 · Logística &amp; freight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 de automatización logística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3429000"/>
            <a:ext cx="8924544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convertidas en pedidos, </a:t>
            </a: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automáticamente.</a:t>
            </a:r>
            <a:endParaRPr lang="en-US" sz="555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5333695"/>
            <a:ext cx="7429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cada solicitud de transporte, consulta APIs de freight, calcula reposiciones, redacta la respuesta y la escribe en CRM y ERP, con trazabilidad completa.</a:t>
            </a:r>
            <a:endParaRPr lang="en-US" sz="1425" dirty="0"/>
          </a:p>
        </p:txBody>
      </p:sp>
      <p:sp>
        <p:nvSpPr>
          <p:cNvPr id="22" name="Text 17"/>
          <p:cNvSpPr txBox="1"/>
          <p:nvPr/>
        </p:nvSpPr>
        <p:spPr>
          <a:xfrm>
            <a:off x="27164690" y="318119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logístico, gestiona solicitudes, ciclos de reposición y respuestas.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26878483" y="3715207"/>
            <a:ext cx="7810805" cy="1181405"/>
          </a:xfrm>
          <a:prstGeom prst="roundRect">
            <a:avLst>
              <a:gd name="adj" fmla="val 805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27088795" y="3924604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5" name="Shape 20"/>
          <p:cNvSpPr/>
          <p:nvPr/>
        </p:nvSpPr>
        <p:spPr>
          <a:xfrm>
            <a:off x="10200132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0323576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10323576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723169" y="6043270"/>
            <a:ext cx="5532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12695530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12818974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12818974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3219481" y="6043270"/>
            <a:ext cx="8961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15190927" y="5921655"/>
            <a:ext cx="2400300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15314371" y="60167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15314371" y="60167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5714879" y="6043270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975" dirty="0"/>
          </a:p>
        </p:txBody>
      </p:sp>
      <p:sp>
        <p:nvSpPr>
          <p:cNvPr id="40" name="Text 35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3300" dirty="0"/>
          </a:p>
        </p:txBody>
      </p:sp>
      <p:sp>
        <p:nvSpPr>
          <p:cNvPr id="41" name="Text 36"/>
          <p:cNvSpPr txBox="1"/>
          <p:nvPr/>
        </p:nvSpPr>
        <p:spPr>
          <a:xfrm>
            <a:off x="1333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consultas</a:t>
            </a:r>
            <a:endParaRPr lang="en-US" sz="825" dirty="0"/>
          </a:p>
        </p:txBody>
      </p:sp>
      <p:sp>
        <p:nvSpPr>
          <p:cNvPr id="42" name="Text 37"/>
          <p:cNvSpPr txBox="1"/>
          <p:nvPr/>
        </p:nvSpPr>
        <p:spPr>
          <a:xfrm>
            <a:off x="323880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300" dirty="0"/>
          </a:p>
        </p:txBody>
      </p:sp>
      <p:sp>
        <p:nvSpPr>
          <p:cNvPr id="43" name="Text 38"/>
          <p:cNvSpPr txBox="1"/>
          <p:nvPr/>
        </p:nvSpPr>
        <p:spPr>
          <a:xfrm>
            <a:off x="3238805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</a:t>
            </a:r>
            <a:endParaRPr lang="en-US" sz="825" dirty="0"/>
          </a:p>
        </p:txBody>
      </p:sp>
      <p:sp>
        <p:nvSpPr>
          <p:cNvPr id="44" name="Text 39"/>
          <p:cNvSpPr txBox="1"/>
          <p:nvPr/>
        </p:nvSpPr>
        <p:spPr>
          <a:xfrm>
            <a:off x="5143500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300" dirty="0"/>
          </a:p>
        </p:txBody>
      </p:sp>
      <p:sp>
        <p:nvSpPr>
          <p:cNvPr id="45" name="Text 40"/>
          <p:cNvSpPr txBox="1"/>
          <p:nvPr/>
        </p:nvSpPr>
        <p:spPr>
          <a:xfrm>
            <a:off x="5143500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Trazable</a:t>
            </a:r>
            <a:endParaRPr lang="en-US" sz="825" dirty="0"/>
          </a:p>
        </p:txBody>
      </p:sp>
      <p:sp>
        <p:nvSpPr>
          <p:cNvPr id="46" name="Text 41"/>
          <p:cNvSpPr txBox="1"/>
          <p:nvPr/>
        </p:nvSpPr>
        <p:spPr>
          <a:xfrm>
            <a:off x="7048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3300" dirty="0"/>
          </a:p>
        </p:txBody>
      </p:sp>
      <p:sp>
        <p:nvSpPr>
          <p:cNvPr id="47" name="Text 42"/>
          <p:cNvSpPr txBox="1"/>
          <p:nvPr/>
        </p:nvSpPr>
        <p:spPr>
          <a:xfrm>
            <a:off x="7048195" y="7905902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 de reservas</a:t>
            </a:r>
            <a:endParaRPr lang="en-US" sz="825" dirty="0"/>
          </a:p>
        </p:txBody>
      </p:sp>
      <p:sp>
        <p:nvSpPr>
          <p:cNvPr id="48" name="Shape 43"/>
          <p:cNvSpPr/>
          <p:nvPr/>
        </p:nvSpPr>
        <p:spPr>
          <a:xfrm>
            <a:off x="10200132" y="6381598"/>
            <a:ext cx="7810805" cy="780898"/>
          </a:xfrm>
          <a:prstGeom prst="roundRect">
            <a:avLst>
              <a:gd name="adj" fmla="val 12178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 txBox="1"/>
          <p:nvPr/>
        </p:nvSpPr>
        <p:spPr>
          <a:xfrm>
            <a:off x="10419588" y="6562649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50" name="Text 45"/>
          <p:cNvSpPr txBox="1"/>
          <p:nvPr/>
        </p:nvSpPr>
        <p:spPr>
          <a:xfrm>
            <a:off x="10419588" y="6791249"/>
            <a:ext cx="7372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consultas · Detecta reposiciones · Consulta tarifas &amp; APIs · Reserva + respuesta.</a:t>
            </a:r>
            <a:endParaRPr lang="en-US" sz="975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3AED397C-4010-A568-00E3-94123E84454B}"/>
              </a:ext>
            </a:extLst>
          </p:cNvPr>
          <p:cNvSpPr/>
          <p:nvPr/>
        </p:nvSpPr>
        <p:spPr>
          <a:xfrm>
            <a:off x="10190632" y="1838402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0" descr="gen-dedup-f4eacfdfa571aa76cea4aa5dbad1ebc4.png">
            <a:extLst>
              <a:ext uri="{FF2B5EF4-FFF2-40B4-BE49-F238E27FC236}">
                <a16:creationId xmlns:a16="http://schemas.microsoft.com/office/drawing/2014/main" id="{ADD0C912-29EF-E87D-AF59-E28F534CF4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10190632" y="1838402"/>
            <a:ext cx="7810805" cy="4095598"/>
          </a:xfrm>
          <a:prstGeom prst="rect">
            <a:avLst/>
          </a:prstGeom>
        </p:spPr>
      </p:pic>
      <p:sp>
        <p:nvSpPr>
          <p:cNvPr id="58" name="Shape 6">
            <a:extLst>
              <a:ext uri="{FF2B5EF4-FFF2-40B4-BE49-F238E27FC236}">
                <a16:creationId xmlns:a16="http://schemas.microsoft.com/office/drawing/2014/main" id="{C6BEC74C-60AB-4C2A-88A5-913692EC7B69}"/>
              </a:ext>
            </a:extLst>
          </p:cNvPr>
          <p:cNvSpPr/>
          <p:nvPr/>
        </p:nvSpPr>
        <p:spPr>
          <a:xfrm>
            <a:off x="13537844" y="1887754"/>
            <a:ext cx="1498600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91B0C64C-92C4-3F9A-2E2A-74EBC7048346}"/>
              </a:ext>
            </a:extLst>
          </p:cNvPr>
          <p:cNvSpPr txBox="1"/>
          <p:nvPr/>
        </p:nvSpPr>
        <p:spPr>
          <a:xfrm>
            <a:off x="10476839" y="5077207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E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logístico, gestiona solicitudes, ciclos de reposición y respuestas.</a:t>
            </a:r>
          </a:p>
        </p:txBody>
      </p:sp>
      <p:pic>
        <p:nvPicPr>
          <p:cNvPr id="62" name="Image 6" descr="preencoded.png">
            <a:extLst>
              <a:ext uri="{FF2B5EF4-FFF2-40B4-BE49-F238E27FC236}">
                <a16:creationId xmlns:a16="http://schemas.microsoft.com/office/drawing/2014/main" id="{499A75C4-A6C9-F389-2E0E-9EC14D4813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850187" y="2057146"/>
            <a:ext cx="785927" cy="785927"/>
          </a:xfrm>
          <a:prstGeom prst="rect">
            <a:avLst/>
          </a:prstGeom>
        </p:spPr>
      </p:pic>
      <p:sp>
        <p:nvSpPr>
          <p:cNvPr id="96" name="Text 19">
            <a:extLst>
              <a:ext uri="{FF2B5EF4-FFF2-40B4-BE49-F238E27FC236}">
                <a16:creationId xmlns:a16="http://schemas.microsoft.com/office/drawing/2014/main" id="{B16FB4AE-D914-09FF-3BE6-B454F07843F0}"/>
              </a:ext>
            </a:extLst>
          </p:cNvPr>
          <p:cNvSpPr txBox="1"/>
          <p:nvPr/>
        </p:nvSpPr>
        <p:spPr>
          <a:xfrm>
            <a:off x="27241195" y="4077004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7239305"/>
            <a:ext cx="7810805" cy="2533802"/>
          </a:xfrm>
          <a:prstGeom prst="roundRect">
            <a:avLst>
              <a:gd name="adj" fmla="val 252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gen-dedup-c598c0eaea1b63fd6e102d7e43f05b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6" name="Image 2" descr="gen-dedup-8d36d38583ddb784200f4bd6f6321296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pic>
        <p:nvPicPr>
          <p:cNvPr id="8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2382805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5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350" dirty="0"/>
          </a:p>
        </p:txBody>
      </p:sp>
      <p:sp>
        <p:nvSpPr>
          <p:cNvPr id="15" name="Shape 7"/>
          <p:cNvSpPr/>
          <p:nvPr/>
        </p:nvSpPr>
        <p:spPr>
          <a:xfrm>
            <a:off x="1714500" y="1938528"/>
            <a:ext cx="364845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/>
          <p:cNvSpPr/>
          <p:nvPr/>
        </p:nvSpPr>
        <p:spPr>
          <a:xfrm>
            <a:off x="1714500" y="1938528"/>
            <a:ext cx="36484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 · Maquinaria industrial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Configurador inteligente de ofertas</a:t>
            </a:r>
            <a:endParaRPr lang="en-US" sz="1125" dirty="0"/>
          </a:p>
        </p:txBody>
      </p:sp>
      <p:sp>
        <p:nvSpPr>
          <p:cNvPr id="18" name="Text 10"/>
          <p:cNvSpPr txBox="1"/>
          <p:nvPr/>
        </p:nvSpPr>
        <p:spPr>
          <a:xfrm>
            <a:off x="925525" y="3643427"/>
            <a:ext cx="7429500" cy="1094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6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r>
              <a:rPr lang="en-US" sz="5550" b="1" kern="0" spc="-1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5550" b="1" kern="0" spc="-16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</a:t>
            </a:r>
            <a:endParaRPr lang="en-US" sz="5550" b="1" kern="0" spc="-166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5550" b="1" kern="0" spc="-16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procesadas</a:t>
            </a:r>
            <a:endParaRPr lang="en-US" sz="555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5333695"/>
            <a:ext cx="7429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documentación técnica, identifica parámetros, busca el histórico del ERP y ejecuta el motor de analogía sobre coste y horas — elaborando la oferta lista para revisión.</a:t>
            </a:r>
            <a:endParaRPr lang="en-US" sz="1425" dirty="0"/>
          </a:p>
        </p:txBody>
      </p:sp>
      <p:sp>
        <p:nvSpPr>
          <p:cNvPr id="22" name="Text 14"/>
          <p:cNvSpPr txBox="1"/>
          <p:nvPr/>
        </p:nvSpPr>
        <p:spPr>
          <a:xfrm>
            <a:off x="9620402" y="3829507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49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Fabricante de maquinaria industrial para mercados marino e industrial.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1524305" y="7487107"/>
            <a:ext cx="7239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DEL CASO</a:t>
            </a:r>
            <a:endParaRPr lang="en-US" sz="825" dirty="0"/>
          </a:p>
        </p:txBody>
      </p:sp>
      <p:sp>
        <p:nvSpPr>
          <p:cNvPr id="24" name="Text 16"/>
          <p:cNvSpPr txBox="1"/>
          <p:nvPr/>
        </p:nvSpPr>
        <p:spPr>
          <a:xfrm>
            <a:off x="1524305" y="7677302"/>
            <a:ext cx="7239305" cy="1219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3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9600" dirty="0"/>
          </a:p>
        </p:txBody>
      </p:sp>
      <p:sp>
        <p:nvSpPr>
          <p:cNvPr id="25" name="Text 17"/>
          <p:cNvSpPr txBox="1"/>
          <p:nvPr/>
        </p:nvSpPr>
        <p:spPr>
          <a:xfrm>
            <a:off x="1524305" y="8953805"/>
            <a:ext cx="7239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preparación de oferta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1524305" y="9286646"/>
            <a:ext cx="8961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−40%</a:t>
            </a:r>
            <a:endParaRPr lang="en-US" sz="21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9592056"/>
            <a:ext cx="10323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Variabilidad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2791663" y="9286646"/>
            <a:ext cx="1390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100" dirty="0"/>
          </a:p>
        </p:txBody>
      </p:sp>
      <p:sp>
        <p:nvSpPr>
          <p:cNvPr id="29" name="Text 21"/>
          <p:cNvSpPr txBox="1"/>
          <p:nvPr/>
        </p:nvSpPr>
        <p:spPr>
          <a:xfrm>
            <a:off x="2791663" y="9592056"/>
            <a:ext cx="13908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Reuso de know-how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9334195" y="6476695"/>
            <a:ext cx="7810805" cy="1009498"/>
          </a:xfrm>
          <a:prstGeom prst="roundRect">
            <a:avLst>
              <a:gd name="adj" fmla="val 942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9553651" y="6657746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ESPECIALISTA</a:t>
            </a:r>
            <a:endParaRPr lang="en-US" sz="825" dirty="0"/>
          </a:p>
        </p:txBody>
      </p:sp>
      <p:sp>
        <p:nvSpPr>
          <p:cNvPr id="32" name="Text 24"/>
          <p:cNvSpPr txBox="1"/>
          <p:nvPr/>
        </p:nvSpPr>
        <p:spPr>
          <a:xfrm>
            <a:off x="9553651" y="6886346"/>
            <a:ext cx="73728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 → Parameters → Historical → Project → Estimating → Departures. Seis especialistas orquestrados en un único flujo de oferta.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9334195" y="4381805"/>
            <a:ext cx="7810805" cy="1790395"/>
          </a:xfrm>
          <a:prstGeom prst="roundRect">
            <a:avLst>
              <a:gd name="adj" fmla="val 53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9553651" y="4600346"/>
            <a:ext cx="7372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37" name="Shape 29"/>
          <p:cNvSpPr/>
          <p:nvPr/>
        </p:nvSpPr>
        <p:spPr>
          <a:xfrm>
            <a:off x="9553651" y="4867351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9677095" y="4962449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9677095" y="4962449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0077602" y="4989881"/>
            <a:ext cx="114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41" name="Text 33"/>
          <p:cNvSpPr txBox="1"/>
          <p:nvPr/>
        </p:nvSpPr>
        <p:spPr>
          <a:xfrm>
            <a:off x="10077602" y="5126126"/>
            <a:ext cx="13606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Estructuración de ofertas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13287146" y="4867351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3411505" y="4962449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 txBox="1"/>
          <p:nvPr/>
        </p:nvSpPr>
        <p:spPr>
          <a:xfrm>
            <a:off x="13411505" y="4962449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13811098" y="4989881"/>
            <a:ext cx="9244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46" name="Text 38"/>
          <p:cNvSpPr txBox="1"/>
          <p:nvPr/>
        </p:nvSpPr>
        <p:spPr>
          <a:xfrm>
            <a:off x="13811098" y="5126126"/>
            <a:ext cx="12819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históricos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553651" y="5458054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9677095" y="5553151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9677095" y="555315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077602" y="5580583"/>
            <a:ext cx="8101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975" dirty="0"/>
          </a:p>
        </p:txBody>
      </p:sp>
      <p:sp>
        <p:nvSpPr>
          <p:cNvPr id="51" name="Text 43"/>
          <p:cNvSpPr txBox="1"/>
          <p:nvPr/>
        </p:nvSpPr>
        <p:spPr>
          <a:xfrm>
            <a:off x="10077602" y="5715914"/>
            <a:ext cx="115031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 y reportes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13287146" y="5458054"/>
            <a:ext cx="3638398" cy="495605"/>
          </a:xfrm>
          <a:prstGeom prst="roundRect">
            <a:avLst>
              <a:gd name="adj" fmla="val 153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13411505" y="5553151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13411505" y="555315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13811098" y="5580583"/>
            <a:ext cx="10195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975" dirty="0"/>
          </a:p>
        </p:txBody>
      </p:sp>
      <p:sp>
        <p:nvSpPr>
          <p:cNvPr id="56" name="Text 48"/>
          <p:cNvSpPr txBox="1"/>
          <p:nvPr/>
        </p:nvSpPr>
        <p:spPr>
          <a:xfrm>
            <a:off x="13811098" y="5715914"/>
            <a:ext cx="12134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variabilidad</a:t>
            </a:r>
            <a:endParaRPr lang="en-US" sz="800" dirty="0"/>
          </a:p>
        </p:txBody>
      </p:sp>
      <p:pic>
        <p:nvPicPr>
          <p:cNvPr id="58" name="Image 6" descr="preencoded.png">
            <a:extLst>
              <a:ext uri="{FF2B5EF4-FFF2-40B4-BE49-F238E27FC236}">
                <a16:creationId xmlns:a16="http://schemas.microsoft.com/office/drawing/2014/main" id="{FC2222A0-73FE-DD35-EB1F-D0665F0DDA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459053" y="2310689"/>
            <a:ext cx="1086308" cy="10863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69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53305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7239305"/>
            <a:ext cx="1714500" cy="1524305"/>
          </a:xfrm>
          <a:prstGeom prst="roundRect">
            <a:avLst>
              <a:gd name="adj" fmla="val 251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gen-dedup-3fc9b6bd6bd01734c54b10a0f11af3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9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1904695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714500" y="1938528"/>
            <a:ext cx="40763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1714500" y="1938528"/>
            <a:ext cx="40773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 · Workspace de ofertas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29525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 de ofertas · outfitting naval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429000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Ciclos más cortos.</a:t>
            </a:r>
            <a:endParaRPr lang="en-US" sz="55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555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desajustes.</a:t>
            </a:r>
            <a:endParaRPr lang="en-US" sz="555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5333695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825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5600700"/>
            <a:ext cx="7810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información dispersa — correos, planos DWG/PDF, especificaciones. Detecta versiones automáticamente, asiste ante planos incompletos con históricos navales, redacta memorandos técnicos listos para revisión experta.</a:t>
            </a:r>
            <a:endParaRPr lang="en-US" sz="1425" dirty="0"/>
          </a:p>
        </p:txBody>
      </p:sp>
      <p:sp>
        <p:nvSpPr>
          <p:cNvPr id="24" name="Text 18"/>
          <p:cNvSpPr txBox="1"/>
          <p:nvPr/>
        </p:nvSpPr>
        <p:spPr>
          <a:xfrm>
            <a:off x="1333195" y="7429500"/>
            <a:ext cx="1334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−55%</a:t>
            </a:r>
            <a:endParaRPr lang="en-US" sz="3300" dirty="0"/>
          </a:p>
        </p:txBody>
      </p:sp>
      <p:sp>
        <p:nvSpPr>
          <p:cNvPr id="25" name="Text 19"/>
          <p:cNvSpPr txBox="1"/>
          <p:nvPr/>
        </p:nvSpPr>
        <p:spPr>
          <a:xfrm>
            <a:off x="1333195" y="7905902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Ciclos de oferta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3238805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3238805" y="7830007"/>
            <a:ext cx="1334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Desajuste de versión</a:t>
            </a:r>
            <a:endParaRPr lang="en-US" sz="825" dirty="0"/>
          </a:p>
        </p:txBody>
      </p:sp>
      <p:sp>
        <p:nvSpPr>
          <p:cNvPr id="28" name="Text 22"/>
          <p:cNvSpPr txBox="1"/>
          <p:nvPr/>
        </p:nvSpPr>
        <p:spPr>
          <a:xfrm>
            <a:off x="5143500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29" name="Text 23"/>
          <p:cNvSpPr txBox="1"/>
          <p:nvPr/>
        </p:nvSpPr>
        <p:spPr>
          <a:xfrm>
            <a:off x="5143500" y="7830007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Explicable</a:t>
            </a:r>
            <a:endParaRPr lang="en-US" sz="825" dirty="0"/>
          </a:p>
        </p:txBody>
      </p:sp>
      <p:sp>
        <p:nvSpPr>
          <p:cNvPr id="30" name="Text 24"/>
          <p:cNvSpPr txBox="1"/>
          <p:nvPr/>
        </p:nvSpPr>
        <p:spPr>
          <a:xfrm>
            <a:off x="7048195" y="7429500"/>
            <a:ext cx="1334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31" name="Text 25"/>
          <p:cNvSpPr txBox="1"/>
          <p:nvPr/>
        </p:nvSpPr>
        <p:spPr>
          <a:xfrm>
            <a:off x="7048195" y="7830007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</a:t>
            </a:r>
            <a:endParaRPr lang="en-US" sz="825" dirty="0"/>
          </a:p>
        </p:txBody>
      </p:sp>
      <p:sp>
        <p:nvSpPr>
          <p:cNvPr id="32" name="Shape 26"/>
          <p:cNvSpPr/>
          <p:nvPr/>
        </p:nvSpPr>
        <p:spPr>
          <a:xfrm>
            <a:off x="9330538" y="8124443"/>
            <a:ext cx="7810805" cy="961949"/>
          </a:xfrm>
          <a:prstGeom prst="roundRect">
            <a:avLst>
              <a:gd name="adj" fmla="val 988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9540850" y="8296350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POR OFERTA</a:t>
            </a:r>
            <a:endParaRPr lang="en-US" sz="825" dirty="0"/>
          </a:p>
        </p:txBody>
      </p:sp>
      <p:sp>
        <p:nvSpPr>
          <p:cNvPr id="34" name="Text 28"/>
          <p:cNvSpPr txBox="1"/>
          <p:nvPr/>
        </p:nvSpPr>
        <p:spPr>
          <a:xfrm>
            <a:off x="9540850" y="8524950"/>
            <a:ext cx="73920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&amp; Versioning · Drawing Change Detection · Plan Interpretation · Technical Memo Generator — orquestrados por un agente.</a:t>
            </a:r>
            <a:endParaRPr lang="en-US" sz="975" dirty="0"/>
          </a:p>
        </p:txBody>
      </p:sp>
      <p:sp>
        <p:nvSpPr>
          <p:cNvPr id="38" name="Text 32"/>
          <p:cNvSpPr txBox="1"/>
          <p:nvPr/>
        </p:nvSpPr>
        <p:spPr>
          <a:xfrm>
            <a:off x="9540850" y="6238950"/>
            <a:ext cx="7392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39" name="Shape 33"/>
          <p:cNvSpPr/>
          <p:nvPr/>
        </p:nvSpPr>
        <p:spPr>
          <a:xfrm>
            <a:off x="9540850" y="650595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9664294" y="66010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9664294" y="66010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063887" y="6627570"/>
            <a:ext cx="9720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0063887" y="6763816"/>
            <a:ext cx="11750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memo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13283489" y="6505955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13407848" y="6601053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13407848" y="660105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3807441" y="6627570"/>
            <a:ext cx="105338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975" dirty="0"/>
          </a:p>
        </p:txBody>
      </p:sp>
      <p:sp>
        <p:nvSpPr>
          <p:cNvPr id="48" name="Text 42"/>
          <p:cNvSpPr txBox="1"/>
          <p:nvPr/>
        </p:nvSpPr>
        <p:spPr>
          <a:xfrm>
            <a:off x="13807441" y="6763816"/>
            <a:ext cx="1217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histórico naval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9540850" y="7095743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9664294" y="719175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9664294" y="719175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0063887" y="7218273"/>
            <a:ext cx="10287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53" name="Text 47"/>
          <p:cNvSpPr txBox="1"/>
          <p:nvPr/>
        </p:nvSpPr>
        <p:spPr>
          <a:xfrm>
            <a:off x="10063887" y="7354518"/>
            <a:ext cx="12975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entrantes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13283489" y="7095743"/>
            <a:ext cx="3648456" cy="495605"/>
          </a:xfrm>
          <a:prstGeom prst="roundRect">
            <a:avLst>
              <a:gd name="adj" fmla="val 1531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13407848" y="7191755"/>
            <a:ext cx="304495" cy="304495"/>
          </a:xfrm>
          <a:prstGeom prst="roundRect">
            <a:avLst>
              <a:gd name="adj" fmla="val 1891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 txBox="1"/>
          <p:nvPr/>
        </p:nvSpPr>
        <p:spPr>
          <a:xfrm>
            <a:off x="13407848" y="719175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3807441" y="7218273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3807441" y="7354518"/>
            <a:ext cx="9592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Difs de versión</a:t>
            </a:r>
            <a:endParaRPr lang="en-US" sz="80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A1A9F4CC-E51A-C205-DBC6-8C6E9FED89D2}"/>
              </a:ext>
            </a:extLst>
          </p:cNvPr>
          <p:cNvSpPr/>
          <p:nvPr/>
        </p:nvSpPr>
        <p:spPr>
          <a:xfrm>
            <a:off x="9334195" y="1904695"/>
            <a:ext cx="7810805" cy="4095598"/>
          </a:xfrm>
          <a:prstGeom prst="roundRect">
            <a:avLst>
              <a:gd name="adj" fmla="val 18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0" descr="gen-dedup-d9739f7de6f5b87f4ba56f15921984a1.png">
            <a:extLst>
              <a:ext uri="{FF2B5EF4-FFF2-40B4-BE49-F238E27FC236}">
                <a16:creationId xmlns:a16="http://schemas.microsoft.com/office/drawing/2014/main" id="{B055E00D-04A8-5E54-E180-661D80E2C2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9334195" y="1904695"/>
            <a:ext cx="7810805" cy="4095598"/>
          </a:xfrm>
          <a:prstGeom prst="rect">
            <a:avLst/>
          </a:prstGeom>
        </p:spPr>
      </p:pic>
      <p:sp>
        <p:nvSpPr>
          <p:cNvPr id="66" name="Shape 6">
            <a:extLst>
              <a:ext uri="{FF2B5EF4-FFF2-40B4-BE49-F238E27FC236}">
                <a16:creationId xmlns:a16="http://schemas.microsoft.com/office/drawing/2014/main" id="{DA927491-4796-8BB6-B4F5-9343AB7D1865}"/>
              </a:ext>
            </a:extLst>
          </p:cNvPr>
          <p:cNvSpPr/>
          <p:nvPr/>
        </p:nvSpPr>
        <p:spPr>
          <a:xfrm>
            <a:off x="12382805" y="2286000"/>
            <a:ext cx="3238805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n 13" descr="Regenasa | Marine Interiors">
            <a:extLst>
              <a:ext uri="{FF2B5EF4-FFF2-40B4-BE49-F238E27FC236}">
                <a16:creationId xmlns:a16="http://schemas.microsoft.com/office/drawing/2014/main" id="{EBB0CB11-AC25-3F4D-8D8A-7AF215198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8192" y="2719388"/>
            <a:ext cx="1314427" cy="2908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8001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a4995e85e1cd827f75ba3e464ac99c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904695"/>
            <a:ext cx="6858000" cy="4953305"/>
          </a:xfrm>
          <a:prstGeom prst="rect">
            <a:avLst/>
          </a:prstGeom>
        </p:spPr>
      </p:pic>
      <p:pic>
        <p:nvPicPr>
          <p:cNvPr id="4" name="Image 1" descr="gen-dedup-d26daa09a68de5a41e5c849d45e70fa1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0858500" y="1904695"/>
            <a:ext cx="6858000" cy="4953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858500" y="7239305"/>
            <a:ext cx="6858000" cy="2286000"/>
          </a:xfrm>
          <a:prstGeom prst="roundRect">
            <a:avLst>
              <a:gd name="adj" fmla="val 332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8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1904695"/>
            <a:ext cx="7429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350" dirty="0"/>
          </a:p>
        </p:txBody>
      </p:sp>
      <p:sp>
        <p:nvSpPr>
          <p:cNvPr id="13" name="Shape 6"/>
          <p:cNvSpPr/>
          <p:nvPr/>
        </p:nvSpPr>
        <p:spPr>
          <a:xfrm>
            <a:off x="1714500" y="1938528"/>
            <a:ext cx="41906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1714500" y="1938528"/>
            <a:ext cx="41916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 · Mecanizado de precisión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933395"/>
            <a:ext cx="7429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Estimación automática de tiempos · desde CAD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3372307"/>
            <a:ext cx="85725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Tiempos de mecanizado </a:t>
            </a: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planos,</a:t>
            </a: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desde expertos.</a:t>
            </a:r>
            <a:endParaRPr lang="en-US" sz="43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4714646"/>
            <a:ext cx="857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planos técnicos 2D (PDF/DXF) y modelos 3D (STEP/IGES), aplica heurísticas explícitas de proceso y corrige cada tiempo con un modelo de ML entrenado con la producción e históricos reales. Defendible, trazable y sin cálculos sólo de experto.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6286500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1143000" y="6553505"/>
            <a:ext cx="2704795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1304849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1304849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1781251" y="6697066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781251" y="6882689"/>
            <a:ext cx="22677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 de CAD + estimación previa</a:t>
            </a:r>
            <a:endParaRPr lang="en-US" sz="825" dirty="0"/>
          </a:p>
        </p:txBody>
      </p:sp>
      <p:sp>
        <p:nvSpPr>
          <p:cNvPr id="24" name="Shape 17"/>
          <p:cNvSpPr/>
          <p:nvPr/>
        </p:nvSpPr>
        <p:spPr>
          <a:xfrm>
            <a:off x="3977640" y="6553505"/>
            <a:ext cx="2371954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139489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4139489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4615891" y="6697066"/>
            <a:ext cx="15718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28" name="Text 21"/>
          <p:cNvSpPr txBox="1"/>
          <p:nvPr/>
        </p:nvSpPr>
        <p:spPr>
          <a:xfrm>
            <a:off x="4615891" y="6882689"/>
            <a:ext cx="18708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 estimaciones a ofertas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6476695" y="6553505"/>
            <a:ext cx="2495398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638544" y="6676949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6638544" y="6676949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114946" y="6697066"/>
            <a:ext cx="16962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125" dirty="0"/>
          </a:p>
        </p:txBody>
      </p:sp>
      <p:sp>
        <p:nvSpPr>
          <p:cNvPr id="33" name="Text 26"/>
          <p:cNvSpPr txBox="1"/>
          <p:nvPr/>
        </p:nvSpPr>
        <p:spPr>
          <a:xfrm>
            <a:off x="7114946" y="6882689"/>
            <a:ext cx="201808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Corrección predictiva &amp; validación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1143000" y="7905902"/>
            <a:ext cx="4315054" cy="952805"/>
          </a:xfrm>
          <a:prstGeom prst="roundRect">
            <a:avLst>
              <a:gd name="adj" fmla="val 9981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1352398" y="8096098"/>
            <a:ext cx="38962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↓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1352398" y="8515807"/>
            <a:ext cx="38962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 de tiempos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5591556" y="7905902"/>
            <a:ext cx="4315054" cy="952805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5810098" y="8106156"/>
            <a:ext cx="38770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Bajo ↓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5810098" y="8524951"/>
            <a:ext cx="3877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del experto</a:t>
            </a:r>
            <a:endParaRPr lang="en-US" sz="825" dirty="0"/>
          </a:p>
        </p:txBody>
      </p:sp>
      <p:sp>
        <p:nvSpPr>
          <p:cNvPr id="40" name="Shape 33"/>
          <p:cNvSpPr/>
          <p:nvPr/>
        </p:nvSpPr>
        <p:spPr>
          <a:xfrm>
            <a:off x="1143000" y="9182405"/>
            <a:ext cx="8762695" cy="819302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362456" y="9363456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Explicable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1362456" y="9648749"/>
            <a:ext cx="381670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Estimaciones defendibles y trazables — sin caja negra.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8043977" y="9513418"/>
            <a:ext cx="16486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caja negra →</a:t>
            </a:r>
            <a:endParaRPr lang="en-US" sz="975" dirty="0"/>
          </a:p>
        </p:txBody>
      </p:sp>
      <p:sp>
        <p:nvSpPr>
          <p:cNvPr id="44" name="Text 37"/>
          <p:cNvSpPr txBox="1"/>
          <p:nvPr/>
        </p:nvSpPr>
        <p:spPr>
          <a:xfrm>
            <a:off x="11239805" y="2247595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industrial · fabricación metálica</a:t>
            </a:r>
            <a:endParaRPr lang="en-US" sz="825" dirty="0"/>
          </a:p>
        </p:txBody>
      </p:sp>
      <p:sp>
        <p:nvSpPr>
          <p:cNvPr id="45" name="Text 38"/>
          <p:cNvSpPr txBox="1"/>
          <p:nvPr/>
        </p:nvSpPr>
        <p:spPr>
          <a:xfrm>
            <a:off x="11239805" y="2476195"/>
            <a:ext cx="62865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en mecanizado de precisión, con fuerte dependencia de ingeniería de proceso y estimación de tiempos.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11239805" y="7429500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11239805" y="7696505"/>
            <a:ext cx="14383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11239805" y="7696505"/>
            <a:ext cx="14383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 2D PDF/DXF</a:t>
            </a:r>
            <a:endParaRPr lang="en-US" sz="975" dirty="0"/>
          </a:p>
        </p:txBody>
      </p:sp>
      <p:sp>
        <p:nvSpPr>
          <p:cNvPr id="49" name="Shape 42"/>
          <p:cNvSpPr/>
          <p:nvPr/>
        </p:nvSpPr>
        <p:spPr>
          <a:xfrm>
            <a:off x="12767767" y="7696505"/>
            <a:ext cx="16669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12767767" y="7696505"/>
            <a:ext cx="1666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3D STEP/IGES</a:t>
            </a:r>
            <a:endParaRPr lang="en-US" sz="975" dirty="0"/>
          </a:p>
        </p:txBody>
      </p:sp>
      <p:sp>
        <p:nvSpPr>
          <p:cNvPr id="51" name="Shape 44"/>
          <p:cNvSpPr/>
          <p:nvPr/>
        </p:nvSpPr>
        <p:spPr>
          <a:xfrm>
            <a:off x="14521586" y="7696505"/>
            <a:ext cx="1514246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14521586" y="7696505"/>
            <a:ext cx="15151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producción</a:t>
            </a:r>
            <a:endParaRPr lang="en-US" sz="975" dirty="0"/>
          </a:p>
        </p:txBody>
      </p:sp>
      <p:sp>
        <p:nvSpPr>
          <p:cNvPr id="53" name="Shape 46"/>
          <p:cNvSpPr/>
          <p:nvPr/>
        </p:nvSpPr>
        <p:spPr>
          <a:xfrm>
            <a:off x="16123615" y="7696505"/>
            <a:ext cx="10954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16123615" y="7696505"/>
            <a:ext cx="10954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correctivo</a:t>
            </a:r>
            <a:endParaRPr lang="en-US" sz="975" dirty="0"/>
          </a:p>
        </p:txBody>
      </p:sp>
      <p:sp>
        <p:nvSpPr>
          <p:cNvPr id="55" name="Shape 48"/>
          <p:cNvSpPr/>
          <p:nvPr/>
        </p:nvSpPr>
        <p:spPr>
          <a:xfrm>
            <a:off x="11239805" y="8115300"/>
            <a:ext cx="13240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11239805" y="8115300"/>
            <a:ext cx="13240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Repositorios CAD</a:t>
            </a:r>
            <a:endParaRPr lang="en-US" sz="975" dirty="0"/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D920AD07-7185-B5E9-70B9-76A9F01A64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4" b="314"/>
          <a:stretch/>
        </p:blipFill>
        <p:spPr>
          <a:xfrm>
            <a:off x="7116317" y="1777048"/>
            <a:ext cx="1161289" cy="6040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gen-dedup-8f4a7ef5ffcf73500a6d9bccb56331a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39305" cy="10287000"/>
          </a:xfrm>
          <a:prstGeom prst="rect">
            <a:avLst/>
          </a:prstGeom>
        </p:spPr>
      </p:pic>
      <p:pic>
        <p:nvPicPr>
          <p:cNvPr id="4" name="Image 2" descr="gen-dedup-6e656ec628884e0f590ca68d40e2c46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0" y="0"/>
            <a:ext cx="7239305" cy="10287000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7810805" y="2343607"/>
            <a:ext cx="914400" cy="3840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7810805" y="1619402"/>
            <a:ext cx="9525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7810805" y="1619402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 txBox="1"/>
          <p:nvPr/>
        </p:nvSpPr>
        <p:spPr>
          <a:xfrm>
            <a:off x="7810805" y="1619402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350" dirty="0"/>
          </a:p>
        </p:txBody>
      </p:sp>
      <p:sp>
        <p:nvSpPr>
          <p:cNvPr id="12" name="Shape 4"/>
          <p:cNvSpPr/>
          <p:nvPr/>
        </p:nvSpPr>
        <p:spPr>
          <a:xfrm>
            <a:off x="8382305" y="1652321"/>
            <a:ext cx="4095598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/>
          <p:nvPr/>
        </p:nvSpPr>
        <p:spPr>
          <a:xfrm>
            <a:off x="8382305" y="1652321"/>
            <a:ext cx="40965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Radio Vigo · Grupo PRISA · Galicia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7810805" y="259049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control de calidad de emisión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7810805" y="3010205"/>
            <a:ext cx="9525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Salta la revisión manual.</a:t>
            </a:r>
            <a:endParaRPr lang="en-US" sz="4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sólo los incidentes.</a:t>
            </a:r>
            <a:endParaRPr lang="en-US" sz="4800" dirty="0"/>
          </a:p>
        </p:txBody>
      </p:sp>
      <p:sp>
        <p:nvSpPr>
          <p:cNvPr id="16" name="Text 8"/>
          <p:cNvSpPr txBox="1"/>
          <p:nvPr/>
        </p:nvSpPr>
        <p:spPr>
          <a:xfrm>
            <a:off x="7810805" y="4533595"/>
            <a:ext cx="914400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Escucha emisiones en vivo y grabadas, detecta silencios, cortes y errores de voz. Los operadores consultan una interfaz web, revisan sólo los incidentes marcados, y el agente estandariza criterios y exporta resultados a Excel y Odoo.</a:t>
            </a:r>
            <a:endParaRPr lang="en-US" sz="1425" dirty="0"/>
          </a:p>
        </p:txBody>
      </p:sp>
      <p:sp>
        <p:nvSpPr>
          <p:cNvPr id="17" name="Text 9"/>
          <p:cNvSpPr txBox="1"/>
          <p:nvPr/>
        </p:nvSpPr>
        <p:spPr>
          <a:xfrm>
            <a:off x="7810805" y="5810098"/>
            <a:ext cx="9525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8" name="Shape 10"/>
          <p:cNvSpPr/>
          <p:nvPr/>
        </p:nvSpPr>
        <p:spPr>
          <a:xfrm>
            <a:off x="7810805" y="6077102"/>
            <a:ext cx="2457907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7972654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 txBox="1"/>
          <p:nvPr/>
        </p:nvSpPr>
        <p:spPr>
          <a:xfrm>
            <a:off x="7972654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8449056" y="6220663"/>
            <a:ext cx="16578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125" dirty="0"/>
          </a:p>
        </p:txBody>
      </p:sp>
      <p:sp>
        <p:nvSpPr>
          <p:cNvPr id="22" name="Text 14"/>
          <p:cNvSpPr txBox="1"/>
          <p:nvPr/>
        </p:nvSpPr>
        <p:spPr>
          <a:xfrm>
            <a:off x="8449056" y="6406286"/>
            <a:ext cx="19723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Análisis y segmentación de audio</a:t>
            </a:r>
            <a:endParaRPr lang="en-US" sz="825" dirty="0"/>
          </a:p>
        </p:txBody>
      </p:sp>
      <p:sp>
        <p:nvSpPr>
          <p:cNvPr id="23" name="Shape 15"/>
          <p:cNvSpPr/>
          <p:nvPr/>
        </p:nvSpPr>
        <p:spPr>
          <a:xfrm>
            <a:off x="10378440" y="6077102"/>
            <a:ext cx="2143354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10541203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10541203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050" dirty="0"/>
          </a:p>
        </p:txBody>
      </p:sp>
      <p:sp>
        <p:nvSpPr>
          <p:cNvPr id="26" name="Text 18"/>
          <p:cNvSpPr txBox="1"/>
          <p:nvPr/>
        </p:nvSpPr>
        <p:spPr>
          <a:xfrm>
            <a:off x="11016691" y="6220663"/>
            <a:ext cx="1200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125" dirty="0"/>
          </a:p>
        </p:txBody>
      </p:sp>
      <p:sp>
        <p:nvSpPr>
          <p:cNvPr id="27" name="Text 19"/>
          <p:cNvSpPr txBox="1"/>
          <p:nvPr/>
        </p:nvSpPr>
        <p:spPr>
          <a:xfrm>
            <a:off x="11016691" y="6406286"/>
            <a:ext cx="142829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Detección de incidentes</a:t>
            </a:r>
            <a:endParaRPr lang="en-US" sz="825" dirty="0"/>
          </a:p>
        </p:txBody>
      </p:sp>
      <p:sp>
        <p:nvSpPr>
          <p:cNvPr id="28" name="Shape 20"/>
          <p:cNvSpPr/>
          <p:nvPr/>
        </p:nvSpPr>
        <p:spPr>
          <a:xfrm>
            <a:off x="12636094" y="6077102"/>
            <a:ext cx="2162556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12797942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12797942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13274345" y="6220663"/>
            <a:ext cx="1362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32" name="Text 24"/>
          <p:cNvSpPr txBox="1"/>
          <p:nvPr/>
        </p:nvSpPr>
        <p:spPr>
          <a:xfrm>
            <a:off x="13274345" y="6406286"/>
            <a:ext cx="162123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Exportación a Excel y Odoo</a:t>
            </a:r>
            <a:endParaRPr lang="en-US" sz="825" dirty="0"/>
          </a:p>
        </p:txBody>
      </p:sp>
      <p:sp>
        <p:nvSpPr>
          <p:cNvPr id="33" name="Shape 25"/>
          <p:cNvSpPr/>
          <p:nvPr/>
        </p:nvSpPr>
        <p:spPr>
          <a:xfrm>
            <a:off x="14912035" y="6077102"/>
            <a:ext cx="2143354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15073884" y="6200546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15073884" y="6200546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15550286" y="6220663"/>
            <a:ext cx="1047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125" dirty="0"/>
          </a:p>
        </p:txBody>
      </p:sp>
      <p:sp>
        <p:nvSpPr>
          <p:cNvPr id="37" name="Text 29"/>
          <p:cNvSpPr txBox="1"/>
          <p:nvPr/>
        </p:nvSpPr>
        <p:spPr>
          <a:xfrm>
            <a:off x="15550286" y="6406286"/>
            <a:ext cx="124724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Flujo de revisión web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7810805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8029346" y="7744054"/>
            <a:ext cx="26481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</a:t>
            </a:r>
            <a:endParaRPr lang="en-US" sz="3150" dirty="0"/>
          </a:p>
        </p:txBody>
      </p:sp>
      <p:sp>
        <p:nvSpPr>
          <p:cNvPr id="40" name="Text 32"/>
          <p:cNvSpPr txBox="1"/>
          <p:nvPr/>
        </p:nvSpPr>
        <p:spPr>
          <a:xfrm>
            <a:off x="8029346" y="8238744"/>
            <a:ext cx="2648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Tiempo de revisión</a:t>
            </a:r>
            <a:endParaRPr lang="en-US" sz="825" dirty="0"/>
          </a:p>
        </p:txBody>
      </p:sp>
      <p:sp>
        <p:nvSpPr>
          <p:cNvPr id="41" name="Text 33"/>
          <p:cNvSpPr txBox="1"/>
          <p:nvPr/>
        </p:nvSpPr>
        <p:spPr>
          <a:xfrm>
            <a:off x="8029346" y="8429854"/>
            <a:ext cx="2648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Sin escuchar grabaciones.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1030407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11248949" y="7744054"/>
            <a:ext cx="26481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3150" dirty="0"/>
          </a:p>
        </p:txBody>
      </p:sp>
      <p:sp>
        <p:nvSpPr>
          <p:cNvPr id="44" name="Text 36"/>
          <p:cNvSpPr txBox="1"/>
          <p:nvPr/>
        </p:nvSpPr>
        <p:spPr>
          <a:xfrm>
            <a:off x="11248949" y="8238744"/>
            <a:ext cx="2648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Detección homogénea</a:t>
            </a:r>
            <a:endParaRPr lang="en-US" sz="825" dirty="0"/>
          </a:p>
        </p:txBody>
      </p:sp>
      <p:sp>
        <p:nvSpPr>
          <p:cNvPr id="45" name="Text 37"/>
          <p:cNvSpPr txBox="1"/>
          <p:nvPr/>
        </p:nvSpPr>
        <p:spPr>
          <a:xfrm>
            <a:off x="11248949" y="8429854"/>
            <a:ext cx="2648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Mismos criterios por operador.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4249095" y="7524598"/>
            <a:ext cx="3086100" cy="1285646"/>
          </a:xfrm>
          <a:prstGeom prst="roundRect">
            <a:avLst>
              <a:gd name="adj" fmla="val 73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14459407" y="7733995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150" dirty="0"/>
          </a:p>
        </p:txBody>
      </p:sp>
      <p:sp>
        <p:nvSpPr>
          <p:cNvPr id="48" name="Text 40"/>
          <p:cNvSpPr txBox="1"/>
          <p:nvPr/>
        </p:nvSpPr>
        <p:spPr>
          <a:xfrm>
            <a:off x="14459407" y="82296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n-US" sz="825" dirty="0"/>
          </a:p>
        </p:txBody>
      </p:sp>
      <p:sp>
        <p:nvSpPr>
          <p:cNvPr id="49" name="Text 41"/>
          <p:cNvSpPr txBox="1"/>
          <p:nvPr/>
        </p:nvSpPr>
        <p:spPr>
          <a:xfrm>
            <a:off x="14459407" y="8419795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corte marcado, registrado.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7810805" y="9396374"/>
            <a:ext cx="11338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INTEGRACIONES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9076334" y="9315907"/>
            <a:ext cx="1505102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9076334" y="9315907"/>
            <a:ext cx="15051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de grabación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10657332" y="9315907"/>
            <a:ext cx="552298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10657332" y="9315907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11277295" y="9315907"/>
            <a:ext cx="552298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11277295" y="9315907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11899087" y="9315907"/>
            <a:ext cx="1190549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/>
          <p:nvPr/>
        </p:nvSpPr>
        <p:spPr>
          <a:xfrm>
            <a:off x="11899087" y="9315907"/>
            <a:ext cx="11914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audio</a:t>
            </a:r>
            <a:endParaRPr lang="en-US" sz="900" dirty="0"/>
          </a:p>
        </p:txBody>
      </p:sp>
      <p:pic>
        <p:nvPicPr>
          <p:cNvPr id="62" name="Image 5" descr="preencoded.png">
            <a:extLst>
              <a:ext uri="{FF2B5EF4-FFF2-40B4-BE49-F238E27FC236}">
                <a16:creationId xmlns:a16="http://schemas.microsoft.com/office/drawing/2014/main" id="{ABB2AEA8-F5A4-CBD8-F129-DF25C0E248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0" b="430"/>
          <a:stretch/>
        </p:blipFill>
        <p:spPr>
          <a:xfrm>
            <a:off x="13508030" y="1341106"/>
            <a:ext cx="1182205" cy="82043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E7C97D71-CADA-8584-4CA5-5D3F617BDE51}"/>
              </a:ext>
            </a:extLst>
          </p:cNvPr>
          <p:cNvSpPr/>
          <p:nvPr/>
        </p:nvSpPr>
        <p:spPr>
          <a:xfrm>
            <a:off x="1001486" y="8226856"/>
            <a:ext cx="6183085" cy="1069239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0025fc874547e34227dc54edf45cff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207" y="1904695"/>
            <a:ext cx="5429707" cy="3619195"/>
          </a:xfrm>
          <a:prstGeom prst="rect">
            <a:avLst/>
          </a:prstGeom>
        </p:spPr>
      </p:pic>
      <p:pic>
        <p:nvPicPr>
          <p:cNvPr id="5" name="Image 2" descr="gen-dedup-ab4aa29a42dd0bade622a242d9a8b477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11716207" y="1904695"/>
            <a:ext cx="5429707" cy="3619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1906402" y="4953305"/>
            <a:ext cx="5143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STEP hasta estimación</a:t>
            </a:r>
            <a:endParaRPr lang="en-US" sz="825" dirty="0"/>
          </a:p>
        </p:txBody>
      </p:sp>
      <p:pic>
        <p:nvPicPr>
          <p:cNvPr id="8" name="Image 4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9" name="Image 5" descr="gen-dedup-1473232738e87a88a640e54005ce6f5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904695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350" dirty="0"/>
          </a:p>
        </p:txBody>
      </p:sp>
      <p:sp>
        <p:nvSpPr>
          <p:cNvPr id="14" name="Shape 6"/>
          <p:cNvSpPr/>
          <p:nvPr/>
        </p:nvSpPr>
        <p:spPr>
          <a:xfrm>
            <a:off x="1714500" y="1938528"/>
            <a:ext cx="392460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7"/>
          <p:cNvSpPr/>
          <p:nvPr/>
        </p:nvSpPr>
        <p:spPr>
          <a:xfrm>
            <a:off x="1714500" y="1938528"/>
            <a:ext cx="39246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 · Fabricación industrial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2933395"/>
            <a:ext cx="10287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Estimación de tiempos de fabricación desde CAD</a:t>
            </a:r>
            <a:endParaRPr lang="en-US" sz="1125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3372307"/>
            <a:ext cx="1028700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3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Predice el tiempo de fabricación </a:t>
            </a:r>
            <a:r>
              <a:rPr lang="en-US" sz="4500" b="1" kern="0" spc="-13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directamente desde STEP.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4817003"/>
            <a:ext cx="10287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piezas CAD en formato STEP, extrae geometría y rasgos relevantes, y aprovecha datos históricos y patrones previos de producción. Cada estimación sale como una predicción estructurada por operación — precisa, explicable y consistente.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1143000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 txBox="1"/>
          <p:nvPr/>
        </p:nvSpPr>
        <p:spPr>
          <a:xfrm>
            <a:off x="1333195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rápido</a:t>
            </a:r>
            <a:endParaRPr lang="en-US" sz="2550" dirty="0"/>
          </a:p>
        </p:txBody>
      </p:sp>
      <p:sp>
        <p:nvSpPr>
          <p:cNvPr id="21" name="Text 13"/>
          <p:cNvSpPr txBox="1"/>
          <p:nvPr/>
        </p:nvSpPr>
        <p:spPr>
          <a:xfrm>
            <a:off x="1333195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estimaciones</a:t>
            </a:r>
            <a:endParaRPr lang="en-US" sz="825" dirty="0"/>
          </a:p>
        </p:txBody>
      </p:sp>
      <p:sp>
        <p:nvSpPr>
          <p:cNvPr id="22" name="Shape 14"/>
          <p:cNvSpPr/>
          <p:nvPr/>
        </p:nvSpPr>
        <p:spPr>
          <a:xfrm>
            <a:off x="4616806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 txBox="1"/>
          <p:nvPr/>
        </p:nvSpPr>
        <p:spPr>
          <a:xfrm>
            <a:off x="4807001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↑</a:t>
            </a:r>
            <a:endParaRPr lang="en-US" sz="2550" dirty="0"/>
          </a:p>
        </p:txBody>
      </p:sp>
      <p:sp>
        <p:nvSpPr>
          <p:cNvPr id="24" name="Text 16"/>
          <p:cNvSpPr txBox="1"/>
          <p:nvPr/>
        </p:nvSpPr>
        <p:spPr>
          <a:xfrm>
            <a:off x="4807001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acierto</a:t>
            </a:r>
            <a:endParaRPr lang="en-US" sz="825" dirty="0"/>
          </a:p>
        </p:txBody>
      </p:sp>
      <p:sp>
        <p:nvSpPr>
          <p:cNvPr id="25" name="Shape 17"/>
          <p:cNvSpPr/>
          <p:nvPr/>
        </p:nvSpPr>
        <p:spPr>
          <a:xfrm>
            <a:off x="8089697" y="5952744"/>
            <a:ext cx="3343046" cy="875995"/>
          </a:xfrm>
          <a:prstGeom prst="roundRect">
            <a:avLst>
              <a:gd name="adj" fmla="val 10856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8280806" y="6124651"/>
            <a:ext cx="29626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Autonomía</a:t>
            </a:r>
            <a:endParaRPr lang="en-US" sz="2550" dirty="0"/>
          </a:p>
        </p:txBody>
      </p:sp>
      <p:sp>
        <p:nvSpPr>
          <p:cNvPr id="27" name="Text 19"/>
          <p:cNvSpPr txBox="1"/>
          <p:nvPr/>
        </p:nvSpPr>
        <p:spPr>
          <a:xfrm>
            <a:off x="8280806" y="6524244"/>
            <a:ext cx="2962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dependencia del experto</a:t>
            </a:r>
            <a:endParaRPr lang="en-US" sz="825" dirty="0"/>
          </a:p>
        </p:txBody>
      </p:sp>
      <p:sp>
        <p:nvSpPr>
          <p:cNvPr id="28" name="Text 20"/>
          <p:cNvSpPr txBox="1"/>
          <p:nvPr/>
        </p:nvSpPr>
        <p:spPr>
          <a:xfrm>
            <a:off x="1143000" y="7239305"/>
            <a:ext cx="10287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9" name="Shape 21"/>
          <p:cNvSpPr/>
          <p:nvPr/>
        </p:nvSpPr>
        <p:spPr>
          <a:xfrm>
            <a:off x="1143000" y="7505395"/>
            <a:ext cx="2476195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1304849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1304849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1781251" y="7649870"/>
            <a:ext cx="1677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33" name="Text 25"/>
          <p:cNvSpPr txBox="1"/>
          <p:nvPr/>
        </p:nvSpPr>
        <p:spPr>
          <a:xfrm>
            <a:off x="1781251" y="7835494"/>
            <a:ext cx="199522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sobre operaciones históricas</a:t>
            </a:r>
            <a:endParaRPr lang="en-US" sz="825" dirty="0"/>
          </a:p>
        </p:txBody>
      </p:sp>
      <p:sp>
        <p:nvSpPr>
          <p:cNvPr id="34" name="Shape 26"/>
          <p:cNvSpPr/>
          <p:nvPr/>
        </p:nvSpPr>
        <p:spPr>
          <a:xfrm>
            <a:off x="3733495" y="7505395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895344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3895344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4371746" y="7649870"/>
            <a:ext cx="10954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38" name="Text 30"/>
          <p:cNvSpPr txBox="1"/>
          <p:nvPr/>
        </p:nvSpPr>
        <p:spPr>
          <a:xfrm>
            <a:off x="4371746" y="7835494"/>
            <a:ext cx="130393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Alimenta cotizaciones</a:t>
            </a:r>
            <a:endParaRPr lang="en-US" sz="825" dirty="0"/>
          </a:p>
        </p:txBody>
      </p:sp>
      <p:sp>
        <p:nvSpPr>
          <p:cNvPr id="39" name="Shape 31"/>
          <p:cNvSpPr/>
          <p:nvPr/>
        </p:nvSpPr>
        <p:spPr>
          <a:xfrm>
            <a:off x="6133795" y="7505395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6295644" y="7629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6295644" y="7629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6772046" y="7649870"/>
            <a:ext cx="12765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43" name="Text 35"/>
          <p:cNvSpPr txBox="1"/>
          <p:nvPr/>
        </p:nvSpPr>
        <p:spPr>
          <a:xfrm>
            <a:off x="6772046" y="7835494"/>
            <a:ext cx="151973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Planificación downstream</a:t>
            </a:r>
            <a:endParaRPr lang="en-US" sz="825" dirty="0"/>
          </a:p>
        </p:txBody>
      </p:sp>
      <p:sp>
        <p:nvSpPr>
          <p:cNvPr id="44" name="Text 36"/>
          <p:cNvSpPr txBox="1"/>
          <p:nvPr/>
        </p:nvSpPr>
        <p:spPr>
          <a:xfrm>
            <a:off x="1143000" y="8382305"/>
            <a:ext cx="10478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45" name="Shape 37"/>
          <p:cNvSpPr/>
          <p:nvPr/>
        </p:nvSpPr>
        <p:spPr>
          <a:xfrm>
            <a:off x="1143000" y="8648395"/>
            <a:ext cx="1571854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1143000" y="8648395"/>
            <a:ext cx="15718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STEP (.step)</a:t>
            </a:r>
            <a:endParaRPr lang="en-US" sz="975" dirty="0"/>
          </a:p>
        </p:txBody>
      </p:sp>
      <p:sp>
        <p:nvSpPr>
          <p:cNvPr id="47" name="Shape 39"/>
          <p:cNvSpPr/>
          <p:nvPr/>
        </p:nvSpPr>
        <p:spPr>
          <a:xfrm>
            <a:off x="2805379" y="8648395"/>
            <a:ext cx="1705356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2805379" y="8648395"/>
            <a:ext cx="170535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fabricación</a:t>
            </a:r>
            <a:endParaRPr lang="en-US" sz="975" dirty="0"/>
          </a:p>
        </p:txBody>
      </p:sp>
      <p:sp>
        <p:nvSpPr>
          <p:cNvPr id="49" name="Shape 41"/>
          <p:cNvSpPr/>
          <p:nvPr/>
        </p:nvSpPr>
        <p:spPr>
          <a:xfrm>
            <a:off x="4597603" y="8648395"/>
            <a:ext cx="923544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4597603" y="8648395"/>
            <a:ext cx="9244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&amp; MES</a:t>
            </a:r>
            <a:endParaRPr lang="en-US" sz="975" dirty="0"/>
          </a:p>
        </p:txBody>
      </p:sp>
      <p:sp>
        <p:nvSpPr>
          <p:cNvPr id="51" name="Shape 43"/>
          <p:cNvSpPr/>
          <p:nvPr/>
        </p:nvSpPr>
        <p:spPr>
          <a:xfrm>
            <a:off x="5609844" y="8648395"/>
            <a:ext cx="1324051" cy="323698"/>
          </a:xfrm>
          <a:prstGeom prst="roundRect">
            <a:avLst>
              <a:gd name="adj" fmla="val 50000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5609844" y="8648395"/>
            <a:ext cx="13240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88900" rIns="139700" bIns="889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Repositorios CAD</a:t>
            </a:r>
            <a:endParaRPr lang="en-US" sz="975" dirty="0"/>
          </a:p>
        </p:txBody>
      </p:sp>
      <p:sp>
        <p:nvSpPr>
          <p:cNvPr id="53" name="Text 45"/>
          <p:cNvSpPr txBox="1"/>
          <p:nvPr/>
        </p:nvSpPr>
        <p:spPr>
          <a:xfrm>
            <a:off x="1143000" y="100391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54" name="Text 46"/>
          <p:cNvSpPr txBox="1"/>
          <p:nvPr/>
        </p:nvSpPr>
        <p:spPr>
          <a:xfrm>
            <a:off x="14287500" y="100391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Cotización CAD-driven · España</a:t>
            </a:r>
            <a:endParaRPr lang="en-US" sz="975" dirty="0"/>
          </a:p>
        </p:txBody>
      </p:sp>
      <p:pic>
        <p:nvPicPr>
          <p:cNvPr id="58" name="Imagen 10" descr="Datei:Promega-Logo.svg – Wikipedia">
            <a:extLst>
              <a:ext uri="{FF2B5EF4-FFF2-40B4-BE49-F238E27FC236}">
                <a16:creationId xmlns:a16="http://schemas.microsoft.com/office/drawing/2014/main" id="{0FAECD2C-A73A-63BA-5500-99B36A7ED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1" y="1664185"/>
            <a:ext cx="1276501" cy="7888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1904695"/>
            <a:ext cx="8572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1714500" y="1938528"/>
            <a:ext cx="403890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1714500" y="1938528"/>
            <a:ext cx="40389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UCALSA · Producción data-driven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933395"/>
            <a:ext cx="1219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Planificación inteligente de producción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3372307"/>
            <a:ext cx="1333561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Planes que aguantan, </a:t>
            </a:r>
            <a:r>
              <a:rPr lang="en-U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 cuando todo cambia.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4780026"/>
            <a:ext cx="12192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Estima tiempos de producción desde el histórico del ERP, construye automáticamente planes viables respetando capacidades y restricciones, y simula escenarios ante pedidos urgentes o cambios de recursos — minimizando Excel, maximizando decisiones.</a:t>
            </a:r>
            <a:endParaRPr lang="en-US" sz="1425" dirty="0"/>
          </a:p>
        </p:txBody>
      </p:sp>
      <p:sp>
        <p:nvSpPr>
          <p:cNvPr id="16" name="Shape 10"/>
          <p:cNvSpPr/>
          <p:nvPr/>
        </p:nvSpPr>
        <p:spPr>
          <a:xfrm>
            <a:off x="1143000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1362456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01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1362456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Estimación de tiempos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362456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Aprende del histórico del ERP.</a:t>
            </a:r>
            <a:endParaRPr lang="en-US" sz="975" dirty="0"/>
          </a:p>
        </p:txBody>
      </p:sp>
      <p:sp>
        <p:nvSpPr>
          <p:cNvPr id="20" name="Shape 14"/>
          <p:cNvSpPr/>
          <p:nvPr/>
        </p:nvSpPr>
        <p:spPr>
          <a:xfrm>
            <a:off x="6521501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740042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02</a:t>
            </a:r>
            <a:endParaRPr lang="en-US" sz="825" dirty="0"/>
          </a:p>
        </p:txBody>
      </p:sp>
      <p:sp>
        <p:nvSpPr>
          <p:cNvPr id="22" name="Text 16"/>
          <p:cNvSpPr txBox="1"/>
          <p:nvPr/>
        </p:nvSpPr>
        <p:spPr>
          <a:xfrm>
            <a:off x="6740042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Planificación automática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740042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Planes viables, capacidades y restricciones.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11900002" y="5810098"/>
            <a:ext cx="5248656" cy="1133856"/>
          </a:xfrm>
          <a:prstGeom prst="roundRect">
            <a:avLst>
              <a:gd name="adj" fmla="val 8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12118543" y="6029554"/>
            <a:ext cx="4810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03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12118543" y="6219749"/>
            <a:ext cx="481065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Simulación de escenarios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12118543" y="6537046"/>
            <a:ext cx="4810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Urgencias, cambios, restricciones.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1143000" y="7619695"/>
            <a:ext cx="1600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9" name="Shape 23"/>
          <p:cNvSpPr/>
          <p:nvPr/>
        </p:nvSpPr>
        <p:spPr>
          <a:xfrm>
            <a:off x="11430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3048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13048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781251" y="8030261"/>
            <a:ext cx="11622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3" name="Text 27"/>
          <p:cNvSpPr txBox="1"/>
          <p:nvPr/>
        </p:nvSpPr>
        <p:spPr>
          <a:xfrm>
            <a:off x="1781251" y="8215884"/>
            <a:ext cx="138348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Planificación y órdenes</a:t>
            </a:r>
            <a:endParaRPr lang="en-US" sz="825" dirty="0"/>
          </a:p>
        </p:txBody>
      </p:sp>
      <p:sp>
        <p:nvSpPr>
          <p:cNvPr id="34" name="Shape 28"/>
          <p:cNvSpPr/>
          <p:nvPr/>
        </p:nvSpPr>
        <p:spPr>
          <a:xfrm>
            <a:off x="35433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7051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37051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181551" y="8030261"/>
            <a:ext cx="12198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125" dirty="0"/>
          </a:p>
        </p:txBody>
      </p:sp>
      <p:sp>
        <p:nvSpPr>
          <p:cNvPr id="38" name="Text 32"/>
          <p:cNvSpPr txBox="1"/>
          <p:nvPr/>
        </p:nvSpPr>
        <p:spPr>
          <a:xfrm>
            <a:off x="4181551" y="8215884"/>
            <a:ext cx="145115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Biblioteca de escenarios</a:t>
            </a:r>
            <a:endParaRPr lang="en-US" sz="825" dirty="0"/>
          </a:p>
        </p:txBody>
      </p:sp>
      <p:sp>
        <p:nvSpPr>
          <p:cNvPr id="39" name="Shape 33"/>
          <p:cNvSpPr/>
          <p:nvPr/>
        </p:nvSpPr>
        <p:spPr>
          <a:xfrm>
            <a:off x="5943600" y="7886700"/>
            <a:ext cx="2286000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6105449" y="801014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6105449" y="801014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6581851" y="8030261"/>
            <a:ext cx="9052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43" name="Text 37"/>
          <p:cNvSpPr txBox="1"/>
          <p:nvPr/>
        </p:nvSpPr>
        <p:spPr>
          <a:xfrm>
            <a:off x="6581851" y="8215884"/>
            <a:ext cx="12673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Salidas y reportes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143000" y="9424721"/>
            <a:ext cx="8961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chemeClr val="tx1">
                    <a:alpha val="5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45" name="Shape 39"/>
          <p:cNvSpPr/>
          <p:nvPr/>
        </p:nvSpPr>
        <p:spPr>
          <a:xfrm>
            <a:off x="2190902" y="9353398"/>
            <a:ext cx="1410005" cy="256946"/>
          </a:xfrm>
          <a:prstGeom prst="roundRect">
            <a:avLst>
              <a:gd name="adj" fmla="val 50178"/>
            </a:avLst>
          </a:prstGeom>
          <a:solidFill>
            <a:srgbClr val="E6A817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2190902" y="9353398"/>
            <a:ext cx="14100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Mejor planificación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3691433" y="9353398"/>
            <a:ext cx="1561795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3691433" y="9353398"/>
            <a:ext cx="15627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− Dependencia de Excel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343754" y="9353398"/>
            <a:ext cx="972007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5343754" y="9353398"/>
            <a:ext cx="9720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↑ Decisiones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406286" y="9353398"/>
            <a:ext cx="1619402" cy="256946"/>
          </a:xfrm>
          <a:prstGeom prst="roundRect">
            <a:avLst>
              <a:gd name="adj" fmla="val 501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406286" y="9353398"/>
            <a:ext cx="16194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Mayor adherencia al plan</a:t>
            </a:r>
            <a:endParaRPr lang="en-US" sz="900" dirty="0"/>
          </a:p>
        </p:txBody>
      </p:sp>
      <p:pic>
        <p:nvPicPr>
          <p:cNvPr id="56" name="Imagen 1" descr="HOW DO WE DO IT? - Ucalsa S.A.">
            <a:extLst>
              <a:ext uri="{FF2B5EF4-FFF2-40B4-BE49-F238E27FC236}">
                <a16:creationId xmlns:a16="http://schemas.microsoft.com/office/drawing/2014/main" id="{F8BC965D-1B5A-920C-7F80-D17A1C562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571" y="1763914"/>
            <a:ext cx="2553701" cy="66977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a0322b50a319f66d46ae7c3398ddb3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805" y="2286001"/>
            <a:ext cx="5715000" cy="5105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9805" y="2286000"/>
            <a:ext cx="5905195" cy="5333695"/>
          </a:xfrm>
          <a:prstGeom prst="roundRect">
            <a:avLst>
              <a:gd name="adj" fmla="val 142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1904695"/>
            <a:ext cx="7429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1714500" y="1938528"/>
            <a:ext cx="3095244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1714500" y="1938528"/>
            <a:ext cx="309615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GALPI ·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Cálculo</a:t>
            </a: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tarifas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933395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</a:t>
            </a: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inteligente</a:t>
            </a: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pricing · Odoo + ARPA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3520902"/>
            <a:ext cx="9525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Cotizaciones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latin typeface="Inter" pitchFamily="34" charset="0"/>
                <a:ea typeface="Inter" pitchFamily="34" charset="-122"/>
                <a:cs typeface="Inter" pitchFamily="34" charset="-120"/>
              </a:rPr>
              <a:t>actualizan</a:t>
            </a:r>
            <a:r>
              <a:rPr lang="es-ES" sz="48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ES" sz="4800" b="1" kern="0" spc="-144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mientras negocias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216835"/>
            <a:ext cx="93351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Automatiza el cálculo de tarifas integrándose con </a:t>
            </a:r>
            <a:r>
              <a:rPr lang="es-ES" sz="14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 como ERP central y ARPA como motor especializado de tarifas. Elimina las hojas de cálculo manuales, garantiza la coherencia entre sistemas y recalcula las ofertas automáticamente antes de la negociación y de las revisiones financieras.</a:t>
            </a:r>
            <a:endParaRPr lang="en-US" sz="1425" dirty="0"/>
          </a:p>
        </p:txBody>
      </p:sp>
      <p:pic>
        <p:nvPicPr>
          <p:cNvPr id="16" name="Image 4" descr="gen-dedup-69a8041980f9ab4d44ef68ccdf3f8e8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00" y="2476195"/>
            <a:ext cx="5524805" cy="49533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6537540"/>
            <a:ext cx="30294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36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089837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preparación de ofertas</a:t>
            </a:r>
            <a:endParaRPr lang="en-US" sz="825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7280033"/>
            <a:ext cx="3029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De Dias a horas</a:t>
            </a:r>
            <a:endParaRPr lang="en-US" sz="975" dirty="0"/>
          </a:p>
        </p:txBody>
      </p:sp>
      <p:sp>
        <p:nvSpPr>
          <p:cNvPr id="20" name="Text 13"/>
          <p:cNvSpPr txBox="1"/>
          <p:nvPr/>
        </p:nvSpPr>
        <p:spPr>
          <a:xfrm>
            <a:off x="4394606" y="6537540"/>
            <a:ext cx="30294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+9%</a:t>
            </a:r>
            <a:endParaRPr lang="en-US" sz="3600" dirty="0"/>
          </a:p>
        </p:txBody>
      </p:sp>
      <p:sp>
        <p:nvSpPr>
          <p:cNvPr id="21" name="Text 14"/>
          <p:cNvSpPr txBox="1"/>
          <p:nvPr/>
        </p:nvSpPr>
        <p:spPr>
          <a:xfrm>
            <a:off x="4394606" y="7089837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medio</a:t>
            </a:r>
            <a:endParaRPr lang="en-US" sz="825" dirty="0"/>
          </a:p>
        </p:txBody>
      </p:sp>
      <p:sp>
        <p:nvSpPr>
          <p:cNvPr id="22" name="Text 15"/>
          <p:cNvSpPr txBox="1"/>
          <p:nvPr/>
        </p:nvSpPr>
        <p:spPr>
          <a:xfrm>
            <a:off x="4394606" y="7280033"/>
            <a:ext cx="3029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latin typeface="Inter" pitchFamily="34" charset="0"/>
                <a:ea typeface="Inter" pitchFamily="34" charset="-122"/>
                <a:cs typeface="Inter" pitchFamily="34" charset="-120"/>
              </a:rPr>
              <a:t>Smart discount engine.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7645298" y="6772084"/>
            <a:ext cx="30294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Sincronización</a:t>
            </a:r>
            <a:r>
              <a:rPr lang="en-US" sz="2700" b="1" kern="0" spc="-54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700" b="1" kern="0" spc="-54" dirty="0">
                <a:latin typeface="Inter" pitchFamily="34" charset="0"/>
                <a:ea typeface="Inter" pitchFamily="34" charset="-122"/>
                <a:cs typeface="Inter" pitchFamily="34" charset="-120"/>
              </a:rPr>
              <a:t>de </a:t>
            </a:r>
            <a:r>
              <a:rPr lang="en-US" sz="2700" b="1" kern="0" spc="-5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tarifas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45298" y="7381988"/>
            <a:ext cx="3029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0 % manual / 100 % </a:t>
            </a: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coherente</a:t>
            </a:r>
            <a:endParaRPr lang="en-US" sz="825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8382305"/>
            <a:ext cx="9525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1143000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1304849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1304849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781251" y="8792870"/>
            <a:ext cx="12481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125" dirty="0"/>
          </a:p>
        </p:txBody>
      </p:sp>
      <p:sp>
        <p:nvSpPr>
          <p:cNvPr id="30" name="Text 23"/>
          <p:cNvSpPr txBox="1"/>
          <p:nvPr/>
        </p:nvSpPr>
        <p:spPr>
          <a:xfrm>
            <a:off x="1781251" y="9021479"/>
            <a:ext cx="14849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Configuración y cálculo </a:t>
            </a:r>
          </a:p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de tarifas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3448202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610051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3610051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086454" y="8792870"/>
            <a:ext cx="11338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5" name="Text 28"/>
          <p:cNvSpPr txBox="1"/>
          <p:nvPr/>
        </p:nvSpPr>
        <p:spPr>
          <a:xfrm>
            <a:off x="4086454" y="8978494"/>
            <a:ext cx="13496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Conexión</a:t>
            </a:r>
            <a:r>
              <a:rPr lang="en-U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25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825" dirty="0"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5753405" y="8648395"/>
            <a:ext cx="2190902" cy="609905"/>
          </a:xfrm>
          <a:prstGeom prst="roundRect">
            <a:avLst>
              <a:gd name="adj" fmla="val 155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915254" y="8772754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5915254" y="8772754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391656" y="8792870"/>
            <a:ext cx="10954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40" name="Text 33"/>
          <p:cNvSpPr txBox="1"/>
          <p:nvPr/>
        </p:nvSpPr>
        <p:spPr>
          <a:xfrm>
            <a:off x="6391656" y="9020556"/>
            <a:ext cx="14218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Generación de ofertas </a:t>
            </a:r>
          </a:p>
          <a:p>
            <a:pPr marL="0" indent="0" algn="l">
              <a:buNone/>
            </a:pPr>
            <a:r>
              <a:rPr lang="es-ES" sz="825" dirty="0">
                <a:latin typeface="Inter" pitchFamily="34" charset="0"/>
                <a:ea typeface="Inter" pitchFamily="34" charset="-122"/>
                <a:cs typeface="Inter" pitchFamily="34" charset="-120"/>
              </a:rPr>
              <a:t>y documentos</a:t>
            </a:r>
            <a:endParaRPr lang="en-US" sz="825" dirty="0"/>
          </a:p>
        </p:txBody>
      </p:sp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1E745DA4-15B0-7A4F-2606-C9E93EB112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39454" y="1520209"/>
            <a:ext cx="899294" cy="899294"/>
          </a:xfrm>
          <a:prstGeom prst="rect">
            <a:avLst/>
          </a:prstGeom>
        </p:spPr>
      </p:pic>
      <p:pic>
        <p:nvPicPr>
          <p:cNvPr id="46" name="Image 1" descr="gen-dedup-3fc9b6bd6bd01734c54b10a0f11af3f3.png">
            <a:extLst>
              <a:ext uri="{FF2B5EF4-FFF2-40B4-BE49-F238E27FC236}">
                <a16:creationId xmlns:a16="http://schemas.microsoft.com/office/drawing/2014/main" id="{814B7361-229E-D5B1-AC30-E0E6D268E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92f09ff42270fcd2aeeabf0eee15f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33965" cy="10287000"/>
          </a:xfrm>
          <a:prstGeom prst="rect">
            <a:avLst/>
          </a:prstGeom>
        </p:spPr>
      </p:pic>
      <p:pic>
        <p:nvPicPr>
          <p:cNvPr id="3" name="Image 1" descr="gen-dedup-781ad57c8f6ea245fbf8cfbff4a3e77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7429500" cy="10287000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191195" y="1904695"/>
            <a:ext cx="914400" cy="38405"/>
          </a:xfrm>
          <a:prstGeom prst="rect">
            <a:avLst/>
          </a:prstGeom>
        </p:spPr>
      </p:pic>
      <p:pic>
        <p:nvPicPr>
          <p:cNvPr id="6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71500" y="1904695"/>
            <a:ext cx="6477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5715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/>
          <p:cNvSpPr txBox="1"/>
          <p:nvPr/>
        </p:nvSpPr>
        <p:spPr>
          <a:xfrm>
            <a:off x="5715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1143000" y="1938528"/>
            <a:ext cx="369600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1143000" y="1938528"/>
            <a:ext cx="36960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s-ES" sz="1050" b="1" kern="0" spc="2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 · Asistente CAU en tiempo real</a:t>
            </a:r>
            <a:endParaRPr lang="en-US" sz="1050" dirty="0"/>
          </a:p>
        </p:txBody>
      </p:sp>
      <p:sp>
        <p:nvSpPr>
          <p:cNvPr id="12" name="Text 5"/>
          <p:cNvSpPr txBox="1"/>
          <p:nvPr/>
        </p:nvSpPr>
        <p:spPr>
          <a:xfrm>
            <a:off x="571500" y="2667305"/>
            <a:ext cx="66678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s-ES" sz="4500" b="1" kern="0" spc="-13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permanente para el </a:t>
            </a:r>
            <a:r>
              <a:rPr lang="es-ES" sz="4500" b="1" kern="0" spc="-135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personal clínico</a:t>
            </a:r>
            <a:endParaRPr lang="en-US" sz="45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4324198"/>
            <a:ext cx="6667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s-ES" sz="12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de voz en tiempo real, procesamiento efímero — sin almacenamiento de audio — y creación estructurada de incidencias directamente en SIGI/CAU </a:t>
            </a:r>
            <a:r>
              <a:rPr lang="es-ES" sz="1275" dirty="0" err="1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Plexus</a:t>
            </a:r>
            <a:r>
              <a:rPr lang="es-ES" sz="12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5" dirty="0"/>
          </a:p>
        </p:txBody>
      </p:sp>
      <p:sp>
        <p:nvSpPr>
          <p:cNvPr id="14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8191195" y="2171700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Álvaro Cunqueiro · SERGAS</a:t>
            </a:r>
            <a:endParaRPr lang="en-US" sz="825" dirty="0"/>
          </a:p>
        </p:txBody>
      </p:sp>
      <p:sp>
        <p:nvSpPr>
          <p:cNvPr id="16" name="Text 9"/>
          <p:cNvSpPr txBox="1"/>
          <p:nvPr/>
        </p:nvSpPr>
        <p:spPr>
          <a:xfrm>
            <a:off x="8191195" y="2476195"/>
            <a:ext cx="976853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3450" b="1" kern="0" spc="-10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en tiempo real de </a:t>
            </a:r>
            <a:r>
              <a:rPr lang="es-ES" sz="3450" b="1" kern="0" spc="-103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llamadas clínicas.</a:t>
            </a:r>
          </a:p>
        </p:txBody>
      </p:sp>
      <p:sp>
        <p:nvSpPr>
          <p:cNvPr id="17" name="Text 10"/>
          <p:cNvSpPr txBox="1"/>
          <p:nvPr/>
        </p:nvSpPr>
        <p:spPr>
          <a:xfrm>
            <a:off x="8191195" y="3562502"/>
            <a:ext cx="8953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soporte al CAU hospitalario (SIGI) mediante análisis de voz en tiempo real, extracción automática de información relevante para la incidencia e integración directa vía API con </a:t>
            </a:r>
            <a:r>
              <a:rPr lang="es-ES" sz="1350" dirty="0" err="1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Plexus</a:t>
            </a: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Privacidad desde el diseño: procesamiento efímero, sin almacenamiento de audio y conforme al RGPD.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8191195" y="4953305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19" name="Shape 12"/>
          <p:cNvSpPr/>
          <p:nvPr/>
        </p:nvSpPr>
        <p:spPr>
          <a:xfrm>
            <a:off x="8191195" y="5219395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 txBox="1"/>
          <p:nvPr/>
        </p:nvSpPr>
        <p:spPr>
          <a:xfrm>
            <a:off x="8372246" y="5362956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voz en tiempo real</a:t>
            </a:r>
            <a:endParaRPr lang="en-US" sz="1275" dirty="0"/>
          </a:p>
        </p:txBody>
      </p:sp>
      <p:sp>
        <p:nvSpPr>
          <p:cNvPr id="21" name="Text 14"/>
          <p:cNvSpPr txBox="1"/>
          <p:nvPr/>
        </p:nvSpPr>
        <p:spPr>
          <a:xfrm>
            <a:off x="8372246" y="5591556"/>
            <a:ext cx="44238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usuarios y operadores, estructurado y sin almacenar audio.</a:t>
            </a:r>
            <a:endParaRPr lang="en-US" sz="975" dirty="0"/>
          </a:p>
        </p:txBody>
      </p:sp>
      <p:sp>
        <p:nvSpPr>
          <p:cNvPr id="22" name="Shape 15"/>
          <p:cNvSpPr/>
          <p:nvPr/>
        </p:nvSpPr>
        <p:spPr>
          <a:xfrm>
            <a:off x="12734849" y="5219395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12915900" y="5362956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Estructuración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12915900" y="5591556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y estructura automáticamente el registro.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8191195" y="6040526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372246" y="6183173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con Plexus</a:t>
            </a:r>
            <a:endParaRPr lang="en-US" sz="1275" dirty="0"/>
          </a:p>
        </p:txBody>
      </p:sp>
      <p:sp>
        <p:nvSpPr>
          <p:cNvPr id="27" name="Text 20"/>
          <p:cNvSpPr txBox="1"/>
          <p:nvPr/>
        </p:nvSpPr>
        <p:spPr>
          <a:xfrm>
            <a:off x="8372246" y="6411773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Escritura directa en el CAU del hospital.</a:t>
            </a:r>
            <a:endParaRPr lang="en-US" sz="975" dirty="0"/>
          </a:p>
        </p:txBody>
      </p:sp>
      <p:sp>
        <p:nvSpPr>
          <p:cNvPr id="28" name="Shape 21"/>
          <p:cNvSpPr/>
          <p:nvPr/>
        </p:nvSpPr>
        <p:spPr>
          <a:xfrm>
            <a:off x="12734849" y="6040526"/>
            <a:ext cx="4410151" cy="694944"/>
          </a:xfrm>
          <a:prstGeom prst="roundRect">
            <a:avLst>
              <a:gd name="adj" fmla="val 10921"/>
            </a:avLst>
          </a:prstGeom>
          <a:solidFill>
            <a:srgbClr val="F8FAFC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12915900" y="6183173"/>
            <a:ext cx="4048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</a:t>
            </a: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</a:t>
            </a:r>
            <a:r>
              <a:rPr lang="en-US" sz="127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</a:t>
            </a:r>
            <a:endParaRPr lang="en-US" sz="1275" dirty="0"/>
          </a:p>
        </p:txBody>
      </p:sp>
      <p:sp>
        <p:nvSpPr>
          <p:cNvPr id="30" name="Text 23"/>
          <p:cNvSpPr txBox="1"/>
          <p:nvPr/>
        </p:nvSpPr>
        <p:spPr>
          <a:xfrm>
            <a:off x="12915900" y="6411773"/>
            <a:ext cx="4048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efímero, sin persistencia y 100 % privado.</a:t>
            </a:r>
            <a:endParaRPr lang="en-US" sz="975" dirty="0"/>
          </a:p>
        </p:txBody>
      </p:sp>
      <p:sp>
        <p:nvSpPr>
          <p:cNvPr id="31" name="Shape 24"/>
          <p:cNvSpPr/>
          <p:nvPr/>
        </p:nvSpPr>
        <p:spPr>
          <a:xfrm>
            <a:off x="8191195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8401507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real</a:t>
            </a:r>
            <a:endParaRPr lang="en-US" sz="2700" dirty="0"/>
          </a:p>
        </p:txBody>
      </p:sp>
      <p:sp>
        <p:nvSpPr>
          <p:cNvPr id="33" name="Text 26"/>
          <p:cNvSpPr txBox="1"/>
          <p:nvPr/>
        </p:nvSpPr>
        <p:spPr>
          <a:xfrm>
            <a:off x="8401507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4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 a </a:t>
            </a:r>
            <a:r>
              <a:rPr lang="en-US" sz="825" kern="0" spc="149" dirty="0" err="1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11220602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11430000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0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</a:t>
            </a:r>
            <a:r>
              <a:rPr lang="en-US" sz="825" b="1" kern="0" spc="14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sin audio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14249095" y="7429500"/>
            <a:ext cx="2895905" cy="895198"/>
          </a:xfrm>
          <a:prstGeom prst="roundRect">
            <a:avLst>
              <a:gd name="adj" fmla="val 1062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14459407" y="76014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2700" b="1" kern="0" spc="-81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avanzada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14459407" y="8020202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4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environment</a:t>
            </a:r>
            <a:endParaRPr lang="en-US" sz="825" dirty="0"/>
          </a:p>
        </p:txBody>
      </p:sp>
      <p:sp>
        <p:nvSpPr>
          <p:cNvPr id="42" name="Text 35"/>
          <p:cNvSpPr txBox="1"/>
          <p:nvPr/>
        </p:nvSpPr>
        <p:spPr>
          <a:xfrm>
            <a:off x="8191195" y="8953805"/>
            <a:ext cx="8953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43" name="Shape 36"/>
          <p:cNvSpPr/>
          <p:nvPr/>
        </p:nvSpPr>
        <p:spPr>
          <a:xfrm>
            <a:off x="8191195" y="9219895"/>
            <a:ext cx="1904695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8334756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8334756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8772754" y="9346997"/>
            <a:ext cx="1181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8772754" y="9512503"/>
            <a:ext cx="14063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voz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10207447" y="9219895"/>
            <a:ext cx="1705356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10350094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10350094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51" name="Text 44"/>
          <p:cNvSpPr txBox="1"/>
          <p:nvPr/>
        </p:nvSpPr>
        <p:spPr>
          <a:xfrm>
            <a:off x="10789006" y="9346997"/>
            <a:ext cx="981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C</a:t>
            </a: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alidad</a:t>
            </a:r>
            <a:endParaRPr lang="en-US" sz="1050" dirty="0"/>
          </a:p>
        </p:txBody>
      </p:sp>
      <p:sp>
        <p:nvSpPr>
          <p:cNvPr id="52" name="Text 45"/>
          <p:cNvSpPr txBox="1"/>
          <p:nvPr/>
        </p:nvSpPr>
        <p:spPr>
          <a:xfrm>
            <a:off x="10789006" y="9544508"/>
            <a:ext cx="11676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12022531" y="9219895"/>
            <a:ext cx="1695298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12166092" y="9325051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12166092" y="9325051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975" dirty="0"/>
          </a:p>
        </p:txBody>
      </p:sp>
      <p:sp>
        <p:nvSpPr>
          <p:cNvPr id="56" name="Text 49"/>
          <p:cNvSpPr txBox="1"/>
          <p:nvPr/>
        </p:nvSpPr>
        <p:spPr>
          <a:xfrm>
            <a:off x="12604090" y="9346997"/>
            <a:ext cx="9720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12604090" y="9512503"/>
            <a:ext cx="12316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</a:t>
            </a:r>
            <a:endParaRPr lang="en-US" sz="800" dirty="0"/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:a16="http://schemas.microsoft.com/office/drawing/2014/main" id="{7C984CCC-85CC-172D-E5BC-B4B4D87B98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3" r="283"/>
          <a:stretch/>
        </p:blipFill>
        <p:spPr>
          <a:xfrm>
            <a:off x="15684093" y="1610314"/>
            <a:ext cx="1651102" cy="672961"/>
          </a:xfrm>
          <a:prstGeom prst="rect">
            <a:avLst/>
          </a:prstGeom>
        </p:spPr>
      </p:pic>
      <p:pic>
        <p:nvPicPr>
          <p:cNvPr id="61" name="Image 1" descr="gen-dedup-3fc9b6bd6bd01734c54b10a0f11af3f3.png">
            <a:extLst>
              <a:ext uri="{FF2B5EF4-FFF2-40B4-BE49-F238E27FC236}">
                <a16:creationId xmlns:a16="http://schemas.microsoft.com/office/drawing/2014/main" id="{15BA99EA-B3DF-1A0B-5269-7A26C7293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618486"/>
            <a:ext cx="8001000" cy="4096514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12c203fd2c8972915c4c4a7b859396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904695"/>
            <a:ext cx="6858000" cy="3620621"/>
          </a:xfrm>
          <a:prstGeom prst="rect">
            <a:avLst/>
          </a:prstGeom>
        </p:spPr>
      </p:pic>
      <p:pic>
        <p:nvPicPr>
          <p:cNvPr id="4" name="Image 1" descr="gen-dedup-43c906d75807ec85f5be793b42c82405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10858500" y="1904695"/>
            <a:ext cx="6858000" cy="3619195"/>
          </a:xfrm>
          <a:prstGeom prst="rect">
            <a:avLst/>
          </a:prstGeom>
        </p:spPr>
      </p:pic>
      <p:pic>
        <p:nvPicPr>
          <p:cNvPr id="6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7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904695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350" dirty="0"/>
          </a:p>
        </p:txBody>
      </p:sp>
      <p:sp>
        <p:nvSpPr>
          <p:cNvPr id="12" name="Shape 5"/>
          <p:cNvSpPr/>
          <p:nvPr/>
        </p:nvSpPr>
        <p:spPr>
          <a:xfrm>
            <a:off x="1714499" y="1938528"/>
            <a:ext cx="4686301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2078431" y="1952383"/>
            <a:ext cx="384413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 ·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</a:t>
            </a: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cadena</a:t>
            </a: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b="1" kern="0" spc="294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frío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2933395"/>
            <a:ext cx="9335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Digitalización de almacenes frigoríficos · 9 especialistas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3372307"/>
            <a:ext cx="933511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Marisco, </a:t>
            </a:r>
            <a:r>
              <a:rPr lang="en-US" sz="4350" b="1" kern="0" spc="-130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congelado</a:t>
            </a: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fresco. Sin </a:t>
            </a: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stock a </a:t>
            </a:r>
            <a:r>
              <a:rPr lang="en-US" sz="4350" b="1" kern="0" spc="-130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ciegas</a:t>
            </a:r>
            <a:endParaRPr lang="en-US" sz="43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4809294"/>
            <a:ext cx="8763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 controlada por voz, lectura de etiquetas mediante visión + OCR en condiciones extremas, seguimiento de activos en interiores mediante RTLS, documentación de exportación y RAG sobre procedimientos internos, con modelos de ML para la previsión energética y de ocupación.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1143000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 txBox="1"/>
          <p:nvPr/>
        </p:nvSpPr>
        <p:spPr>
          <a:xfrm>
            <a:off x="1333195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255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</a:t>
            </a:r>
            <a:endParaRPr lang="en-US" sz="825" dirty="0"/>
          </a:p>
        </p:txBody>
      </p:sp>
      <p:sp>
        <p:nvSpPr>
          <p:cNvPr id="20" name="Shape 13"/>
          <p:cNvSpPr/>
          <p:nvPr/>
        </p:nvSpPr>
        <p:spPr>
          <a:xfrm>
            <a:off x="3510382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3700577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−28%</a:t>
            </a:r>
            <a:endParaRPr lang="en-US" sz="2550" dirty="0"/>
          </a:p>
        </p:txBody>
      </p:sp>
      <p:sp>
        <p:nvSpPr>
          <p:cNvPr id="22" name="Text 15"/>
          <p:cNvSpPr txBox="1"/>
          <p:nvPr/>
        </p:nvSpPr>
        <p:spPr>
          <a:xfrm>
            <a:off x="3700577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Perdidas</a:t>
            </a: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Frio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5876849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6067044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550" dirty="0"/>
          </a:p>
        </p:txBody>
      </p:sp>
      <p:sp>
        <p:nvSpPr>
          <p:cNvPr id="25" name="Text 18"/>
          <p:cNvSpPr txBox="1"/>
          <p:nvPr/>
        </p:nvSpPr>
        <p:spPr>
          <a:xfrm>
            <a:off x="6067044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 </a:t>
            </a:r>
            <a:r>
              <a:rPr lang="en-US" sz="825" b="1" kern="0" spc="14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Manuales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8244230" y="6096305"/>
            <a:ext cx="2238451" cy="875995"/>
          </a:xfrm>
          <a:prstGeom prst="roundRect">
            <a:avLst>
              <a:gd name="adj" fmla="val 10856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8434426" y="6267298"/>
            <a:ext cx="18580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7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10–20%</a:t>
            </a:r>
            <a:endParaRPr lang="en-US" sz="2550" dirty="0"/>
          </a:p>
        </p:txBody>
      </p:sp>
      <p:sp>
        <p:nvSpPr>
          <p:cNvPr id="28" name="Text 21"/>
          <p:cNvSpPr txBox="1"/>
          <p:nvPr/>
        </p:nvSpPr>
        <p:spPr>
          <a:xfrm>
            <a:off x="8434426" y="666780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</a:t>
            </a:r>
            <a:r>
              <a:rPr lang="en-US" sz="825" b="1" kern="0" spc="14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Energético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1143000" y="7524598"/>
            <a:ext cx="9335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AGENTESEN ESTE CASO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1143000" y="7791602"/>
            <a:ext cx="1543507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285646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1285646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975" dirty="0"/>
          </a:p>
        </p:txBody>
      </p:sp>
      <p:sp>
        <p:nvSpPr>
          <p:cNvPr id="33" name="Text 26"/>
          <p:cNvSpPr txBox="1"/>
          <p:nvPr/>
        </p:nvSpPr>
        <p:spPr>
          <a:xfrm>
            <a:off x="1723644" y="7917790"/>
            <a:ext cx="8193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1723644" y="8124392"/>
            <a:ext cx="10945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manos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libres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2791663" y="7791602"/>
            <a:ext cx="1914754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2934310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2934310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75" dirty="0"/>
          </a:p>
        </p:txBody>
      </p:sp>
      <p:sp>
        <p:nvSpPr>
          <p:cNvPr id="38" name="Text 31"/>
          <p:cNvSpPr txBox="1"/>
          <p:nvPr/>
        </p:nvSpPr>
        <p:spPr>
          <a:xfrm>
            <a:off x="3372307" y="7917790"/>
            <a:ext cx="1191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3372307" y="8124392"/>
            <a:ext cx="14173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</a:t>
            </a:r>
          </a:p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desde email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4815230" y="7791602"/>
            <a:ext cx="2124151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957877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4957877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5395874" y="7917790"/>
            <a:ext cx="14008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5395874" y="8138009"/>
            <a:ext cx="16669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aduanera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049110" y="7791602"/>
            <a:ext cx="1828800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7191756" y="789584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7191756" y="78958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7629754" y="7917790"/>
            <a:ext cx="11055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C</a:t>
            </a:r>
            <a:r>
              <a:rPr lang="en-US" sz="105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</a:rPr>
              <a:t>onocimiento</a:t>
            </a:r>
            <a:endParaRPr lang="en-US" sz="1050" dirty="0"/>
          </a:p>
        </p:txBody>
      </p:sp>
      <p:sp>
        <p:nvSpPr>
          <p:cNvPr id="49" name="Text 42"/>
          <p:cNvSpPr txBox="1"/>
          <p:nvPr/>
        </p:nvSpPr>
        <p:spPr>
          <a:xfrm>
            <a:off x="7629755" y="8139533"/>
            <a:ext cx="10519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procedimientos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internos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1143000" y="8438998"/>
            <a:ext cx="1705356" cy="533095"/>
          </a:xfrm>
          <a:prstGeom prst="roundRect">
            <a:avLst>
              <a:gd name="adj" fmla="val 17839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1285646" y="8544154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1285646" y="85441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53" name="Text 46"/>
          <p:cNvSpPr txBox="1"/>
          <p:nvPr/>
        </p:nvSpPr>
        <p:spPr>
          <a:xfrm>
            <a:off x="1723644" y="8566099"/>
            <a:ext cx="981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050" dirty="0"/>
          </a:p>
        </p:txBody>
      </p:sp>
      <p:sp>
        <p:nvSpPr>
          <p:cNvPr id="54" name="Text 47"/>
          <p:cNvSpPr txBox="1"/>
          <p:nvPr/>
        </p:nvSpPr>
        <p:spPr>
          <a:xfrm>
            <a:off x="1723644" y="8777370"/>
            <a:ext cx="10680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para energía </a:t>
            </a:r>
          </a:p>
          <a:p>
            <a:pPr marL="0" indent="0" algn="l">
              <a:buNone/>
            </a:pPr>
            <a:r>
              <a:rPr lang="es-E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anomalías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10858500" y="5810098"/>
            <a:ext cx="6858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25" dirty="0"/>
          </a:p>
        </p:txBody>
      </p:sp>
      <p:sp>
        <p:nvSpPr>
          <p:cNvPr id="56" name="Shape 49"/>
          <p:cNvSpPr/>
          <p:nvPr/>
        </p:nvSpPr>
        <p:spPr>
          <a:xfrm>
            <a:off x="10858500" y="6077102"/>
            <a:ext cx="866851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10858500" y="60771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/ ERP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11799418" y="6077102"/>
            <a:ext cx="780898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11799418" y="6077102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Scanners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12653467" y="6077102"/>
            <a:ext cx="543154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12653467" y="6077102"/>
            <a:ext cx="5431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RTLS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13268858" y="6077102"/>
            <a:ext cx="552298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13268858" y="6077102"/>
            <a:ext cx="5532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13894308" y="6077102"/>
            <a:ext cx="752551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13894308" y="6077102"/>
            <a:ext cx="752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Customs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14717268" y="6077102"/>
            <a:ext cx="914400" cy="295351"/>
          </a:xfrm>
          <a:prstGeom prst="roundRect">
            <a:avLst>
              <a:gd name="adj" fmla="val 49845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0"/>
          <p:cNvSpPr/>
          <p:nvPr/>
        </p:nvSpPr>
        <p:spPr>
          <a:xfrm>
            <a:off x="14717268" y="6077102"/>
            <a:ext cx="9144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· SCADA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1143000" y="100199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Real autonomy, real deployments</a:t>
            </a:r>
            <a:endParaRPr lang="en-US" sz="975" dirty="0"/>
          </a:p>
        </p:txBody>
      </p:sp>
      <p:sp>
        <p:nvSpPr>
          <p:cNvPr id="69" name="Text 6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 · Galicia</a:t>
            </a:r>
            <a:endParaRPr lang="en-US" sz="975" dirty="0"/>
          </a:p>
        </p:txBody>
      </p:sp>
      <p:pic>
        <p:nvPicPr>
          <p:cNvPr id="71" name="Imagen 4" descr="SaecData – Soluciones Tecnológicas">
            <a:extLst>
              <a:ext uri="{FF2B5EF4-FFF2-40B4-BE49-F238E27FC236}">
                <a16:creationId xmlns:a16="http://schemas.microsoft.com/office/drawing/2014/main" id="{B06C991F-8DA3-79B2-5DFC-AB07ABE305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01" b="20464"/>
          <a:stretch>
            <a:fillRect/>
          </a:stretch>
        </p:blipFill>
        <p:spPr>
          <a:xfrm>
            <a:off x="6542017" y="1870290"/>
            <a:ext cx="1623175" cy="545213"/>
          </a:xfrm>
          <a:prstGeom prst="rect">
            <a:avLst/>
          </a:prstGeom>
        </p:spPr>
      </p:pic>
      <p:pic>
        <p:nvPicPr>
          <p:cNvPr id="73" name="Image 1" descr="gen-dedup-3fc9b6bd6bd01734c54b10a0f11af3f3.png">
            <a:extLst>
              <a:ext uri="{FF2B5EF4-FFF2-40B4-BE49-F238E27FC236}">
                <a16:creationId xmlns:a16="http://schemas.microsoft.com/office/drawing/2014/main" id="{723A0AC9-7AE3-4273-32CF-A77668558B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8001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9fdc99d196403a0432ef302aaec20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195" y="1904695"/>
            <a:ext cx="7429500" cy="4953305"/>
          </a:xfrm>
          <a:prstGeom prst="rect">
            <a:avLst/>
          </a:prstGeom>
        </p:spPr>
      </p:pic>
      <p:pic>
        <p:nvPicPr>
          <p:cNvPr id="4" name="Image 1" descr="gen-dedup-9a4b8215e0159d65143c5a51d6142f6e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0477195" y="1904695"/>
            <a:ext cx="7429500" cy="4953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477195" y="7239305"/>
            <a:ext cx="7429500" cy="1904695"/>
          </a:xfrm>
          <a:prstGeom prst="roundRect">
            <a:avLst>
              <a:gd name="adj" fmla="val 499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pic>
        <p:nvPicPr>
          <p:cNvPr id="8" name="Image 4" descr="gen-dedup-8a4746f7ae18871903d6c6f0da58ca57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0858500" y="2171700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&amp; transporte</a:t>
            </a:r>
            <a:endParaRPr lang="en-US" sz="825" dirty="0"/>
          </a:p>
        </p:txBody>
      </p:sp>
      <p:sp>
        <p:nvSpPr>
          <p:cNvPr id="10" name="Text 3"/>
          <p:cNvSpPr txBox="1"/>
          <p:nvPr/>
        </p:nvSpPr>
        <p:spPr>
          <a:xfrm>
            <a:off x="10858500" y="2381098"/>
            <a:ext cx="6667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logístico centrado en optimizar gestión de transporte.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1904695"/>
            <a:ext cx="8763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1714500" y="1938528"/>
            <a:ext cx="4114800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1714500" y="1938528"/>
            <a:ext cx="4114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 · Optimización y documentos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2933395"/>
            <a:ext cx="8763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3D · rutas VRP · documentación</a:t>
            </a:r>
            <a:endParaRPr lang="en-US" sz="1125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3372307"/>
            <a:ext cx="876361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camiones en ruta,</a:t>
            </a:r>
            <a:endParaRPr lang="en-US" sz="4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errores en papel.</a:t>
            </a:r>
            <a:endParaRPr lang="en-US" sz="43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4705502"/>
            <a:ext cx="8763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Empaquetado 3D que aprovecha el camión, ruteo VRP que minimiza kilómetros, y generación + pre-validación automática de albaranes, CMRs y facturas desde pedidos de Odoo.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5810098"/>
            <a:ext cx="8763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</a:t>
            </a:r>
            <a:endParaRPr lang="en-US" sz="825" dirty="0"/>
          </a:p>
        </p:txBody>
      </p:sp>
      <p:sp>
        <p:nvSpPr>
          <p:cNvPr id="21" name="Shape 14"/>
          <p:cNvSpPr/>
          <p:nvPr/>
        </p:nvSpPr>
        <p:spPr>
          <a:xfrm>
            <a:off x="1143000" y="6077102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1143000" y="6219749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1600200" y="6219749"/>
            <a:ext cx="41815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Empaquetado 3D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1600200" y="6439205"/>
            <a:ext cx="48673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 el espacio del camión: dimensiones, restricciones, capacidad.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1143000" y="6724498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1143000" y="6867144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1600200" y="6867144"/>
            <a:ext cx="2800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Ruteo VRP</a:t>
            </a:r>
            <a:endParaRPr lang="en-US" sz="1275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7086600"/>
            <a:ext cx="333298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Rutas óptimas que recortan distancias y costes.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1143000" y="7372807"/>
            <a:ext cx="8762695" cy="9144"/>
          </a:xfrm>
          <a:prstGeom prst="rect">
            <a:avLst/>
          </a:prstGeom>
          <a:solidFill>
            <a:srgbClr val="0A0F1E">
              <a:alpha val="10000"/>
            </a:srgbClr>
          </a:solidFill>
          <a:ln w="12700">
            <a:solidFill>
              <a:srgbClr val="0A0F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1143000" y="7515454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600200" y="7515454"/>
            <a:ext cx="249722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documentos</a:t>
            </a:r>
            <a:endParaRPr lang="en-US" sz="1275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7733995"/>
            <a:ext cx="259598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albaranes, CMR, ECI, facturas.</a:t>
            </a:r>
            <a:endParaRPr lang="en-US" sz="975" dirty="0"/>
          </a:p>
        </p:txBody>
      </p:sp>
      <p:sp>
        <p:nvSpPr>
          <p:cNvPr id="33" name="Shape 26"/>
          <p:cNvSpPr/>
          <p:nvPr/>
        </p:nvSpPr>
        <p:spPr>
          <a:xfrm>
            <a:off x="1143000" y="8020202"/>
            <a:ext cx="8762695" cy="657454"/>
          </a:xfrm>
          <a:prstGeom prst="rect">
            <a:avLst/>
          </a:prstGeom>
          <a:noFill/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143000" y="8162849"/>
            <a:ext cx="3246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600200" y="8162849"/>
            <a:ext cx="2686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Pre-validación</a:t>
            </a:r>
            <a:endParaRPr lang="en-US" sz="1275" dirty="0"/>
          </a:p>
        </p:txBody>
      </p:sp>
      <p:sp>
        <p:nvSpPr>
          <p:cNvPr id="36" name="Text 29"/>
          <p:cNvSpPr txBox="1"/>
          <p:nvPr/>
        </p:nvSpPr>
        <p:spPr>
          <a:xfrm>
            <a:off x="1600200" y="8382305"/>
            <a:ext cx="319674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errores antes de emitir el documento.</a:t>
            </a:r>
            <a:endParaRPr lang="en-US" sz="975" dirty="0"/>
          </a:p>
        </p:txBody>
      </p:sp>
      <p:sp>
        <p:nvSpPr>
          <p:cNvPr id="37" name="Text 30"/>
          <p:cNvSpPr txBox="1"/>
          <p:nvPr/>
        </p:nvSpPr>
        <p:spPr>
          <a:xfrm>
            <a:off x="10858500" y="7429500"/>
            <a:ext cx="6858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825" dirty="0"/>
          </a:p>
        </p:txBody>
      </p:sp>
      <p:sp>
        <p:nvSpPr>
          <p:cNvPr id="38" name="Text 31"/>
          <p:cNvSpPr txBox="1"/>
          <p:nvPr/>
        </p:nvSpPr>
        <p:spPr>
          <a:xfrm>
            <a:off x="10858500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</a:t>
            </a:r>
            <a:endParaRPr lang="en-US" sz="2400" dirty="0"/>
          </a:p>
        </p:txBody>
      </p:sp>
      <p:sp>
        <p:nvSpPr>
          <p:cNvPr id="39" name="Text 32"/>
          <p:cNvSpPr txBox="1"/>
          <p:nvPr/>
        </p:nvSpPr>
        <p:spPr>
          <a:xfrm>
            <a:off x="10858500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Viajes &amp; costes</a:t>
            </a:r>
            <a:endParaRPr lang="en-US" sz="825" dirty="0"/>
          </a:p>
        </p:txBody>
      </p:sp>
      <p:sp>
        <p:nvSpPr>
          <p:cNvPr id="40" name="Text 33"/>
          <p:cNvSpPr txBox="1"/>
          <p:nvPr/>
        </p:nvSpPr>
        <p:spPr>
          <a:xfrm>
            <a:off x="13202107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13202107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admin.</a:t>
            </a:r>
            <a:endParaRPr lang="en-US" sz="825" dirty="0"/>
          </a:p>
        </p:txBody>
      </p:sp>
      <p:sp>
        <p:nvSpPr>
          <p:cNvPr id="42" name="Text 35"/>
          <p:cNvSpPr txBox="1"/>
          <p:nvPr/>
        </p:nvSpPr>
        <p:spPr>
          <a:xfrm>
            <a:off x="15544800" y="7696505"/>
            <a:ext cx="2171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00" dirty="0"/>
          </a:p>
        </p:txBody>
      </p:sp>
      <p:sp>
        <p:nvSpPr>
          <p:cNvPr id="43" name="Text 36"/>
          <p:cNvSpPr txBox="1"/>
          <p:nvPr/>
        </p:nvSpPr>
        <p:spPr>
          <a:xfrm>
            <a:off x="15544800" y="80586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Pre-validado</a:t>
            </a:r>
            <a:endParaRPr lang="en-US" sz="825" dirty="0"/>
          </a:p>
        </p:txBody>
      </p:sp>
      <p:sp>
        <p:nvSpPr>
          <p:cNvPr id="44" name="Text 37"/>
          <p:cNvSpPr txBox="1"/>
          <p:nvPr/>
        </p:nvSpPr>
        <p:spPr>
          <a:xfrm>
            <a:off x="1143000" y="9219895"/>
            <a:ext cx="1219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45" name="Shape 38"/>
          <p:cNvSpPr/>
          <p:nvPr/>
        </p:nvSpPr>
        <p:spPr>
          <a:xfrm>
            <a:off x="1143000" y="9448495"/>
            <a:ext cx="1990649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1285646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1285646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666951" y="9610344"/>
            <a:ext cx="172638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· desde Odoo</a:t>
            </a:r>
            <a:endParaRPr lang="en-US" sz="975" dirty="0"/>
          </a:p>
        </p:txBody>
      </p:sp>
      <p:sp>
        <p:nvSpPr>
          <p:cNvPr id="49" name="Shape 42"/>
          <p:cNvSpPr/>
          <p:nvPr/>
        </p:nvSpPr>
        <p:spPr>
          <a:xfrm>
            <a:off x="3220517" y="9448495"/>
            <a:ext cx="2324405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3363163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 txBox="1"/>
          <p:nvPr/>
        </p:nvSpPr>
        <p:spPr>
          <a:xfrm>
            <a:off x="3363163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3744468" y="9610344"/>
            <a:ext cx="19723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· gen &amp; validar</a:t>
            </a:r>
            <a:endParaRPr lang="en-US" sz="975" dirty="0"/>
          </a:p>
        </p:txBody>
      </p:sp>
      <p:sp>
        <p:nvSpPr>
          <p:cNvPr id="53" name="Shape 46"/>
          <p:cNvSpPr/>
          <p:nvPr/>
        </p:nvSpPr>
        <p:spPr>
          <a:xfrm>
            <a:off x="5634533" y="9448495"/>
            <a:ext cx="2276856" cy="476402"/>
          </a:xfrm>
          <a:prstGeom prst="roundRect">
            <a:avLst>
              <a:gd name="adj" fmla="val 49904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5777179" y="9544507"/>
            <a:ext cx="286207" cy="286207"/>
          </a:xfrm>
          <a:prstGeom prst="roundRect">
            <a:avLst>
              <a:gd name="adj" fmla="val 1661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5777179" y="95445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6158484" y="9610344"/>
            <a:ext cx="191566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 · decisiones</a:t>
            </a:r>
            <a:endParaRPr lang="en-US" sz="975" dirty="0"/>
          </a:p>
        </p:txBody>
      </p:sp>
      <p:sp>
        <p:nvSpPr>
          <p:cNvPr id="57" name="Text 50"/>
          <p:cNvSpPr txBox="1"/>
          <p:nvPr/>
        </p:nvSpPr>
        <p:spPr>
          <a:xfrm>
            <a:off x="10477195" y="9239098"/>
            <a:ext cx="7429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10477195" y="9448495"/>
            <a:ext cx="800100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10477195" y="94484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ERP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11345875" y="9448495"/>
            <a:ext cx="8759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11345875" y="9448495"/>
            <a:ext cx="8769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Packing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12295022" y="9448495"/>
            <a:ext cx="7616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12295022" y="9448495"/>
            <a:ext cx="762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VRP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13130784" y="9448495"/>
            <a:ext cx="800100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13130784" y="94484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Flota/GPS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975" dirty="0"/>
          </a:p>
        </p:txBody>
      </p:sp>
      <p:pic>
        <p:nvPicPr>
          <p:cNvPr id="69" name="Imagen 1" descr="Productos de Aspol en las tiendas de El Corte Inglés">
            <a:extLst>
              <a:ext uri="{FF2B5EF4-FFF2-40B4-BE49-F238E27FC236}">
                <a16:creationId xmlns:a16="http://schemas.microsoft.com/office/drawing/2014/main" id="{04109480-69AD-EEDF-5C39-D062C19CA0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754" b="24774"/>
          <a:stretch>
            <a:fillRect/>
          </a:stretch>
        </p:blipFill>
        <p:spPr>
          <a:xfrm>
            <a:off x="7007733" y="1818868"/>
            <a:ext cx="1085622" cy="5913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l de las navieras en el transporte: guía 2026">
            <a:extLst>
              <a:ext uri="{FF2B5EF4-FFF2-40B4-BE49-F238E27FC236}">
                <a16:creationId xmlns:a16="http://schemas.microsoft.com/office/drawing/2014/main" id="{BA388090-03DF-4D45-BD5B-66C94475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807" y="1944788"/>
            <a:ext cx="8730723" cy="5816221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667305"/>
            <a:ext cx="914400" cy="3840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1143000" y="1904695"/>
            <a:ext cx="6477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1143000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 txBox="1"/>
          <p:nvPr/>
        </p:nvSpPr>
        <p:spPr>
          <a:xfrm>
            <a:off x="1143000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350" dirty="0"/>
          </a:p>
        </p:txBody>
      </p:sp>
      <p:sp>
        <p:nvSpPr>
          <p:cNvPr id="12" name="Shape 4"/>
          <p:cNvSpPr/>
          <p:nvPr/>
        </p:nvSpPr>
        <p:spPr>
          <a:xfrm>
            <a:off x="1714500" y="1938528"/>
            <a:ext cx="4076395" cy="37124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/>
          <p:nvPr/>
        </p:nvSpPr>
        <p:spPr>
          <a:xfrm>
            <a:off x="1714500" y="1938528"/>
            <a:ext cx="40773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NAUTIA ·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r>
              <a:rPr lang="en-US" sz="1050" b="1" kern="0" spc="294" dirty="0"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050" b="1" kern="0" spc="294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regulación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2933395"/>
            <a:ext cx="7810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conocimiento y regulación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3372307"/>
            <a:ext cx="80010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s-ES" sz="4350" b="1" kern="0" spc="-130" dirty="0">
                <a:latin typeface="Inter" pitchFamily="34" charset="0"/>
                <a:ea typeface="Inter" pitchFamily="34" charset="-122"/>
                <a:cs typeface="Inter" pitchFamily="34" charset="-120"/>
              </a:rPr>
              <a:t>Convierte el conocimiento corporativo en un </a:t>
            </a:r>
            <a:r>
              <a:rPr lang="es-E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activo estratégico</a:t>
            </a:r>
            <a:endParaRPr lang="en-US" sz="43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5598454"/>
            <a:ext cx="78108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s-ES" sz="1425" dirty="0">
                <a:latin typeface="Inter" pitchFamily="34" charset="0"/>
                <a:ea typeface="Inter" pitchFamily="34" charset="-122"/>
                <a:cs typeface="Inter" pitchFamily="34" charset="-120"/>
              </a:rPr>
              <a:t>Centraliza documentos técnicos, legales y regulatorios. Ejecuta consultas basadas en roles mediante un RAG + grafo de conocimiento. Detecta lagunas regulatorias, realiza análisis de impacto sobre productos y procesos afectados y responde con fuentes totalmente auditables.</a:t>
            </a:r>
            <a:endParaRPr lang="en-US" sz="1425" dirty="0"/>
          </a:p>
        </p:txBody>
      </p:sp>
      <p:sp>
        <p:nvSpPr>
          <p:cNvPr id="17" name="Shape 9"/>
          <p:cNvSpPr/>
          <p:nvPr/>
        </p:nvSpPr>
        <p:spPr>
          <a:xfrm>
            <a:off x="1143000" y="7141047"/>
            <a:ext cx="3838651" cy="1067105"/>
          </a:xfrm>
          <a:prstGeom prst="roundRect">
            <a:avLst>
              <a:gd name="adj" fmla="val 891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 txBox="1"/>
          <p:nvPr/>
        </p:nvSpPr>
        <p:spPr>
          <a:xfrm>
            <a:off x="1362456" y="7360503"/>
            <a:ext cx="3400654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</a:t>
            </a: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↓</a:t>
            </a:r>
            <a:endParaRPr lang="en-US" sz="3150" dirty="0"/>
          </a:p>
        </p:txBody>
      </p:sp>
      <p:sp>
        <p:nvSpPr>
          <p:cNvPr id="19" name="Text 11"/>
          <p:cNvSpPr txBox="1"/>
          <p:nvPr/>
        </p:nvSpPr>
        <p:spPr>
          <a:xfrm>
            <a:off x="1362456" y="7855193"/>
            <a:ext cx="34006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Riesgo legal y de </a:t>
            </a:r>
            <a:r>
              <a:rPr lang="es-E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825" dirty="0"/>
          </a:p>
        </p:txBody>
      </p:sp>
      <p:sp>
        <p:nvSpPr>
          <p:cNvPr id="20" name="Shape 12"/>
          <p:cNvSpPr/>
          <p:nvPr/>
        </p:nvSpPr>
        <p:spPr>
          <a:xfrm>
            <a:off x="5115154" y="7141047"/>
            <a:ext cx="3838651" cy="1067105"/>
          </a:xfrm>
          <a:prstGeom prst="roundRect">
            <a:avLst>
              <a:gd name="adj" fmla="val 891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 txBox="1"/>
          <p:nvPr/>
        </p:nvSpPr>
        <p:spPr>
          <a:xfrm>
            <a:off x="5333695" y="7360503"/>
            <a:ext cx="3400654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94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Rapidez</a:t>
            </a:r>
            <a:r>
              <a:rPr lang="en-US" sz="3150" b="1" kern="0" spc="-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↑</a:t>
            </a:r>
            <a:endParaRPr lang="en-US" sz="3150" dirty="0"/>
          </a:p>
        </p:txBody>
      </p:sp>
      <p:sp>
        <p:nvSpPr>
          <p:cNvPr id="22" name="Text 14"/>
          <p:cNvSpPr txBox="1"/>
          <p:nvPr/>
        </p:nvSpPr>
        <p:spPr>
          <a:xfrm>
            <a:off x="5333695" y="7855193"/>
            <a:ext cx="34006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Respuestas</a:t>
            </a:r>
            <a:r>
              <a:rPr lang="en-US" sz="825" b="1" kern="0" spc="182" dirty="0">
                <a:latin typeface="Inter" pitchFamily="34" charset="0"/>
                <a:ea typeface="Inter" pitchFamily="34" charset="-122"/>
                <a:cs typeface="Inter" pitchFamily="34" charset="-120"/>
              </a:rPr>
              <a:t> de la </a:t>
            </a:r>
            <a:r>
              <a:rPr lang="en-US" sz="825" b="1" kern="0" spc="182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organización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8474242"/>
            <a:ext cx="1219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24" name="Shape 16"/>
          <p:cNvSpPr/>
          <p:nvPr/>
        </p:nvSpPr>
        <p:spPr>
          <a:xfrm>
            <a:off x="1143000" y="8741247"/>
            <a:ext cx="1848002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1285646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1285646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975" dirty="0"/>
          </a:p>
        </p:txBody>
      </p:sp>
      <p:sp>
        <p:nvSpPr>
          <p:cNvPr id="27" name="Text 19"/>
          <p:cNvSpPr txBox="1"/>
          <p:nvPr/>
        </p:nvSpPr>
        <p:spPr>
          <a:xfrm>
            <a:off x="1723644" y="8868349"/>
            <a:ext cx="11247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1723644" y="9033855"/>
            <a:ext cx="12454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Inter" pitchFamily="34" charset="0"/>
                <a:ea typeface="Inter" pitchFamily="34" charset="-122"/>
                <a:cs typeface="Inter" pitchFamily="34" charset="-120"/>
              </a:rPr>
              <a:t>RAG + </a:t>
            </a:r>
            <a:r>
              <a:rPr lang="en-US" sz="8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Grafo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098902" y="8741247"/>
            <a:ext cx="2018995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3241548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3241548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975" dirty="0"/>
          </a:p>
        </p:txBody>
      </p:sp>
      <p:sp>
        <p:nvSpPr>
          <p:cNvPr id="32" name="Text 24"/>
          <p:cNvSpPr txBox="1"/>
          <p:nvPr/>
        </p:nvSpPr>
        <p:spPr>
          <a:xfrm>
            <a:off x="3680460" y="8868349"/>
            <a:ext cx="1295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3680460" y="9033855"/>
            <a:ext cx="15416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Inter" pitchFamily="34" charset="0"/>
                <a:ea typeface="Inter" pitchFamily="34" charset="-122"/>
                <a:cs typeface="Inter" pitchFamily="34" charset="-120"/>
              </a:rPr>
              <a:t>Control </a:t>
            </a:r>
            <a:r>
              <a:rPr lang="en-US" sz="8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Regulatorio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5232197" y="8741247"/>
            <a:ext cx="1732483" cy="533095"/>
          </a:xfrm>
          <a:prstGeom prst="roundRect">
            <a:avLst>
              <a:gd name="adj" fmla="val 1783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5374843" y="8846403"/>
            <a:ext cx="323698" cy="323698"/>
          </a:xfrm>
          <a:prstGeom prst="roundRect">
            <a:avLst>
              <a:gd name="adj" fmla="val 1779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5374843" y="8846403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975" dirty="0"/>
          </a:p>
        </p:txBody>
      </p:sp>
      <p:sp>
        <p:nvSpPr>
          <p:cNvPr id="37" name="Text 29"/>
          <p:cNvSpPr txBox="1"/>
          <p:nvPr/>
        </p:nvSpPr>
        <p:spPr>
          <a:xfrm>
            <a:off x="5812841" y="8868349"/>
            <a:ext cx="7050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Ofertas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812841" y="9033855"/>
            <a:ext cx="9637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00" dirty="0">
                <a:latin typeface="Inter" pitchFamily="34" charset="0"/>
                <a:ea typeface="Inter" pitchFamily="34" charset="-122"/>
              </a:rPr>
              <a:t>C</a:t>
            </a:r>
            <a:r>
              <a:rPr lang="en-US" sz="800" dirty="0" err="1">
                <a:latin typeface="Inter" pitchFamily="34" charset="0"/>
                <a:ea typeface="Inter" pitchFamily="34" charset="-122"/>
              </a:rPr>
              <a:t>umplimiento</a:t>
            </a:r>
            <a:r>
              <a:rPr lang="en-US" sz="800" dirty="0">
                <a:latin typeface="Inter" pitchFamily="34" charset="0"/>
                <a:ea typeface="Inter" pitchFamily="34" charset="-122"/>
              </a:rPr>
              <a:t> </a:t>
            </a:r>
            <a:r>
              <a:rPr lang="en-US" sz="800" dirty="0" err="1">
                <a:latin typeface="Inter" pitchFamily="34" charset="0"/>
                <a:ea typeface="Inter" pitchFamily="34" charset="-122"/>
              </a:rPr>
              <a:t>Ofertas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9715500" y="6667805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75" b="1" kern="0" spc="2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estratégico</a:t>
            </a:r>
            <a:endParaRPr lang="en-US" sz="975" dirty="0"/>
          </a:p>
        </p:txBody>
      </p:sp>
      <p:sp>
        <p:nvSpPr>
          <p:cNvPr id="40" name="Text 32"/>
          <p:cNvSpPr txBox="1"/>
          <p:nvPr/>
        </p:nvSpPr>
        <p:spPr>
          <a:xfrm>
            <a:off x="9715500" y="6915607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800" b="1" kern="0" spc="-3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r>
              <a:rPr lang="es-ES" sz="1800" b="1" kern="0" spc="-3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proactivo.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s-ES" sz="1800" b="1" kern="0" spc="-3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Fuentes auditables. Respuestas con citas.</a:t>
            </a:r>
            <a:endParaRPr lang="en-US" sz="1800" dirty="0"/>
          </a:p>
        </p:txBody>
      </p:sp>
      <p:pic>
        <p:nvPicPr>
          <p:cNvPr id="44" name="Picture 84" descr="A logo for a company&#10;&#10;AI-generated content may be incorrect.">
            <a:extLst>
              <a:ext uri="{FF2B5EF4-FFF2-40B4-BE49-F238E27FC236}">
                <a16:creationId xmlns:a16="http://schemas.microsoft.com/office/drawing/2014/main" id="{9DFEECFF-94A5-65F3-A76C-6DBB4CE316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9" t="37457" r="4981" b="41659"/>
          <a:stretch>
            <a:fillRect/>
          </a:stretch>
        </p:blipFill>
        <p:spPr>
          <a:xfrm>
            <a:off x="6200972" y="1919569"/>
            <a:ext cx="2076665" cy="490790"/>
          </a:xfrm>
          <a:prstGeom prst="rect">
            <a:avLst/>
          </a:prstGeom>
        </p:spPr>
      </p:pic>
      <p:pic>
        <p:nvPicPr>
          <p:cNvPr id="46" name="Image 1" descr="gen-dedup-3fc9b6bd6bd01734c54b10a0f11af3f3.png">
            <a:extLst>
              <a:ext uri="{FF2B5EF4-FFF2-40B4-BE49-F238E27FC236}">
                <a16:creationId xmlns:a16="http://schemas.microsoft.com/office/drawing/2014/main" id="{A9FA4555-CE70-409F-7465-26AA6FF7C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4b88e9736d283ff64a91abc9bd3cc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305" cy="10287514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6476695" y="2667305"/>
            <a:ext cx="914400" cy="38405"/>
          </a:xfrm>
          <a:prstGeom prst="rect">
            <a:avLst/>
          </a:prstGeom>
        </p:spPr>
      </p:pic>
      <p:pic>
        <p:nvPicPr>
          <p:cNvPr id="6" name="Image 4" descr="gen-dedup-8a4746f7ae18871903d6c6f0da58ca5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476695" y="1904695"/>
            <a:ext cx="10858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211"/>
              </a:lnSpc>
              <a:buNone/>
            </a:pPr>
            <a:endParaRPr lang="en-US" sz="1200" dirty="0"/>
          </a:p>
        </p:txBody>
      </p:sp>
      <p:sp>
        <p:nvSpPr>
          <p:cNvPr id="9" name="Shape 2"/>
          <p:cNvSpPr/>
          <p:nvPr/>
        </p:nvSpPr>
        <p:spPr>
          <a:xfrm>
            <a:off x="6476695" y="1904695"/>
            <a:ext cx="437998" cy="437998"/>
          </a:xfrm>
          <a:prstGeom prst="roundRect">
            <a:avLst>
              <a:gd name="adj" fmla="val 17328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3"/>
          <p:cNvSpPr txBox="1"/>
          <p:nvPr/>
        </p:nvSpPr>
        <p:spPr>
          <a:xfrm>
            <a:off x="6476695" y="1904695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350" dirty="0"/>
          </a:p>
        </p:txBody>
      </p:sp>
      <p:sp>
        <p:nvSpPr>
          <p:cNvPr id="11" name="Shape 4"/>
          <p:cNvSpPr/>
          <p:nvPr/>
        </p:nvSpPr>
        <p:spPr>
          <a:xfrm>
            <a:off x="7048195" y="1938528"/>
            <a:ext cx="4390949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/>
          <p:cNvSpPr/>
          <p:nvPr/>
        </p:nvSpPr>
        <p:spPr>
          <a:xfrm>
            <a:off x="7048195" y="1938528"/>
            <a:ext cx="4391863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ctr">
              <a:buNone/>
            </a:pPr>
            <a:r>
              <a:rPr lang="en-US" sz="105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DEL MAR · Naval e </a:t>
            </a:r>
            <a:r>
              <a:rPr lang="en-US" sz="1050" b="1" kern="0" spc="252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6476695" y="2933395"/>
            <a:ext cx="10858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operaciones ERP sobre </a:t>
            </a:r>
            <a:r>
              <a:rPr lang="es-ES" sz="1125" b="1" kern="0" spc="315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125" dirty="0"/>
          </a:p>
        </p:txBody>
      </p:sp>
      <p:sp>
        <p:nvSpPr>
          <p:cNvPr id="14" name="Text 7"/>
          <p:cNvSpPr txBox="1"/>
          <p:nvPr/>
        </p:nvSpPr>
        <p:spPr>
          <a:xfrm>
            <a:off x="6476695" y="3372307"/>
            <a:ext cx="11615623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4350" b="1" kern="0" spc="-1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Operabilidad real </a:t>
            </a:r>
            <a:r>
              <a:rPr lang="es-ES" sz="4350" b="1" kern="0" spc="-130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sobre el ERP</a:t>
            </a:r>
            <a:endParaRPr lang="en-US" sz="4350" dirty="0"/>
          </a:p>
        </p:txBody>
      </p:sp>
      <p:sp>
        <p:nvSpPr>
          <p:cNvPr id="15" name="Text 8"/>
          <p:cNvSpPr txBox="1"/>
          <p:nvPr/>
        </p:nvSpPr>
        <p:spPr>
          <a:xfrm>
            <a:off x="6476695" y="4572000"/>
            <a:ext cx="1085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y automatiza procesos operativos utilizando </a:t>
            </a:r>
            <a:r>
              <a:rPr lang="es-ES" sz="1350" dirty="0" err="1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r>
              <a:rPr lang="es-E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ERP/CRM como núcleo central de datos. Sobre esta base se incorporan agentes de cálculo y un agente de, todos compartiendo un único histórico operativo. El trabajo manual repetitivo se sustituye por una operabilidad basada en IA, compartida y trazable.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6476695" y="5952744"/>
            <a:ext cx="10858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EN ESTE CASO</a:t>
            </a:r>
            <a:endParaRPr lang="en-US" sz="825" dirty="0"/>
          </a:p>
        </p:txBody>
      </p:sp>
      <p:sp>
        <p:nvSpPr>
          <p:cNvPr id="17" name="Shape 10"/>
          <p:cNvSpPr/>
          <p:nvPr/>
        </p:nvSpPr>
        <p:spPr>
          <a:xfrm>
            <a:off x="647669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63854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663854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114946" y="6382512"/>
            <a:ext cx="14767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25" dirty="0"/>
          </a:p>
        </p:txBody>
      </p:sp>
      <p:sp>
        <p:nvSpPr>
          <p:cNvPr id="21" name="Text 14"/>
          <p:cNvSpPr txBox="1"/>
          <p:nvPr/>
        </p:nvSpPr>
        <p:spPr>
          <a:xfrm>
            <a:off x="7114946" y="6568135"/>
            <a:ext cx="175747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Correo</a:t>
            </a:r>
            <a:endParaRPr lang="en-US" sz="825" dirty="0"/>
          </a:p>
        </p:txBody>
      </p:sp>
      <p:sp>
        <p:nvSpPr>
          <p:cNvPr id="22" name="Shape 15"/>
          <p:cNvSpPr/>
          <p:nvPr/>
        </p:nvSpPr>
        <p:spPr>
          <a:xfrm>
            <a:off x="895380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911565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911565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9592056" y="6382512"/>
            <a:ext cx="13533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9592056" y="6568135"/>
            <a:ext cx="1610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CRM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11430000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11591849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11591849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12068251" y="6382512"/>
            <a:ext cx="12481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1125" dirty="0"/>
          </a:p>
        </p:txBody>
      </p:sp>
      <p:sp>
        <p:nvSpPr>
          <p:cNvPr id="31" name="Text 24"/>
          <p:cNvSpPr txBox="1"/>
          <p:nvPr/>
        </p:nvSpPr>
        <p:spPr>
          <a:xfrm>
            <a:off x="12068251" y="6568135"/>
            <a:ext cx="14849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Calculos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estimaciones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13906195" y="6219749"/>
            <a:ext cx="2361895" cy="647395"/>
          </a:xfrm>
          <a:prstGeom prst="roundRect">
            <a:avLst>
              <a:gd name="adj" fmla="val 14689"/>
            </a:avLst>
          </a:prstGeom>
          <a:solidFill>
            <a:srgbClr val="FFFFFF"/>
          </a:solidFill>
          <a:ln w="12700">
            <a:solidFill>
              <a:srgbClr val="E6A81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4068044" y="6362395"/>
            <a:ext cx="362102" cy="362102"/>
          </a:xfrm>
          <a:prstGeom prst="roundRect">
            <a:avLst>
              <a:gd name="adj" fmla="val 18434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14068044" y="6362395"/>
            <a:ext cx="3621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4544446" y="6382512"/>
            <a:ext cx="1448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125" dirty="0"/>
          </a:p>
        </p:txBody>
      </p:sp>
      <p:sp>
        <p:nvSpPr>
          <p:cNvPr id="36" name="Text 29"/>
          <p:cNvSpPr txBox="1"/>
          <p:nvPr/>
        </p:nvSpPr>
        <p:spPr>
          <a:xfrm>
            <a:off x="14544446" y="6568135"/>
            <a:ext cx="172364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</a:t>
            </a: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25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Operativas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6476695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6687007" y="8210398"/>
            <a:ext cx="31153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↑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6687007" y="8648395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Operabilidad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 </a:t>
            </a: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integrada</a:t>
            </a:r>
            <a:endParaRPr lang="en-US" sz="825" dirty="0"/>
          </a:p>
        </p:txBody>
      </p:sp>
      <p:sp>
        <p:nvSpPr>
          <p:cNvPr id="40" name="Shape 33"/>
          <p:cNvSpPr/>
          <p:nvPr/>
        </p:nvSpPr>
        <p:spPr>
          <a:xfrm>
            <a:off x="10140696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0350094" y="8210398"/>
            <a:ext cx="31153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8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  <p:sp>
        <p:nvSpPr>
          <p:cNvPr id="42" name="Text 35"/>
          <p:cNvSpPr txBox="1"/>
          <p:nvPr/>
        </p:nvSpPr>
        <p:spPr>
          <a:xfrm>
            <a:off x="10350094" y="8648395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Reutilización</a:t>
            </a:r>
            <a:r>
              <a:rPr lang="en-US" sz="825" b="1" kern="0" spc="18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825" b="1" kern="0" spc="182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825" dirty="0"/>
          </a:p>
        </p:txBody>
      </p:sp>
      <p:sp>
        <p:nvSpPr>
          <p:cNvPr id="43" name="Shape 36"/>
          <p:cNvSpPr/>
          <p:nvPr/>
        </p:nvSpPr>
        <p:spPr>
          <a:xfrm>
            <a:off x="13804697" y="8001000"/>
            <a:ext cx="3534156" cy="990295"/>
          </a:xfrm>
          <a:prstGeom prst="roundRect">
            <a:avLst>
              <a:gd name="adj" fmla="val 960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4014094" y="8210398"/>
            <a:ext cx="311536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6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</a:t>
            </a:r>
            <a:r>
              <a:rPr lang="en-US" sz="2100" b="1" kern="0" spc="-63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común</a:t>
            </a:r>
            <a:endParaRPr lang="en-US" sz="2100" dirty="0"/>
          </a:p>
        </p:txBody>
      </p:sp>
      <p:sp>
        <p:nvSpPr>
          <p:cNvPr id="45" name="Text 38"/>
          <p:cNvSpPr txBox="1"/>
          <p:nvPr/>
        </p:nvSpPr>
        <p:spPr>
          <a:xfrm>
            <a:off x="14014094" y="8572500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825" b="1" kern="0" spc="18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y menor trabajo manual</a:t>
            </a:r>
            <a:endParaRPr lang="en-US" sz="825" dirty="0"/>
          </a:p>
        </p:txBody>
      </p:sp>
      <p:sp>
        <p:nvSpPr>
          <p:cNvPr id="46" name="Text 39"/>
          <p:cNvSpPr txBox="1"/>
          <p:nvPr/>
        </p:nvSpPr>
        <p:spPr>
          <a:xfrm>
            <a:off x="6476695" y="9510674"/>
            <a:ext cx="8485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CONNECTADO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7457846" y="9430207"/>
            <a:ext cx="1104595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7457846" y="9430207"/>
            <a:ext cx="11055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ERP/CRM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8633765" y="9430207"/>
            <a:ext cx="1133856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8633765" y="9430207"/>
            <a:ext cx="11338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9842602" y="9430207"/>
            <a:ext cx="1324051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9842602" y="9430207"/>
            <a:ext cx="13240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Historico</a:t>
            </a: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Operativo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11238890" y="9430207"/>
            <a:ext cx="1086307" cy="2761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F1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11238890" y="9430207"/>
            <a:ext cx="10863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</a:t>
            </a:r>
            <a:r>
              <a:rPr lang="en-US" sz="900" b="1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</a:t>
            </a:r>
            <a:endParaRPr lang="en-US" sz="9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4DB2F71-798F-BF6A-EE52-9C5FBE6699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416"/>
          <a:stretch>
            <a:fillRect/>
          </a:stretch>
        </p:blipFill>
        <p:spPr>
          <a:xfrm>
            <a:off x="-5984939" y="-87874"/>
            <a:ext cx="12095834" cy="10375388"/>
          </a:xfrm>
          <a:prstGeom prst="rect">
            <a:avLst/>
          </a:prstGeom>
        </p:spPr>
      </p:pic>
      <p:pic>
        <p:nvPicPr>
          <p:cNvPr id="3" name="Image 1" descr="gen-dedup-c3ec90e9ea6fed6a7eaf82e6ecb0a87b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10058" y="0"/>
            <a:ext cx="6096305" cy="10287000"/>
          </a:xfrm>
          <a:prstGeom prst="rect">
            <a:avLst/>
          </a:prstGeom>
        </p:spPr>
      </p:pic>
      <p:pic>
        <p:nvPicPr>
          <p:cNvPr id="60" name="Picture 84" descr="A logo for a company&#10;&#10;AI-generated content may be incorrect.">
            <a:extLst>
              <a:ext uri="{FF2B5EF4-FFF2-40B4-BE49-F238E27FC236}">
                <a16:creationId xmlns:a16="http://schemas.microsoft.com/office/drawing/2014/main" id="{544DE1EC-C7BE-A41F-7283-029F8089B5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649" t="37457" r="4981" b="41659"/>
          <a:stretch>
            <a:fillRect/>
          </a:stretch>
        </p:blipFill>
        <p:spPr>
          <a:xfrm>
            <a:off x="11728032" y="1919569"/>
            <a:ext cx="2076665" cy="490790"/>
          </a:xfrm>
          <a:prstGeom prst="rect">
            <a:avLst/>
          </a:prstGeom>
        </p:spPr>
      </p:pic>
      <p:pic>
        <p:nvPicPr>
          <p:cNvPr id="62" name="Image 1" descr="gen-dedup-3fc9b6bd6bd01734c54b10a0f11af3f3.png">
            <a:extLst>
              <a:ext uri="{FF2B5EF4-FFF2-40B4-BE49-F238E27FC236}">
                <a16:creationId xmlns:a16="http://schemas.microsoft.com/office/drawing/2014/main" id="{81B167B5-F151-B657-CAC2-5E25323432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365A-9B7D-1167-C2F8-44301FB9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>
            <a:extLst>
              <a:ext uri="{FF2B5EF4-FFF2-40B4-BE49-F238E27FC236}">
                <a16:creationId xmlns:a16="http://schemas.microsoft.com/office/drawing/2014/main" id="{2D79B434-CBFC-5BAA-1A87-C66A5C28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7d4da1bf1910daef42c9babebc62b73.png">
            <a:extLst>
              <a:ext uri="{FF2B5EF4-FFF2-40B4-BE49-F238E27FC236}">
                <a16:creationId xmlns:a16="http://schemas.microsoft.com/office/drawing/2014/main" id="{87E491DC-5763-856C-AADF-01823C458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4" name="Image 2" descr="gen-dedup-88517622ce00ba509b5675516fbb8565.png">
            <a:extLst>
              <a:ext uri="{FF2B5EF4-FFF2-40B4-BE49-F238E27FC236}">
                <a16:creationId xmlns:a16="http://schemas.microsoft.com/office/drawing/2014/main" id="{397A00F3-82A3-94C5-E429-855240F0F5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6E2830E-D988-74DD-8675-18C07893B4E3}"/>
              </a:ext>
            </a:extLst>
          </p:cNvPr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E655637-ED9C-F44A-0F57-8601EE4B4412}"/>
              </a:ext>
            </a:extLst>
          </p:cNvPr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7CB2E0A-E30C-F350-CFFA-8D22E90EA53D}"/>
              </a:ext>
            </a:extLst>
          </p:cNvPr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</a:t>
            </a:r>
            <a:r>
              <a:rPr lang="en-US" sz="1200" b="1" kern="0" spc="33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Agentiva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E8737DF-A661-F93F-5939-A93043E7A099}"/>
              </a:ext>
            </a:extLst>
          </p:cNvPr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Nuestros </a:t>
            </a:r>
            <a:r>
              <a:rPr lang="en-US" sz="11250" b="1" kern="0" spc="-450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11250" dirty="0">
              <a:solidFill>
                <a:srgbClr val="FFC000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B5D02F9-6977-15CC-0698-9E7BAAB4B2DD}"/>
              </a:ext>
            </a:extLst>
          </p:cNvPr>
          <p:cNvSpPr txBox="1"/>
          <p:nvPr/>
        </p:nvSpPr>
        <p:spPr>
          <a:xfrm>
            <a:off x="3238805" y="6953098"/>
            <a:ext cx="12382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endParaRPr lang="en-US" sz="2250" dirty="0"/>
          </a:p>
        </p:txBody>
      </p:sp>
      <p:pic>
        <p:nvPicPr>
          <p:cNvPr id="12" name="Image 4" descr="gen-dedup-265bb08fe2905cdc8d45275c3826a70d.png">
            <a:extLst>
              <a:ext uri="{FF2B5EF4-FFF2-40B4-BE49-F238E27FC236}">
                <a16:creationId xmlns:a16="http://schemas.microsoft.com/office/drawing/2014/main" id="{4652B623-1D54-47D0-40DE-B8C353E40A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0" r="-10"/>
          <a:stretch/>
        </p:blipFill>
        <p:spPr>
          <a:xfrm>
            <a:off x="3238805" y="8762695"/>
            <a:ext cx="13334695" cy="6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6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5bfef8bdeb5f3df44df7e375e5e6d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43500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430207" y="5143500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647669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430207" y="647669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781080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30207" y="7810805"/>
            <a:ext cx="7715707" cy="1095451"/>
          </a:xfrm>
          <a:prstGeom prst="roundRect">
            <a:avLst>
              <a:gd name="adj" fmla="val 350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1" name="Image 3" descr="gen-dedup-21010b4c20abbbcb8e45be4e38abdc38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2190902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corre en producción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619756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</a:t>
            </a:r>
            <a:r>
              <a:rPr lang="en-US" sz="4650" b="1" kern="0" spc="-139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4650" b="1" kern="0" spc="-139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Catalogados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4650" dirty="0"/>
          </a:p>
        </p:txBody>
      </p:sp>
      <p:sp>
        <p:nvSpPr>
          <p:cNvPr id="15" name="Shape 9"/>
          <p:cNvSpPr/>
          <p:nvPr/>
        </p:nvSpPr>
        <p:spPr>
          <a:xfrm>
            <a:off x="1143000" y="3810305"/>
            <a:ext cx="16002000" cy="118140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1143000" y="4028846"/>
            <a:ext cx="36960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</a:t>
            </a:r>
            <a:endParaRPr lang="en-US" sz="825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4238244"/>
            <a:ext cx="36960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3450" dirty="0"/>
          </a:p>
        </p:txBody>
      </p:sp>
      <p:sp>
        <p:nvSpPr>
          <p:cNvPr id="18" name="Shape 12"/>
          <p:cNvSpPr/>
          <p:nvPr/>
        </p:nvSpPr>
        <p:spPr>
          <a:xfrm>
            <a:off x="51435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54580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en producción</a:t>
            </a:r>
            <a:endParaRPr lang="en-US" sz="825" dirty="0"/>
          </a:p>
        </p:txBody>
      </p:sp>
      <p:sp>
        <p:nvSpPr>
          <p:cNvPr id="20" name="Text 14"/>
          <p:cNvSpPr txBox="1"/>
          <p:nvPr/>
        </p:nvSpPr>
        <p:spPr>
          <a:xfrm>
            <a:off x="54580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14+</a:t>
            </a:r>
            <a:endParaRPr lang="en-US" sz="3450" dirty="0"/>
          </a:p>
        </p:txBody>
      </p:sp>
      <p:sp>
        <p:nvSpPr>
          <p:cNvPr id="21" name="Shape 15"/>
          <p:cNvSpPr/>
          <p:nvPr/>
        </p:nvSpPr>
        <p:spPr>
          <a:xfrm>
            <a:off x="91440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94585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Sectores cubiertos</a:t>
            </a:r>
            <a:endParaRPr lang="en-US" sz="825" dirty="0"/>
          </a:p>
        </p:txBody>
      </p:sp>
      <p:sp>
        <p:nvSpPr>
          <p:cNvPr id="23" name="Text 17"/>
          <p:cNvSpPr txBox="1"/>
          <p:nvPr/>
        </p:nvSpPr>
        <p:spPr>
          <a:xfrm>
            <a:off x="94585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450" dirty="0"/>
          </a:p>
        </p:txBody>
      </p:sp>
      <p:sp>
        <p:nvSpPr>
          <p:cNvPr id="24" name="Shape 18"/>
          <p:cNvSpPr/>
          <p:nvPr/>
        </p:nvSpPr>
        <p:spPr>
          <a:xfrm>
            <a:off x="13144500" y="3819449"/>
            <a:ext cx="9144" cy="11622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13459054" y="4028846"/>
            <a:ext cx="3381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a producción</a:t>
            </a:r>
            <a:endParaRPr lang="en-US" sz="825" dirty="0"/>
          </a:p>
        </p:txBody>
      </p:sp>
      <p:sp>
        <p:nvSpPr>
          <p:cNvPr id="26" name="Text 20"/>
          <p:cNvSpPr txBox="1"/>
          <p:nvPr/>
        </p:nvSpPr>
        <p:spPr>
          <a:xfrm>
            <a:off x="13459054" y="4238244"/>
            <a:ext cx="33814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10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6–14 sem</a:t>
            </a:r>
            <a:endParaRPr lang="en-US" sz="34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53336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25" dirty="0"/>
          </a:p>
        </p:txBody>
      </p:sp>
      <p:sp>
        <p:nvSpPr>
          <p:cNvPr id="28" name="Text 22"/>
          <p:cNvSpPr txBox="1"/>
          <p:nvPr/>
        </p:nvSpPr>
        <p:spPr>
          <a:xfrm>
            <a:off x="1371600" y="54864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371600" y="5781751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operativa 24/7, en su idioma.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7524598" y="5486400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9658807" y="53336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25" dirty="0"/>
          </a:p>
        </p:txBody>
      </p:sp>
      <p:sp>
        <p:nvSpPr>
          <p:cNvPr id="32" name="Text 26"/>
          <p:cNvSpPr txBox="1"/>
          <p:nvPr/>
        </p:nvSpPr>
        <p:spPr>
          <a:xfrm>
            <a:off x="9658807" y="54864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y Oferta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658807" y="5781751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 a BC3 firmado en dos horas.</a:t>
            </a:r>
            <a:endParaRPr lang="en-US" sz="975" dirty="0"/>
          </a:p>
        </p:txBody>
      </p:sp>
      <p:sp>
        <p:nvSpPr>
          <p:cNvPr id="34" name="Text 28"/>
          <p:cNvSpPr txBox="1"/>
          <p:nvPr/>
        </p:nvSpPr>
        <p:spPr>
          <a:xfrm>
            <a:off x="15811805" y="5486400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75" dirty="0"/>
          </a:p>
        </p:txBody>
      </p:sp>
      <p:sp>
        <p:nvSpPr>
          <p:cNvPr id="35" name="Text 29"/>
          <p:cNvSpPr txBox="1"/>
          <p:nvPr/>
        </p:nvSpPr>
        <p:spPr>
          <a:xfrm>
            <a:off x="1371600" y="66678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25" dirty="0"/>
          </a:p>
        </p:txBody>
      </p:sp>
      <p:sp>
        <p:nvSpPr>
          <p:cNvPr id="36" name="Text 30"/>
          <p:cNvSpPr txBox="1"/>
          <p:nvPr/>
        </p:nvSpPr>
        <p:spPr>
          <a:xfrm>
            <a:off x="1371600" y="681959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371600" y="7114946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atendidas, estructuradas, escaladas.</a:t>
            </a:r>
            <a:endParaRPr lang="en-US" sz="975" dirty="0"/>
          </a:p>
        </p:txBody>
      </p:sp>
      <p:sp>
        <p:nvSpPr>
          <p:cNvPr id="38" name="Text 32"/>
          <p:cNvSpPr txBox="1"/>
          <p:nvPr/>
        </p:nvSpPr>
        <p:spPr>
          <a:xfrm>
            <a:off x="7524598" y="681959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75" dirty="0"/>
          </a:p>
        </p:txBody>
      </p:sp>
      <p:sp>
        <p:nvSpPr>
          <p:cNvPr id="39" name="Text 33"/>
          <p:cNvSpPr txBox="1"/>
          <p:nvPr/>
        </p:nvSpPr>
        <p:spPr>
          <a:xfrm>
            <a:off x="9658807" y="66678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25" dirty="0"/>
          </a:p>
        </p:txBody>
      </p:sp>
      <p:sp>
        <p:nvSpPr>
          <p:cNvPr id="40" name="Text 34"/>
          <p:cNvSpPr txBox="1"/>
          <p:nvPr/>
        </p:nvSpPr>
        <p:spPr>
          <a:xfrm>
            <a:off x="9658807" y="681959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CRM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9658807" y="711494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al día. Pipeline enriquecido.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5811805" y="681959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371600" y="80010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371600" y="815370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1371600" y="84490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a ERP. Stock-aware.</a:t>
            </a:r>
            <a:endParaRPr lang="en-US" sz="975" dirty="0"/>
          </a:p>
        </p:txBody>
      </p:sp>
      <p:sp>
        <p:nvSpPr>
          <p:cNvPr id="46" name="Text 40"/>
          <p:cNvSpPr txBox="1"/>
          <p:nvPr/>
        </p:nvSpPr>
        <p:spPr>
          <a:xfrm>
            <a:off x="7524598" y="815370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75" dirty="0"/>
          </a:p>
        </p:txBody>
      </p:sp>
      <p:sp>
        <p:nvSpPr>
          <p:cNvPr id="47" name="Text 41"/>
          <p:cNvSpPr txBox="1"/>
          <p:nvPr/>
        </p:nvSpPr>
        <p:spPr>
          <a:xfrm>
            <a:off x="9658807" y="80010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25" dirty="0"/>
          </a:p>
        </p:txBody>
      </p:sp>
      <p:sp>
        <p:nvSpPr>
          <p:cNvPr id="48" name="Text 42"/>
          <p:cNvSpPr txBox="1"/>
          <p:nvPr/>
        </p:nvSpPr>
        <p:spPr>
          <a:xfrm>
            <a:off x="9658807" y="815370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Docs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9658807" y="84490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Notas, facturas, conciliación.</a:t>
            </a:r>
            <a:endParaRPr lang="en-US" sz="975" dirty="0"/>
          </a:p>
        </p:txBody>
      </p:sp>
      <p:sp>
        <p:nvSpPr>
          <p:cNvPr id="50" name="Text 44"/>
          <p:cNvSpPr txBox="1"/>
          <p:nvPr/>
        </p:nvSpPr>
        <p:spPr>
          <a:xfrm>
            <a:off x="15811805" y="815370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56" dirty="0">
                <a:solidFill>
                  <a:srgbClr val="E6A817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75" dirty="0"/>
          </a:p>
        </p:txBody>
      </p:sp>
      <p:sp>
        <p:nvSpPr>
          <p:cNvPr id="51" name="Text 45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continuación, una página por agente y un caso de producción emparejado.</a:t>
            </a:r>
            <a:endParaRPr lang="en-US" sz="975" dirty="0"/>
          </a:p>
        </p:txBody>
      </p:sp>
      <p:sp>
        <p:nvSpPr>
          <p:cNvPr id="52" name="Text 46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50</a:t>
            </a:r>
            <a:endParaRPr lang="en-US" sz="9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4695" y="0"/>
            <a:ext cx="4953305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gen-dedup-19ad3cfe06ac7578f60b702bacbfe975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3334695" y="0"/>
            <a:ext cx="4953305" cy="10287000"/>
          </a:xfrm>
          <a:prstGeom prst="rect">
            <a:avLst/>
          </a:prstGeom>
        </p:spPr>
      </p:pic>
      <p:pic>
        <p:nvPicPr>
          <p:cNvPr id="5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350" dirty="0"/>
          </a:p>
        </p:txBody>
      </p:sp>
      <p:sp>
        <p:nvSpPr>
          <p:cNvPr id="8" name="Text 3"/>
          <p:cNvSpPr txBox="1"/>
          <p:nvPr/>
        </p:nvSpPr>
        <p:spPr>
          <a:xfrm>
            <a:off x="1886407" y="2115007"/>
            <a:ext cx="22009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email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857500"/>
            <a:ext cx="11239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Correo.</a:t>
            </a:r>
            <a:endParaRPr lang="en-US" sz="55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3733495"/>
            <a:ext cx="11239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kern="0" spc="-8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buzón corporativo trabajando solo, 24/7.</a:t>
            </a:r>
            <a:endParaRPr lang="en-US" sz="1650" dirty="0"/>
          </a:p>
        </p:txBody>
      </p:sp>
      <p:sp>
        <p:nvSpPr>
          <p:cNvPr id="11" name="Text 6"/>
          <p:cNvSpPr txBox="1"/>
          <p:nvPr/>
        </p:nvSpPr>
        <p:spPr>
          <a:xfrm>
            <a:off x="1181405" y="4304995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 el buzón, lee cada correo, extrae la intención y compone un borrador fundamentado en su documentación. El operario revisa, no redacta.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524805"/>
            <a:ext cx="11239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345082" y="5905195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24/7 del correo entrante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29907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231075" y="5905195"/>
            <a:ext cx="38633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con RAG sobre su documentación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45082" y="6292901"/>
            <a:ext cx="34774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completa por conversación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29907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231075" y="6292901"/>
            <a:ext cx="289041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de validación con un clic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345082" y="6681521"/>
            <a:ext cx="27660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sus plantillas y su tono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29907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231075" y="6681521"/>
            <a:ext cx="349940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en el ERP desde la conversación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3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3631997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7"/>
          <p:cNvSpPr txBox="1"/>
          <p:nvPr/>
        </p:nvSpPr>
        <p:spPr>
          <a:xfrm>
            <a:off x="3631997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4310482" y="8762695"/>
            <a:ext cx="129570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4310482" y="8762695"/>
            <a:ext cx="12957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5696712" y="8762695"/>
            <a:ext cx="56235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5696712" y="8762695"/>
            <a:ext cx="56235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0A0F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del borrador</a:t>
            </a:r>
            <a:endParaRPr lang="en-US" sz="825" dirty="0"/>
          </a:p>
        </p:txBody>
      </p:sp>
      <p:pic>
        <p:nvPicPr>
          <p:cNvPr id="38" name="Image 3" descr="gen-dedup-50d3e7a98fe574315dfc6babce433886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14287500" y="2286000"/>
            <a:ext cx="3619195" cy="236372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525244" y="2505456"/>
            <a:ext cx="3143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De: comercial@cliente.eu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4525244" y="2704795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¿Confirmáis que el pedido 2024-0871 ha salido? Necesito el albarán.</a:t>
            </a:r>
            <a:endParaRPr lang="en-US" sz="1050" dirty="0"/>
          </a:p>
        </p:txBody>
      </p:sp>
      <p:pic>
        <p:nvPicPr>
          <p:cNvPr id="41" name="Image 4" descr="gen-dedup-c6b19a81574acf00f6b41fa9d34d3528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14525244" y="3211373"/>
            <a:ext cx="3143707" cy="914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4525244" y="3354934"/>
            <a:ext cx="3143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Borrador generado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4525244" y="357347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salió ayer a las 14:20. Adjunto albarán A-9981. Quedamos a su disposición.</a:t>
            </a:r>
            <a:endParaRPr lang="en-US" sz="975" dirty="0"/>
          </a:p>
        </p:txBody>
      </p:sp>
      <p:sp>
        <p:nvSpPr>
          <p:cNvPr id="44" name="Text 37"/>
          <p:cNvSpPr txBox="1"/>
          <p:nvPr/>
        </p:nvSpPr>
        <p:spPr>
          <a:xfrm>
            <a:off x="14525244" y="4116629"/>
            <a:ext cx="886054" cy="295351"/>
          </a:xfrm>
          <a:prstGeom prst="rect">
            <a:avLst/>
          </a:prstGeom>
          <a:solidFill>
            <a:srgbClr val="E6A81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Aprobar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5503652" y="4116629"/>
            <a:ext cx="648310" cy="295351"/>
          </a:xfrm>
          <a:prstGeom prst="rect">
            <a:avLst/>
          </a:prstGeom>
          <a:noFill/>
          <a:ln w="12700">
            <a:solidFill>
              <a:srgbClr val="0A0F1E">
                <a:alpha val="2000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Editar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4287500" y="7105802"/>
            <a:ext cx="9628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5A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975" dirty="0"/>
          </a:p>
        </p:txBody>
      </p:sp>
      <p:sp>
        <p:nvSpPr>
          <p:cNvPr id="47" name="Text 40"/>
          <p:cNvSpPr txBox="1"/>
          <p:nvPr/>
        </p:nvSpPr>
        <p:spPr>
          <a:xfrm>
            <a:off x="15317114" y="7105802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5A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14287500" y="6858000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0A0F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de producción a continuación.</a:t>
            </a:r>
            <a:endParaRPr lang="en-US" sz="975" dirty="0"/>
          </a:p>
        </p:txBody>
      </p:sp>
      <p:sp>
        <p:nvSpPr>
          <p:cNvPr id="50" name="Text 43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50</a:t>
            </a:r>
            <a:endParaRPr lang="en-US" sz="975" dirty="0"/>
          </a:p>
        </p:txBody>
      </p:sp>
      <p:pic>
        <p:nvPicPr>
          <p:cNvPr id="51" name="Image 5" descr="gen-dedup-07466eeb8f632ca5cc757630dee65b9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4C48-0A6F-5290-020C-B89007AC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9F12EFD8-933C-C029-DEE6-401709CD2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7F7F52-0FA5-C57B-C098-774089F32F23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00F4E5F-2F5C-126C-7A15-C9D144F29046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5D1DA5-30A8-ADBF-F638-7D48C3771A08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741DDBB-B41C-A4D7-823D-9DBF2E2AD3DA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470007B0-D51F-CF82-2A0A-AA99435B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CBFBB771-817A-8555-2E17-4E85A6DA55B5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A0B1EC4-4FE0-E14E-A5BF-F9F8E98BF722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485962E-F43B-579C-7DEA-D85216065894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7F9E154-3537-DE2B-2CCD-90C2DC7AF7AC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1851CEF-4A31-0C4F-AD4A-8F25020B6D3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75365EA9-162C-6C46-9AA3-1846718A86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21672B6B-303E-D434-B38E-4BEFD17D1D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8a9a28c3a9840776409e917f9ceffe15.png">
            <a:extLst>
              <a:ext uri="{FF2B5EF4-FFF2-40B4-BE49-F238E27FC236}">
                <a16:creationId xmlns:a16="http://schemas.microsoft.com/office/drawing/2014/main" id="{D4EE1010-E707-87B9-2831-38B771E454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>
            <a:extLst>
              <a:ext uri="{FF2B5EF4-FFF2-40B4-BE49-F238E27FC236}">
                <a16:creationId xmlns:a16="http://schemas.microsoft.com/office/drawing/2014/main" id="{BBB1016C-BC37-92A5-318C-33357E9243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D2BA0C8C-28AB-C08B-1CB7-2694FBCE36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6E3BEA47-90F8-5937-AB49-A0C2B62A9D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5ca77fad41c44e392459a669cb46686.png">
            <a:extLst>
              <a:ext uri="{FF2B5EF4-FFF2-40B4-BE49-F238E27FC236}">
                <a16:creationId xmlns:a16="http://schemas.microsoft.com/office/drawing/2014/main" id="{86AC5BA3-1A04-7AC8-0221-EC6F7A7591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32F81B0D-F81A-E60C-B8DB-4C02622BCF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8a9a28c3a9840776409e917f9ceffe15.png">
            <a:extLst>
              <a:ext uri="{FF2B5EF4-FFF2-40B4-BE49-F238E27FC236}">
                <a16:creationId xmlns:a16="http://schemas.microsoft.com/office/drawing/2014/main" id="{AB3DA7A6-7553-5EF9-AEA1-DAC62BC17C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B42B921E-FB6B-3CC8-440E-CF325E3048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BE68F50F-E90E-7849-20C7-D39BE98AF8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51804404-59DE-B35C-BF0E-8EBF2B9ACCC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5023fea922589d6909f6d48e2362d329.png">
            <a:extLst>
              <a:ext uri="{FF2B5EF4-FFF2-40B4-BE49-F238E27FC236}">
                <a16:creationId xmlns:a16="http://schemas.microsoft.com/office/drawing/2014/main" id="{74959CB3-CEB3-6FED-DD88-3DFF5D300AD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04a6c6595c9dff6b95c3b59c31d72678.png">
            <a:extLst>
              <a:ext uri="{FF2B5EF4-FFF2-40B4-BE49-F238E27FC236}">
                <a16:creationId xmlns:a16="http://schemas.microsoft.com/office/drawing/2014/main" id="{CE2278CC-CA83-6649-634D-84E4EC585C9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e65a801e1d2e7d7f545c66da47e65295.png">
            <a:extLst>
              <a:ext uri="{FF2B5EF4-FFF2-40B4-BE49-F238E27FC236}">
                <a16:creationId xmlns:a16="http://schemas.microsoft.com/office/drawing/2014/main" id="{1CE4A756-F654-9A74-7D45-B0B93FB0C03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47495" y="7667244"/>
            <a:ext cx="409651" cy="409651"/>
          </a:xfrm>
          <a:prstGeom prst="rect">
            <a:avLst/>
          </a:prstGeom>
        </p:spPr>
      </p:pic>
      <p:pic>
        <p:nvPicPr>
          <p:cNvPr id="28" name="Image 17" descr="gen-dedup-fc23fc46cc0b8a7a71b92116d7c65e62.png">
            <a:extLst>
              <a:ext uri="{FF2B5EF4-FFF2-40B4-BE49-F238E27FC236}">
                <a16:creationId xmlns:a16="http://schemas.microsoft.com/office/drawing/2014/main" id="{5DE74EFB-F34B-383D-9644-8A697B45AF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9" name="Image 18" descr="gen-dedup-1fccdd897c6e68de427f95f9a1ba34cb.png">
            <a:extLst>
              <a:ext uri="{FF2B5EF4-FFF2-40B4-BE49-F238E27FC236}">
                <a16:creationId xmlns:a16="http://schemas.microsoft.com/office/drawing/2014/main" id="{352E1729-4E79-9ADE-969C-12F813D37F6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30" name="Image 19" descr="gen-dedup-367a927f5b78b4bbee80af254fbb37ad.png">
            <a:extLst>
              <a:ext uri="{FF2B5EF4-FFF2-40B4-BE49-F238E27FC236}">
                <a16:creationId xmlns:a16="http://schemas.microsoft.com/office/drawing/2014/main" id="{5D860361-1FB2-C341-F90F-E4E6370352A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31" name="Image 20" descr="gen-dedup-1d344c7a59f5a91386bffe2900bacfe0.png">
            <a:extLst>
              <a:ext uri="{FF2B5EF4-FFF2-40B4-BE49-F238E27FC236}">
                <a16:creationId xmlns:a16="http://schemas.microsoft.com/office/drawing/2014/main" id="{D609F989-1359-8752-45B9-193577ECC1E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50000" b="-50000"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2BB375DA-43AD-9292-7104-F908EE17EF90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C01</a:t>
            </a:r>
            <a:endParaRPr lang="en-US" sz="975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ACD10B52-D224-286C-6362-3B1A4154C2BA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25C3ABC-2FD1-22B9-6E4A-BE53202563CA}"/>
              </a:ext>
            </a:extLst>
          </p:cNvPr>
          <p:cNvSpPr txBox="1"/>
          <p:nvPr/>
        </p:nvSpPr>
        <p:spPr>
          <a:xfrm>
            <a:off x="1334110" y="2214677"/>
            <a:ext cx="3246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35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411E3EB9-27B6-F55A-57DD-5467BB9B6EAF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email · Qué entra, qué sale</a:t>
            </a:r>
            <a:endParaRPr lang="en-US" sz="1125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33A252F3-6CAB-D3D6-AC65-1EE43E77EC10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Correo.</a:t>
            </a:r>
            <a:endParaRPr lang="en-US" sz="585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96F11452-12AD-9B0F-2ACB-8AA796DFC253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buzón corporativo trabajando solo, 24/7.</a:t>
            </a:r>
            <a:endParaRPr lang="en-US" sz="19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1FF55B76-4261-384F-C0EC-D9ADF58CA978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B33AD9BD-8BC0-90A3-DD1E-76E6360EEBA2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12E7556F-EE1A-50EF-B533-C37D9E004F92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7C8DDE03-F164-6032-FAFC-FBF9E8D1A0EB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7E852243-5781-D2C6-1743-449654D80130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8F043313-0B28-FAEE-F177-B78949EBA7C1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8ED4DA5B-8186-7478-6E57-C0EAA1DD3228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37052563-ED73-C6D8-B11A-43E714E4F664}"/>
              </a:ext>
            </a:extLst>
          </p:cNvPr>
          <p:cNvSpPr/>
          <p:nvPr/>
        </p:nvSpPr>
        <p:spPr>
          <a:xfrm>
            <a:off x="14890090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CB3CD3BB-9EAD-7A96-FE28-451B109F76F6}"/>
              </a:ext>
            </a:extLst>
          </p:cNvPr>
          <p:cNvSpPr txBox="1"/>
          <p:nvPr/>
        </p:nvSpPr>
        <p:spPr>
          <a:xfrm>
            <a:off x="14890090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44F0812F-9512-214E-364F-646FF6EFE014}"/>
              </a:ext>
            </a:extLst>
          </p:cNvPr>
          <p:cNvSpPr/>
          <p:nvPr/>
        </p:nvSpPr>
        <p:spPr>
          <a:xfrm>
            <a:off x="15550286" y="2533802"/>
            <a:ext cx="1410005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26E36382-3FAA-BBF6-F798-02D6CDFE805D}"/>
              </a:ext>
            </a:extLst>
          </p:cNvPr>
          <p:cNvSpPr txBox="1"/>
          <p:nvPr/>
        </p:nvSpPr>
        <p:spPr>
          <a:xfrm>
            <a:off x="15550286" y="2533802"/>
            <a:ext cx="14100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1125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739E3C3C-32F5-0436-BDC8-8E0D8B4A494A}"/>
              </a:ext>
            </a:extLst>
          </p:cNvPr>
          <p:cNvSpPr/>
          <p:nvPr/>
        </p:nvSpPr>
        <p:spPr>
          <a:xfrm>
            <a:off x="12382805" y="2905049"/>
            <a:ext cx="5623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EECD13FA-390B-2047-2F2D-6A243A728404}"/>
              </a:ext>
            </a:extLst>
          </p:cNvPr>
          <p:cNvSpPr txBox="1"/>
          <p:nvPr/>
        </p:nvSpPr>
        <p:spPr>
          <a:xfrm>
            <a:off x="12382805" y="2905049"/>
            <a:ext cx="5623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1125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97FF4646-4DB4-CD6F-2289-57C4EC9B130A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0FBBC0BF-9BFD-1D50-6602-561B67E105D2}"/>
              </a:ext>
            </a:extLst>
          </p:cNvPr>
          <p:cNvSpPr/>
          <p:nvPr/>
        </p:nvSpPr>
        <p:spPr>
          <a:xfrm>
            <a:off x="12382805" y="3829507"/>
            <a:ext cx="1086307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6D889A1C-74E8-3159-1022-4FA3C391441C}"/>
              </a:ext>
            </a:extLst>
          </p:cNvPr>
          <p:cNvSpPr txBox="1"/>
          <p:nvPr/>
        </p:nvSpPr>
        <p:spPr>
          <a:xfrm>
            <a:off x="12382805" y="3829507"/>
            <a:ext cx="10863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GALMETEC</a:t>
            </a:r>
            <a:endParaRPr lang="en-US" sz="1125" dirty="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DE1F4C39-A386-A628-A151-7B8665B09846}"/>
              </a:ext>
            </a:extLst>
          </p:cNvPr>
          <p:cNvSpPr/>
          <p:nvPr/>
        </p:nvSpPr>
        <p:spPr>
          <a:xfrm>
            <a:off x="13542264" y="3829507"/>
            <a:ext cx="69494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A12821C0-0717-35BF-A9A4-58001B48883C}"/>
              </a:ext>
            </a:extLst>
          </p:cNvPr>
          <p:cNvSpPr txBox="1"/>
          <p:nvPr/>
        </p:nvSpPr>
        <p:spPr>
          <a:xfrm>
            <a:off x="13542264" y="3829507"/>
            <a:ext cx="6958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1125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8FF915B2-DE64-818B-BA4E-87C1D49FBC60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EFC45F80-8F3D-95F4-6A5A-8DA92086E521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4814BDC9-A13A-0EEE-1540-8E5B03B92F1C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2AB8243B-194D-489E-7BE2-AE64055119B1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</a:t>
            </a:r>
            <a:endParaRPr lang="en-US" sz="1725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5BE33411-D828-ECBF-F656-1E6E3AF6EE2A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Buzón vía IMAP</a:t>
            </a:r>
            <a:endParaRPr lang="en-US" sz="1275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042D1B2D-E997-4D64-3751-D9EA8880226F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A742C428-899B-EB09-C8E2-BCDDBA23C782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Graph</a:t>
            </a:r>
            <a:endParaRPr lang="en-US" sz="1275" dirty="0"/>
          </a:p>
        </p:txBody>
      </p:sp>
      <p:sp>
        <p:nvSpPr>
          <p:cNvPr id="63" name="Text 40">
            <a:extLst>
              <a:ext uri="{FF2B5EF4-FFF2-40B4-BE49-F238E27FC236}">
                <a16:creationId xmlns:a16="http://schemas.microsoft.com/office/drawing/2014/main" id="{43DCCBF7-95F4-6E9D-EB97-F29709815ABA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Adjuntos</a:t>
            </a:r>
            <a:endParaRPr lang="en-US" sz="1725" dirty="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6AA6B06E-0EBF-7BF8-AB3C-291B20FED07D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Pedidos, PDFs, planos</a:t>
            </a:r>
            <a:endParaRPr lang="en-US" sz="1275" dirty="0"/>
          </a:p>
        </p:txBody>
      </p:sp>
      <p:pic>
        <p:nvPicPr>
          <p:cNvPr id="65" name="Image 21" descr="gen-dedup-ac40fa232d571b071085c7ad71be911e.png">
            <a:extLst>
              <a:ext uri="{FF2B5EF4-FFF2-40B4-BE49-F238E27FC236}">
                <a16:creationId xmlns:a16="http://schemas.microsoft.com/office/drawing/2014/main" id="{7D2F82CF-6927-2326-0ED2-90F5714D6B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6" name="Text 42">
            <a:extLst>
              <a:ext uri="{FF2B5EF4-FFF2-40B4-BE49-F238E27FC236}">
                <a16:creationId xmlns:a16="http://schemas.microsoft.com/office/drawing/2014/main" id="{57A79294-4D9D-2C16-47C6-5AD6E7E56F2B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documentación</a:t>
            </a:r>
            <a:endParaRPr lang="en-US" sz="1725" dirty="0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66CDA811-7C5B-832D-D717-32309CA53A87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conocimiento</a:t>
            </a:r>
            <a:endParaRPr lang="en-US" sz="1275" dirty="0"/>
          </a:p>
        </p:txBody>
      </p:sp>
      <p:pic>
        <p:nvPicPr>
          <p:cNvPr id="68" name="Image 22" descr="gen-dedup-625f6ee98a837ce7c94bde031f58a71e.png">
            <a:extLst>
              <a:ext uri="{FF2B5EF4-FFF2-40B4-BE49-F238E27FC236}">
                <a16:creationId xmlns:a16="http://schemas.microsoft.com/office/drawing/2014/main" id="{0DA2A424-2F18-2C17-A810-1F604CCE7FA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9" name="Text 44">
            <a:extLst>
              <a:ext uri="{FF2B5EF4-FFF2-40B4-BE49-F238E27FC236}">
                <a16:creationId xmlns:a16="http://schemas.microsoft.com/office/drawing/2014/main" id="{03541172-8692-33FB-1217-E06BBA37570B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C01</a:t>
            </a:r>
            <a:endParaRPr lang="en-US" sz="900" dirty="0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B6739307-24CA-CAE1-5BC3-5C6778C4CE6B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Correo</a:t>
            </a:r>
            <a:endParaRPr lang="en-US" sz="2250" dirty="0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3237A043-AA2D-52E1-DE34-1AC45BAD96F6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7">
            <a:extLst>
              <a:ext uri="{FF2B5EF4-FFF2-40B4-BE49-F238E27FC236}">
                <a16:creationId xmlns:a16="http://schemas.microsoft.com/office/drawing/2014/main" id="{A31D666B-97AA-5357-4127-BB3008568092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1E7601B1-81A7-5072-8033-FBCC8DB122A0}"/>
              </a:ext>
            </a:extLst>
          </p:cNvPr>
          <p:cNvSpPr txBox="1"/>
          <p:nvPr/>
        </p:nvSpPr>
        <p:spPr>
          <a:xfrm>
            <a:off x="7524598" y="6986930"/>
            <a:ext cx="35103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 la intención de cada correo</a:t>
            </a:r>
            <a:endParaRPr lang="en-US" sz="1425" dirty="0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8A07E715-BDBB-4F2B-57B6-750912A3D4AB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0">
            <a:extLst>
              <a:ext uri="{FF2B5EF4-FFF2-40B4-BE49-F238E27FC236}">
                <a16:creationId xmlns:a16="http://schemas.microsoft.com/office/drawing/2014/main" id="{58C983A9-2735-6E30-2688-F45DED5A7670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5B60F26E-0638-4CC7-73A4-47AA0A87B55A}"/>
              </a:ext>
            </a:extLst>
          </p:cNvPr>
          <p:cNvSpPr txBox="1"/>
          <p:nvPr/>
        </p:nvSpPr>
        <p:spPr>
          <a:xfrm>
            <a:off x="7524598" y="7386523"/>
            <a:ext cx="28117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 contexto con RAG</a:t>
            </a:r>
            <a:endParaRPr lang="en-US" sz="1425" dirty="0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D1FD02BF-5FF6-93E2-C148-30E8949633B3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5350FB08-85C4-1716-38BD-C7701E5B0BD2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52F66D60-B558-AAC6-ECC8-656E114A528C}"/>
              </a:ext>
            </a:extLst>
          </p:cNvPr>
          <p:cNvSpPr txBox="1"/>
          <p:nvPr/>
        </p:nvSpPr>
        <p:spPr>
          <a:xfrm>
            <a:off x="7524598" y="7787030"/>
            <a:ext cx="329915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Redacta el borrador con su tono</a:t>
            </a:r>
            <a:endParaRPr lang="en-US" sz="1425" dirty="0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A8C09413-C8F7-C76B-9800-6B265A2D3387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56">
            <a:extLst>
              <a:ext uri="{FF2B5EF4-FFF2-40B4-BE49-F238E27FC236}">
                <a16:creationId xmlns:a16="http://schemas.microsoft.com/office/drawing/2014/main" id="{64425465-FD0F-91E5-CC7F-8CCAF0A05372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B4CA1E70-60C3-98BC-7D35-BD69072FB6BD}"/>
              </a:ext>
            </a:extLst>
          </p:cNvPr>
          <p:cNvSpPr txBox="1"/>
          <p:nvPr/>
        </p:nvSpPr>
        <p:spPr>
          <a:xfrm>
            <a:off x="7524598" y="8186623"/>
            <a:ext cx="34335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Bandeja de validación con un clic</a:t>
            </a:r>
            <a:endParaRPr lang="en-US" sz="1425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EFC96D58-74EA-2201-E98D-0BFEE85467BC}"/>
              </a:ext>
            </a:extLst>
          </p:cNvPr>
          <p:cNvSpPr/>
          <p:nvPr/>
        </p:nvSpPr>
        <p:spPr>
          <a:xfrm>
            <a:off x="887699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255F1867-95A6-5C35-A439-31172A6D0CD5}"/>
              </a:ext>
            </a:extLst>
          </p:cNvPr>
          <p:cNvSpPr txBox="1"/>
          <p:nvPr/>
        </p:nvSpPr>
        <p:spPr>
          <a:xfrm>
            <a:off x="8985809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4A8DBBA7-19C4-7872-044F-8F1373603B1D}"/>
              </a:ext>
            </a:extLst>
          </p:cNvPr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2D81B169-59F4-AD65-9699-8FD4E74A2F07}"/>
              </a:ext>
            </a:extLst>
          </p:cNvPr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7" name="Image 23" descr="gen-dedup-9f2da3d601bd1ff2962f48734b24ef49.png">
            <a:extLst>
              <a:ext uri="{FF2B5EF4-FFF2-40B4-BE49-F238E27FC236}">
                <a16:creationId xmlns:a16="http://schemas.microsoft.com/office/drawing/2014/main" id="{0F06BB82-7E5A-71AC-AB7E-E4DE32C9915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8" name="Image 24" descr="gen-dedup-71b00cf5f6514620cb71554ff6b3cc3e.png">
            <a:extLst>
              <a:ext uri="{FF2B5EF4-FFF2-40B4-BE49-F238E27FC236}">
                <a16:creationId xmlns:a16="http://schemas.microsoft.com/office/drawing/2014/main" id="{3913FA62-0E54-E05F-462A-BBDECDB4947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AACF7582-385B-7B7C-2C3A-211C527459C1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enviada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E3F4C4CE-B939-B071-5C05-929F6ABD3D96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Aprobada por el operario</a:t>
            </a:r>
            <a:endParaRPr lang="en-US" sz="1275" dirty="0"/>
          </a:p>
        </p:txBody>
      </p:sp>
      <p:sp>
        <p:nvSpPr>
          <p:cNvPr id="91" name="Text 64">
            <a:extLst>
              <a:ext uri="{FF2B5EF4-FFF2-40B4-BE49-F238E27FC236}">
                <a16:creationId xmlns:a16="http://schemas.microsoft.com/office/drawing/2014/main" id="{D86D1726-A1B6-4316-B256-D4CE093572BE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725" dirty="0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B5E9C803-CD2C-0918-5040-7DF7AD8DC732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escrita en el ERP</a:t>
            </a:r>
            <a:endParaRPr lang="en-US" sz="1275" dirty="0"/>
          </a:p>
        </p:txBody>
      </p:sp>
      <p:sp>
        <p:nvSpPr>
          <p:cNvPr id="93" name="Text 66">
            <a:extLst>
              <a:ext uri="{FF2B5EF4-FFF2-40B4-BE49-F238E27FC236}">
                <a16:creationId xmlns:a16="http://schemas.microsoft.com/office/drawing/2014/main" id="{3B1091D7-EA4A-87BB-766D-446697FA94E5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1725" dirty="0"/>
          </a:p>
        </p:txBody>
      </p:sp>
      <p:sp>
        <p:nvSpPr>
          <p:cNvPr id="94" name="Text 67">
            <a:extLst>
              <a:ext uri="{FF2B5EF4-FFF2-40B4-BE49-F238E27FC236}">
                <a16:creationId xmlns:a16="http://schemas.microsoft.com/office/drawing/2014/main" id="{73957148-3D3A-7036-BE75-C055B4D9F3D5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Escritura en el ERP</a:t>
            </a:r>
            <a:endParaRPr lang="en-US" sz="1275" dirty="0"/>
          </a:p>
        </p:txBody>
      </p:sp>
      <p:pic>
        <p:nvPicPr>
          <p:cNvPr id="95" name="Image 25" descr="gen-dedup-cae6b8a028f3769cc79ae636363cc91c.png">
            <a:extLst>
              <a:ext uri="{FF2B5EF4-FFF2-40B4-BE49-F238E27FC236}">
                <a16:creationId xmlns:a16="http://schemas.microsoft.com/office/drawing/2014/main" id="{0261FC63-4384-43F1-DD97-87AECC76C97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8">
            <a:extLst>
              <a:ext uri="{FF2B5EF4-FFF2-40B4-BE49-F238E27FC236}">
                <a16:creationId xmlns:a16="http://schemas.microsoft.com/office/drawing/2014/main" id="{41D35D0A-8331-696B-DE81-83EBA05F995C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 completa</a:t>
            </a:r>
            <a:endParaRPr lang="en-US" sz="1725" dirty="0"/>
          </a:p>
        </p:txBody>
      </p:sp>
      <p:sp>
        <p:nvSpPr>
          <p:cNvPr id="97" name="Text 69">
            <a:extLst>
              <a:ext uri="{FF2B5EF4-FFF2-40B4-BE49-F238E27FC236}">
                <a16:creationId xmlns:a16="http://schemas.microsoft.com/office/drawing/2014/main" id="{7C44F8A7-527E-3D61-5ACE-712907518E0D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conversación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99090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66a5b88e39208e3929c3b95f9e026ca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714500" y="7239305"/>
            <a:ext cx="4572000" cy="4572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 · 32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51094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Licitaciones y ofertas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Oferta.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expediente de licitación al BC3 firmado en dos horas.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Recibe el pliego, rescata precios reales de su histórico, calcula la oferta y emite una hoja de pre-cierre con go/no-go. No es una respuesta GPT genérica: es una oferta defendible.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80573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automático de PCAP, PPT y anexos.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Recuperación de precios por similitud.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31400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 de incertidumbre por partida.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28794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 con go/no-go.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21101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Salidas BC3, Excel y PDF.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2534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hasta la fuente histórica.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15998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15998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494483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494483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18119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18119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BC3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3851453" y="8762695"/>
            <a:ext cx="7525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3851453" y="8762695"/>
            <a:ext cx="7525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287500" y="2286000"/>
            <a:ext cx="3619195" cy="32196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525244" y="250545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Expediente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4525244" y="2695651"/>
            <a:ext cx="3143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Rehabilitación CEIP-248</a:t>
            </a:r>
            <a:endParaRPr lang="en-US" sz="1350" dirty="0"/>
          </a:p>
        </p:txBody>
      </p:sp>
      <p:pic>
        <p:nvPicPr>
          <p:cNvPr id="38" name="Image 3" descr="gen-dedup-033619add12ab067c5823d4161e19aa1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29407"/>
            <a:ext cx="3143707" cy="91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525244" y="3172054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825" dirty="0"/>
          </a:p>
        </p:txBody>
      </p:sp>
      <p:sp>
        <p:nvSpPr>
          <p:cNvPr id="40" name="Text 34"/>
          <p:cNvSpPr txBox="1"/>
          <p:nvPr/>
        </p:nvSpPr>
        <p:spPr>
          <a:xfrm>
            <a:off x="14525244" y="3305556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1 243 800 €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16163849" y="3172054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</a:t>
            </a:r>
            <a:endParaRPr lang="en-US" sz="825" dirty="0"/>
          </a:p>
        </p:txBody>
      </p:sp>
      <p:sp>
        <p:nvSpPr>
          <p:cNvPr id="42" name="Text 36"/>
          <p:cNvSpPr txBox="1"/>
          <p:nvPr/>
        </p:nvSpPr>
        <p:spPr>
          <a:xfrm>
            <a:off x="16163849" y="3305556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 4,8%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14525244" y="3600907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Capítulos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14525244" y="3733495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16163849" y="3600907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 temeraria</a:t>
            </a:r>
            <a:endParaRPr lang="en-US" sz="825" dirty="0"/>
          </a:p>
        </p:txBody>
      </p:sp>
      <p:sp>
        <p:nvSpPr>
          <p:cNvPr id="46" name="Text 40"/>
          <p:cNvSpPr txBox="1"/>
          <p:nvPr/>
        </p:nvSpPr>
        <p:spPr>
          <a:xfrm>
            <a:off x="16163849" y="3733495"/>
            <a:ext cx="1505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−12,4%</a:t>
            </a:r>
            <a:endParaRPr lang="en-US" sz="1350" dirty="0"/>
          </a:p>
        </p:txBody>
      </p:sp>
      <p:sp>
        <p:nvSpPr>
          <p:cNvPr id="47" name="Shape 41"/>
          <p:cNvSpPr/>
          <p:nvPr/>
        </p:nvSpPr>
        <p:spPr>
          <a:xfrm>
            <a:off x="14525244" y="4086454"/>
            <a:ext cx="3143707" cy="743407"/>
          </a:xfrm>
          <a:prstGeom prst="rect">
            <a:avLst/>
          </a:prstGeom>
          <a:solidFill>
            <a:srgbClr val="E6A817">
              <a:alpha val="16000"/>
            </a:srgbClr>
          </a:solidFill>
          <a:ln w="12700">
            <a:solidFill>
              <a:srgbClr val="E6A8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2"/>
          <p:cNvSpPr txBox="1"/>
          <p:nvPr/>
        </p:nvSpPr>
        <p:spPr>
          <a:xfrm>
            <a:off x="14688007" y="4267505"/>
            <a:ext cx="11722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</a:t>
            </a:r>
            <a:endParaRPr lang="en-US" sz="825" dirty="0"/>
          </a:p>
        </p:txBody>
      </p:sp>
      <p:sp>
        <p:nvSpPr>
          <p:cNvPr id="49" name="Text 43"/>
          <p:cNvSpPr txBox="1"/>
          <p:nvPr/>
        </p:nvSpPr>
        <p:spPr>
          <a:xfrm>
            <a:off x="14688007" y="4401007"/>
            <a:ext cx="11722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Concurrir</a:t>
            </a:r>
            <a:endParaRPr lang="en-US" sz="1650" dirty="0"/>
          </a:p>
        </p:txBody>
      </p:sp>
      <p:sp>
        <p:nvSpPr>
          <p:cNvPr id="50" name="Shape 44"/>
          <p:cNvSpPr/>
          <p:nvPr/>
        </p:nvSpPr>
        <p:spPr>
          <a:xfrm>
            <a:off x="17049902" y="4229100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17049902" y="42291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50" dirty="0"/>
          </a:p>
        </p:txBody>
      </p:sp>
      <p:sp>
        <p:nvSpPr>
          <p:cNvPr id="52" name="Text 46"/>
          <p:cNvSpPr txBox="1"/>
          <p:nvPr/>
        </p:nvSpPr>
        <p:spPr>
          <a:xfrm>
            <a:off x="14525244" y="4962449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partidas sin histórico · verificación recomendada · 4 días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5" name="Text 49"/>
          <p:cNvSpPr txBox="1"/>
          <p:nvPr/>
        </p:nvSpPr>
        <p:spPr>
          <a:xfrm>
            <a:off x="14287500" y="7667244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975" dirty="0"/>
          </a:p>
        </p:txBody>
      </p:sp>
      <p:sp>
        <p:nvSpPr>
          <p:cNvPr id="56" name="Text 50"/>
          <p:cNvSpPr txBox="1"/>
          <p:nvPr/>
        </p:nvSpPr>
        <p:spPr>
          <a:xfrm>
            <a:off x="14974214" y="7667244"/>
            <a:ext cx="857707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COPECAL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/ 50</a:t>
            </a:r>
            <a:endParaRPr lang="en-US" sz="975" dirty="0"/>
          </a:p>
        </p:txBody>
      </p:sp>
      <p:pic>
        <p:nvPicPr>
          <p:cNvPr id="59" name="Image 4" descr="gen-dedup-2fb34d6af934aa43b0f9c567fb82286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AD1D-A988-BB28-8600-734723E6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F48FDF8A-87A5-E48C-D55E-D8C62F92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8089979-661F-A443-A674-8D69F4716E43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996353D-B886-6E6A-9486-F3EA2E1A21AC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2746FA-D897-CE26-563A-F01B271A319B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192D40F-B0FB-0C86-607A-6A47DF0503D3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09AF8531-A412-5940-8E24-DDC860391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900D78A7-38C7-9292-336C-0AB501E3D892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36253C5-F5E8-467B-1FF5-438A8B2B984E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482F233-BA55-8AC2-D61E-E044E3D943B3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7B18F82-83A7-6AF4-A862-F8EF2795CE8B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FA8FC79-9178-37D0-DA72-570D5C91863F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15230C06-D389-5B57-CEFE-37F55CF2D7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73D878DC-F9B2-42E2-BC85-39BCED81DF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25ca77fad41c44e392459a669cb46686.png">
            <a:extLst>
              <a:ext uri="{FF2B5EF4-FFF2-40B4-BE49-F238E27FC236}">
                <a16:creationId xmlns:a16="http://schemas.microsoft.com/office/drawing/2014/main" id="{9EA55A35-F9DE-70B9-076B-43C2707563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>
            <a:extLst>
              <a:ext uri="{FF2B5EF4-FFF2-40B4-BE49-F238E27FC236}">
                <a16:creationId xmlns:a16="http://schemas.microsoft.com/office/drawing/2014/main" id="{BAE17109-4D9C-7EE0-4EA2-A82F2D316A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03D51464-52EE-D529-DCCA-DCDF8835A3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DAA9C072-A16A-3F98-6787-BB781D3AE4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05902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5ca77fad41c44e392459a669cb46686.png">
            <a:extLst>
              <a:ext uri="{FF2B5EF4-FFF2-40B4-BE49-F238E27FC236}">
                <a16:creationId xmlns:a16="http://schemas.microsoft.com/office/drawing/2014/main" id="{D27922AD-FD12-2326-4772-935243685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43C5E303-868E-5062-0ED3-4F4A1C9826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8a9a28c3a9840776409e917f9ceffe15.png">
            <a:extLst>
              <a:ext uri="{FF2B5EF4-FFF2-40B4-BE49-F238E27FC236}">
                <a16:creationId xmlns:a16="http://schemas.microsoft.com/office/drawing/2014/main" id="{F7FCFC41-D2C8-0BC7-8266-51545A0AA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8382CB61-2279-AFBA-AA8D-9663B0EF85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AA1C7E11-4235-1095-CD2E-10D160C04B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CA11EBCB-1A3A-148C-FFA3-0474184802E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e65a801e1d2e7d7f545c66da47e65295.png">
            <a:extLst>
              <a:ext uri="{FF2B5EF4-FFF2-40B4-BE49-F238E27FC236}">
                <a16:creationId xmlns:a16="http://schemas.microsoft.com/office/drawing/2014/main" id="{DD8EFAD6-278A-A924-6C09-A744CC8747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faef72f8220654017d2ee5f08dc50c2c.png">
            <a:extLst>
              <a:ext uri="{FF2B5EF4-FFF2-40B4-BE49-F238E27FC236}">
                <a16:creationId xmlns:a16="http://schemas.microsoft.com/office/drawing/2014/main" id="{DF0A5B69-681B-37E6-A252-8FD41656EC3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fc23fc46cc0b8a7a71b92116d7c65e62.png">
            <a:extLst>
              <a:ext uri="{FF2B5EF4-FFF2-40B4-BE49-F238E27FC236}">
                <a16:creationId xmlns:a16="http://schemas.microsoft.com/office/drawing/2014/main" id="{3F258CD0-F779-90E4-27AE-8C1D01151B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8" name="Image 17" descr="gen-dedup-77b6ecb90a64700571ecc0eddec1bd09.png">
            <a:extLst>
              <a:ext uri="{FF2B5EF4-FFF2-40B4-BE49-F238E27FC236}">
                <a16:creationId xmlns:a16="http://schemas.microsoft.com/office/drawing/2014/main" id="{A188199E-D706-F4F2-6D81-DD7AC4F44AF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010144" y="8887054"/>
            <a:ext cx="323698" cy="323698"/>
          </a:xfrm>
          <a:prstGeom prst="rect">
            <a:avLst/>
          </a:prstGeom>
        </p:spPr>
      </p:pic>
      <p:pic>
        <p:nvPicPr>
          <p:cNvPr id="29" name="Image 18" descr="gen-dedup-1ca55d8bcfd048e85c2feec6baee4754.png">
            <a:extLst>
              <a:ext uri="{FF2B5EF4-FFF2-40B4-BE49-F238E27FC236}">
                <a16:creationId xmlns:a16="http://schemas.microsoft.com/office/drawing/2014/main" id="{06E5E902-0591-B876-A660-CA73FB0EC79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30" name="Image 19" descr="gen-dedup-e65a801e1d2e7d7f545c66da47e65295.png">
            <a:extLst>
              <a:ext uri="{FF2B5EF4-FFF2-40B4-BE49-F238E27FC236}">
                <a16:creationId xmlns:a16="http://schemas.microsoft.com/office/drawing/2014/main" id="{8CDA82D7-1F8D-6639-FC4D-F84EB6C2B8D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EE65CD24-3573-0E89-142E-7D3D1A81A857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C02</a:t>
            </a:r>
            <a:endParaRPr lang="en-US" sz="975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47DEC33-85E6-88F8-5B84-7A0E3B401F1F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65D4B1D-98C8-4F52-7DC4-A4BEFF0D7D73}"/>
              </a:ext>
            </a:extLst>
          </p:cNvPr>
          <p:cNvSpPr txBox="1"/>
          <p:nvPr/>
        </p:nvSpPr>
        <p:spPr>
          <a:xfrm>
            <a:off x="1317650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3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CDA30FD-F452-A138-FBDE-5A90F48116FA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Licitaciones y ofertas · Qué entra, qué sale</a:t>
            </a:r>
            <a:endParaRPr lang="en-US" sz="1125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01F0DEB4-0FAB-7524-D2DF-305CCF7B33BA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Oferta.</a:t>
            </a:r>
            <a:endParaRPr lang="en-US" sz="58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45DF6BA-C2EA-4B15-2774-57F65ADAC720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expediente de licitación al BC3 firmado en dos horas.</a:t>
            </a:r>
            <a:endParaRPr lang="en-US" sz="195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9590AC88-9A95-25C6-CCE1-61D8E304480A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EC0C0899-D5DD-9A06-6A55-BA8B20A35BAB}"/>
              </a:ext>
            </a:extLst>
          </p:cNvPr>
          <p:cNvSpPr/>
          <p:nvPr/>
        </p:nvSpPr>
        <p:spPr>
          <a:xfrm>
            <a:off x="12382805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97D07632-71C9-D214-E90C-32AAA5A76313}"/>
              </a:ext>
            </a:extLst>
          </p:cNvPr>
          <p:cNvSpPr txBox="1"/>
          <p:nvPr/>
        </p:nvSpPr>
        <p:spPr>
          <a:xfrm>
            <a:off x="12382805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8F4AD74C-B415-7E64-5B30-8F6E2695ABB3}"/>
              </a:ext>
            </a:extLst>
          </p:cNvPr>
          <p:cNvSpPr/>
          <p:nvPr/>
        </p:nvSpPr>
        <p:spPr>
          <a:xfrm>
            <a:off x="13037515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9D55FDB-EF32-E531-60A2-C14D3AAA2FFA}"/>
              </a:ext>
            </a:extLst>
          </p:cNvPr>
          <p:cNvSpPr txBox="1"/>
          <p:nvPr/>
        </p:nvSpPr>
        <p:spPr>
          <a:xfrm>
            <a:off x="13037515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A2CA755D-0BDC-51AE-3FDA-6DA06895DFAF}"/>
              </a:ext>
            </a:extLst>
          </p:cNvPr>
          <p:cNvSpPr/>
          <p:nvPr/>
        </p:nvSpPr>
        <p:spPr>
          <a:xfrm>
            <a:off x="13698626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42356508-10B4-4466-7E69-54CBA00AF109}"/>
              </a:ext>
            </a:extLst>
          </p:cNvPr>
          <p:cNvSpPr txBox="1"/>
          <p:nvPr/>
        </p:nvSpPr>
        <p:spPr>
          <a:xfrm>
            <a:off x="13698626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B48B95E7-D235-C2B3-1506-F55D3E31158A}"/>
              </a:ext>
            </a:extLst>
          </p:cNvPr>
          <p:cNvSpPr/>
          <p:nvPr/>
        </p:nvSpPr>
        <p:spPr>
          <a:xfrm>
            <a:off x="14368882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3F66515F-AB4F-1051-A4C2-BF5434D7A009}"/>
              </a:ext>
            </a:extLst>
          </p:cNvPr>
          <p:cNvSpPr txBox="1"/>
          <p:nvPr/>
        </p:nvSpPr>
        <p:spPr>
          <a:xfrm>
            <a:off x="14368882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BC3</a:t>
            </a:r>
            <a:endParaRPr lang="en-US" sz="1125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4165C514-746C-EBD8-6D94-31CFBFFDA953}"/>
              </a:ext>
            </a:extLst>
          </p:cNvPr>
          <p:cNvSpPr/>
          <p:nvPr/>
        </p:nvSpPr>
        <p:spPr>
          <a:xfrm>
            <a:off x="15020849" y="2533802"/>
            <a:ext cx="780898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D726F750-7B20-B9FD-6883-99BA71B9A1CE}"/>
              </a:ext>
            </a:extLst>
          </p:cNvPr>
          <p:cNvSpPr txBox="1"/>
          <p:nvPr/>
        </p:nvSpPr>
        <p:spPr>
          <a:xfrm>
            <a:off x="15020849" y="2533802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125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3EB8BF3B-AE52-BCA5-3DF7-2B78AFB5437B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5C5902FB-9497-0AB1-5118-870B1CCC1A49}"/>
              </a:ext>
            </a:extLst>
          </p:cNvPr>
          <p:cNvSpPr/>
          <p:nvPr/>
        </p:nvSpPr>
        <p:spPr>
          <a:xfrm>
            <a:off x="12382805" y="3829507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F9188D28-B65C-4C03-CB35-9B07BB4DB828}"/>
              </a:ext>
            </a:extLst>
          </p:cNvPr>
          <p:cNvSpPr txBox="1"/>
          <p:nvPr/>
        </p:nvSpPr>
        <p:spPr>
          <a:xfrm>
            <a:off x="12382805" y="3829507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1125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A2E18CE-8550-0C0B-3068-97BBAB35372B}"/>
              </a:ext>
            </a:extLst>
          </p:cNvPr>
          <p:cNvSpPr/>
          <p:nvPr/>
        </p:nvSpPr>
        <p:spPr>
          <a:xfrm>
            <a:off x="13142671" y="3829507"/>
            <a:ext cx="972007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1770F73D-3824-2DC6-715C-9C60A8B2ACFC}"/>
              </a:ext>
            </a:extLst>
          </p:cNvPr>
          <p:cNvSpPr txBox="1"/>
          <p:nvPr/>
        </p:nvSpPr>
        <p:spPr>
          <a:xfrm>
            <a:off x="13142671" y="3829507"/>
            <a:ext cx="9720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n-US" sz="1125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A9E974CA-0421-2079-6A43-8853B8CEB0CE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B7F681A0-83CD-51BE-5387-23789E485E5D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3918B9B5-009D-4B4A-5A8B-A59C222404E1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B10B5413-A731-D8F5-2A25-49E11C0980B4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Pliego PCAP</a:t>
            </a:r>
            <a:endParaRPr lang="en-US" sz="1725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E27069FC-DED7-B4B7-C721-CEA89880418E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Cláusulas administrativas</a:t>
            </a:r>
            <a:endParaRPr lang="en-US" sz="1275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9B571EB7-8A45-4D96-65EB-76F723DB39C6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 y anexos</a:t>
            </a:r>
            <a:endParaRPr lang="en-US" sz="1725" dirty="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1A36A30B-C4CC-322A-97D9-D782DBD2EEA2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Prescripciones técnicas</a:t>
            </a:r>
            <a:endParaRPr lang="en-US" sz="1275" dirty="0"/>
          </a:p>
        </p:txBody>
      </p:sp>
      <p:pic>
        <p:nvPicPr>
          <p:cNvPr id="60" name="Image 20" descr="gen-dedup-ac40fa232d571b071085c7ad71be911e.png">
            <a:extLst>
              <a:ext uri="{FF2B5EF4-FFF2-40B4-BE49-F238E27FC236}">
                <a16:creationId xmlns:a16="http://schemas.microsoft.com/office/drawing/2014/main" id="{97F0E1D0-C6A6-F1A3-D4B0-583A5DE5B9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686446"/>
            <a:ext cx="381305" cy="381305"/>
          </a:xfrm>
          <a:prstGeom prst="rect">
            <a:avLst/>
          </a:prstGeom>
        </p:spPr>
      </p:pic>
      <p:sp>
        <p:nvSpPr>
          <p:cNvPr id="61" name="Text 38">
            <a:extLst>
              <a:ext uri="{FF2B5EF4-FFF2-40B4-BE49-F238E27FC236}">
                <a16:creationId xmlns:a16="http://schemas.microsoft.com/office/drawing/2014/main" id="{B0E85B13-4C1D-C7EB-9C29-CEDF607F6DAD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precios</a:t>
            </a:r>
            <a:endParaRPr lang="en-US" sz="1725" dirty="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278A4C17-32F1-2C8D-5E2F-EF9E1CA1091F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 ofertas anteriores</a:t>
            </a:r>
            <a:endParaRPr lang="en-US" sz="1275" dirty="0"/>
          </a:p>
        </p:txBody>
      </p:sp>
      <p:pic>
        <p:nvPicPr>
          <p:cNvPr id="63" name="Image 21" descr="gen-dedup-bb78bd60ebac547c6c1d68cc4b407b9d.png">
            <a:extLst>
              <a:ext uri="{FF2B5EF4-FFF2-40B4-BE49-F238E27FC236}">
                <a16:creationId xmlns:a16="http://schemas.microsoft.com/office/drawing/2014/main" id="{DE1652F5-241B-12A3-FB5D-29AFE1B820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4" name="Text 40">
            <a:extLst>
              <a:ext uri="{FF2B5EF4-FFF2-40B4-BE49-F238E27FC236}">
                <a16:creationId xmlns:a16="http://schemas.microsoft.com/office/drawing/2014/main" id="{5DED16DD-6489-BF89-36EF-FA8E866BB2D6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Escaneados</a:t>
            </a:r>
            <a:endParaRPr lang="en-US" sz="1725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F36989C8-BCA0-0588-E710-EDBB89004314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6" name="Image 22" descr="gen-dedup-625f6ee98a837ce7c94bde031f58a71e.png">
            <a:extLst>
              <a:ext uri="{FF2B5EF4-FFF2-40B4-BE49-F238E27FC236}">
                <a16:creationId xmlns:a16="http://schemas.microsoft.com/office/drawing/2014/main" id="{63BDC14F-BBAC-352C-EE0B-7EDF9FD0D82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7" name="Text 42">
            <a:extLst>
              <a:ext uri="{FF2B5EF4-FFF2-40B4-BE49-F238E27FC236}">
                <a16:creationId xmlns:a16="http://schemas.microsoft.com/office/drawing/2014/main" id="{55433C7E-8B5E-E2F8-B3E0-8B1BEED7CB19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C02</a:t>
            </a:r>
            <a:endParaRPr lang="en-US" sz="900" dirty="0"/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877F5A0C-13ED-D9B3-1B1F-E8382938F66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Licitación &amp; Oferta</a:t>
            </a:r>
            <a:endParaRPr lang="en-US" sz="2250" dirty="0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85050EF0-C8C1-9994-A3AB-36889B8BD0F8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5DD6CA63-1E96-BB47-9840-5C9A96307C31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9E38ED2D-3BFB-D593-9594-29279549720E}"/>
              </a:ext>
            </a:extLst>
          </p:cNvPr>
          <p:cNvSpPr txBox="1"/>
          <p:nvPr/>
        </p:nvSpPr>
        <p:spPr>
          <a:xfrm>
            <a:off x="7524598" y="6986930"/>
            <a:ext cx="358719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pliego, capítulos y partidas</a:t>
            </a:r>
            <a:endParaRPr lang="en-US" sz="1425" dirty="0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9C63D7B9-CAEF-6C6F-537A-C3C6287E79C8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AF9EC819-63F3-0907-4594-DB62C5776324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6B6B8972-6921-FAAD-5AEB-CF65E98FB27E}"/>
              </a:ext>
            </a:extLst>
          </p:cNvPr>
          <p:cNvSpPr txBox="1"/>
          <p:nvPr/>
        </p:nvSpPr>
        <p:spPr>
          <a:xfrm>
            <a:off x="7524598" y="7386523"/>
            <a:ext cx="312907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 precios por similitud</a:t>
            </a:r>
            <a:endParaRPr lang="en-US" sz="1425" dirty="0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08BA426D-49BA-809B-B88C-C465F0360992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9978FB78-A848-81B2-FD1D-422840DB998E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Text 52">
            <a:extLst>
              <a:ext uri="{FF2B5EF4-FFF2-40B4-BE49-F238E27FC236}">
                <a16:creationId xmlns:a16="http://schemas.microsoft.com/office/drawing/2014/main" id="{1BAF87C5-4F01-E2B7-B3F6-146FAD6F1AE0}"/>
              </a:ext>
            </a:extLst>
          </p:cNvPr>
          <p:cNvSpPr txBox="1"/>
          <p:nvPr/>
        </p:nvSpPr>
        <p:spPr>
          <a:xfrm>
            <a:off x="7524598" y="7787030"/>
            <a:ext cx="36530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 de incertidumbre por partida</a:t>
            </a:r>
            <a:endParaRPr lang="en-US" sz="1425" dirty="0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3E959143-0E96-73EA-E0B5-30A2E24D4CCD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5371246A-302B-4A96-28B3-6C83A67658A5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BE8335B3-0D40-AF9A-B31A-3676F58D7822}"/>
              </a:ext>
            </a:extLst>
          </p:cNvPr>
          <p:cNvSpPr txBox="1"/>
          <p:nvPr/>
        </p:nvSpPr>
        <p:spPr>
          <a:xfrm>
            <a:off x="7524598" y="8186623"/>
            <a:ext cx="27002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 go / no-go</a:t>
            </a:r>
            <a:endParaRPr lang="en-US" sz="1425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DAF0F265-FFBD-93ED-B1A5-D4994F400ED9}"/>
              </a:ext>
            </a:extLst>
          </p:cNvPr>
          <p:cNvSpPr/>
          <p:nvPr/>
        </p:nvSpPr>
        <p:spPr>
          <a:xfrm>
            <a:off x="8553298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4174707A-204D-7C0B-DFA4-465FF6C98061}"/>
              </a:ext>
            </a:extLst>
          </p:cNvPr>
          <p:cNvSpPr txBox="1"/>
          <p:nvPr/>
        </p:nvSpPr>
        <p:spPr>
          <a:xfrm>
            <a:off x="8662111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C2B94F1B-4274-E7E5-6B81-82804BCC76E9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CC2C30D8-D803-C881-4EF5-4F6F18839120}"/>
              </a:ext>
            </a:extLst>
          </p:cNvPr>
          <p:cNvSpPr txBox="1"/>
          <p:nvPr/>
        </p:nvSpPr>
        <p:spPr>
          <a:xfrm>
            <a:off x="9304934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D3B823BE-D35D-3659-1D64-DF062C94A9E0}"/>
              </a:ext>
            </a:extLst>
          </p:cNvPr>
          <p:cNvSpPr/>
          <p:nvPr/>
        </p:nvSpPr>
        <p:spPr>
          <a:xfrm>
            <a:off x="9849002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1">
            <a:extLst>
              <a:ext uri="{FF2B5EF4-FFF2-40B4-BE49-F238E27FC236}">
                <a16:creationId xmlns:a16="http://schemas.microsoft.com/office/drawing/2014/main" id="{FD301A86-FBEC-8CD3-A08F-937AA9E8D488}"/>
              </a:ext>
            </a:extLst>
          </p:cNvPr>
          <p:cNvSpPr txBox="1"/>
          <p:nvPr/>
        </p:nvSpPr>
        <p:spPr>
          <a:xfrm>
            <a:off x="9949586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200" dirty="0"/>
          </a:p>
        </p:txBody>
      </p:sp>
      <p:pic>
        <p:nvPicPr>
          <p:cNvPr id="87" name="Image 23" descr="gen-dedup-9f2da3d601bd1ff2962f48734b24ef49.png">
            <a:extLst>
              <a:ext uri="{FF2B5EF4-FFF2-40B4-BE49-F238E27FC236}">
                <a16:creationId xmlns:a16="http://schemas.microsoft.com/office/drawing/2014/main" id="{36C288E2-0672-FD35-671B-FB4998E1433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8" name="Image 24" descr="gen-dedup-bcefe7e6c3dcadca7f25816e44556305.png">
            <a:extLst>
              <a:ext uri="{FF2B5EF4-FFF2-40B4-BE49-F238E27FC236}">
                <a16:creationId xmlns:a16="http://schemas.microsoft.com/office/drawing/2014/main" id="{E4267B92-1ADF-0790-C350-AEC0CBFCD53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90EE3479-2C9A-7E41-51AB-155DB71E6A55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Fichero BC3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64167B4E-25D4-F755-8032-3BBD5AEE755B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Presupuesto estándar</a:t>
            </a:r>
            <a:endParaRPr lang="en-US" sz="1275" dirty="0"/>
          </a:p>
        </p:txBody>
      </p:sp>
      <p:sp>
        <p:nvSpPr>
          <p:cNvPr id="91" name="Text 64">
            <a:extLst>
              <a:ext uri="{FF2B5EF4-FFF2-40B4-BE49-F238E27FC236}">
                <a16:creationId xmlns:a16="http://schemas.microsoft.com/office/drawing/2014/main" id="{5BE3173D-6362-0E32-EE80-79D5EA00D50D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pre-cierre</a:t>
            </a:r>
            <a:endParaRPr lang="en-US" sz="1725" dirty="0"/>
          </a:p>
        </p:txBody>
      </p:sp>
      <p:sp>
        <p:nvSpPr>
          <p:cNvPr id="92" name="Text 65">
            <a:extLst>
              <a:ext uri="{FF2B5EF4-FFF2-40B4-BE49-F238E27FC236}">
                <a16:creationId xmlns:a16="http://schemas.microsoft.com/office/drawing/2014/main" id="{23FBD79B-83FB-D2E1-73E2-3A54FA88A936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por partida</a:t>
            </a:r>
            <a:endParaRPr lang="en-US" sz="1275" dirty="0"/>
          </a:p>
        </p:txBody>
      </p:sp>
      <p:sp>
        <p:nvSpPr>
          <p:cNvPr id="93" name="Text 66">
            <a:extLst>
              <a:ext uri="{FF2B5EF4-FFF2-40B4-BE49-F238E27FC236}">
                <a16:creationId xmlns:a16="http://schemas.microsoft.com/office/drawing/2014/main" id="{05CFD6C0-21DE-A324-B9A6-F891FA6D94C3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en PDF</a:t>
            </a:r>
            <a:endParaRPr lang="en-US" sz="1725" dirty="0"/>
          </a:p>
        </p:txBody>
      </p:sp>
      <p:sp>
        <p:nvSpPr>
          <p:cNvPr id="94" name="Text 67">
            <a:extLst>
              <a:ext uri="{FF2B5EF4-FFF2-40B4-BE49-F238E27FC236}">
                <a16:creationId xmlns:a16="http://schemas.microsoft.com/office/drawing/2014/main" id="{7918FBA3-A53F-11A9-D88A-0C20054F2918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Defendible y trazable</a:t>
            </a:r>
            <a:endParaRPr lang="en-US" sz="1275" dirty="0"/>
          </a:p>
        </p:txBody>
      </p:sp>
      <p:pic>
        <p:nvPicPr>
          <p:cNvPr id="95" name="Image 25" descr="gen-dedup-1a73ae5e9a5e40ea785eb0f40b3dcfb9.png">
            <a:extLst>
              <a:ext uri="{FF2B5EF4-FFF2-40B4-BE49-F238E27FC236}">
                <a16:creationId xmlns:a16="http://schemas.microsoft.com/office/drawing/2014/main" id="{0802DD91-527C-96DE-F2DE-AC3A44AAB75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8">
            <a:extLst>
              <a:ext uri="{FF2B5EF4-FFF2-40B4-BE49-F238E27FC236}">
                <a16:creationId xmlns:a16="http://schemas.microsoft.com/office/drawing/2014/main" id="{0C143232-975B-86EA-05E2-73ADF730E983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/ no-go</a:t>
            </a:r>
            <a:endParaRPr lang="en-US" sz="1725" dirty="0"/>
          </a:p>
        </p:txBody>
      </p:sp>
      <p:sp>
        <p:nvSpPr>
          <p:cNvPr id="97" name="Text 69">
            <a:extLst>
              <a:ext uri="{FF2B5EF4-FFF2-40B4-BE49-F238E27FC236}">
                <a16:creationId xmlns:a16="http://schemas.microsoft.com/office/drawing/2014/main" id="{5D2F0C6F-7561-62C2-71E1-8D5AFD19DAC1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Concurrir o no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715014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78742d14a20f8e35032fc528e7f79f3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 · 34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098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de voz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autónoma sobre su centralita actual.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integra como extensión SIP en su centralita existente. Atiende en español e inglés, registra datos estructurados y transfiere al humano con todo el contexto.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60913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Conversación natural 24/7 en ES e inglés.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447415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cinco llamadas concurrentes en el caso base.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45345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estructurado con grabación y transcripción.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9264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Traspaso inteligente al humano con contexto.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4006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Extensión SIP, sin cambiar la centralita.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5213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con transcripción y métricas.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10954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10954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FreeSWITCH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327148" y="8762695"/>
            <a:ext cx="8284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327148" y="8762695"/>
            <a:ext cx="8293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3248863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3248863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4326941" y="8762695"/>
            <a:ext cx="961949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4326941" y="8762695"/>
            <a:ext cx="9628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5376672" y="8762695"/>
            <a:ext cx="5239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5376672" y="8762695"/>
            <a:ext cx="523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en curso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3144500" y="2286000"/>
            <a:ext cx="4000500" cy="25338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3382244" y="2505456"/>
            <a:ext cx="169804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En vivo · 02:14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6811244" y="2523744"/>
            <a:ext cx="95098" cy="95098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3382244" y="2771546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Llamante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13382244" y="2991002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+34 612 847 290</a:t>
            </a:r>
            <a:endParaRPr lang="en-US" sz="1350" dirty="0"/>
          </a:p>
        </p:txBody>
      </p:sp>
      <p:pic>
        <p:nvPicPr>
          <p:cNvPr id="40" name="Image 3" descr="gen-dedup-488ac33ecbf4a073f79c178dced65e5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82244" y="3323844"/>
            <a:ext cx="3524098" cy="91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3382244" y="3467405"/>
            <a:ext cx="3525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Transcripción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3382244" y="3685946"/>
            <a:ext cx="3525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«Es la unidad AX-2204, lleva fallando desde ayer — la pantalla marca 28 °C.»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3382244" y="4362602"/>
            <a:ext cx="38405" cy="133502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4" name="Image 4" descr="gen-dedup-f0ec66e46317babe4cb35ea5e4804787.png"/>
          <p:cNvPicPr>
            <a:picLocks noChangeAspect="1"/>
          </p:cNvPicPr>
          <p:nvPr/>
        </p:nvPicPr>
        <p:blipFill>
          <a:blip r:embed="rId6"/>
          <a:srcRect l="-436" r="-436"/>
          <a:stretch/>
        </p:blipFill>
        <p:spPr>
          <a:xfrm>
            <a:off x="13459054" y="4324198"/>
            <a:ext cx="38405" cy="209398"/>
          </a:xfrm>
          <a:prstGeom prst="rect">
            <a:avLst/>
          </a:prstGeom>
        </p:spPr>
      </p:pic>
      <p:pic>
        <p:nvPicPr>
          <p:cNvPr id="45" name="Image 5" descr="gen-dedup-c5470268ec2eb986a60a4f750ba714fa.png"/>
          <p:cNvPicPr>
            <a:picLocks noChangeAspect="1"/>
          </p:cNvPicPr>
          <p:nvPr/>
        </p:nvPicPr>
        <p:blipFill>
          <a:blip r:embed="rId7"/>
          <a:srcRect l="-320" r="-320"/>
          <a:stretch/>
        </p:blipFill>
        <p:spPr>
          <a:xfrm>
            <a:off x="13534949" y="4286707"/>
            <a:ext cx="38405" cy="286207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3610844" y="4343400"/>
            <a:ext cx="38405" cy="171907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7" name="Image 6" descr="gen-dedup-831b624b957eac4729ec561ad632162b.png"/>
          <p:cNvPicPr>
            <a:picLocks noChangeAspect="1"/>
          </p:cNvPicPr>
          <p:nvPr/>
        </p:nvPicPr>
        <p:blipFill>
          <a:blip r:embed="rId8"/>
          <a:srcRect l="-369" r="-369"/>
          <a:stretch/>
        </p:blipFill>
        <p:spPr>
          <a:xfrm>
            <a:off x="13687654" y="4304995"/>
            <a:ext cx="38405" cy="247802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3763549" y="4371746"/>
            <a:ext cx="38405" cy="1143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9" name="Image 7" descr="gen-dedup-cede1705c72a195810cca70c9be3a9c7.png"/>
          <p:cNvPicPr>
            <a:picLocks noChangeAspect="1"/>
          </p:cNvPicPr>
          <p:nvPr/>
        </p:nvPicPr>
        <p:blipFill>
          <a:blip r:embed="rId9"/>
          <a:srcRect l="-424" r="-424"/>
          <a:stretch/>
        </p:blipFill>
        <p:spPr>
          <a:xfrm>
            <a:off x="13839444" y="4267505"/>
            <a:ext cx="38405" cy="32369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13916254" y="4334256"/>
            <a:ext cx="38405" cy="190195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1" name="Image 8" descr="gen-dedup-663b42f8c3deea78c39f1498dac45f6a.png"/>
          <p:cNvPicPr>
            <a:picLocks noChangeAspect="1"/>
          </p:cNvPicPr>
          <p:nvPr/>
        </p:nvPicPr>
        <p:blipFill>
          <a:blip r:embed="rId10"/>
          <a:srcRect l="-343" r="-343"/>
          <a:stretch/>
        </p:blipFill>
        <p:spPr>
          <a:xfrm>
            <a:off x="13992149" y="4295851"/>
            <a:ext cx="38405" cy="267005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14068044" y="4362602"/>
            <a:ext cx="38405" cy="133502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3" name="Image 9" descr="gen-dedup-f0ec66e46317babe4cb35ea5e4804787.png"/>
          <p:cNvPicPr>
            <a:picLocks noChangeAspect="1"/>
          </p:cNvPicPr>
          <p:nvPr/>
        </p:nvPicPr>
        <p:blipFill>
          <a:blip r:embed="rId6"/>
          <a:srcRect l="-436" r="-436"/>
          <a:stretch/>
        </p:blipFill>
        <p:spPr>
          <a:xfrm>
            <a:off x="14144854" y="4324198"/>
            <a:ext cx="38405" cy="209398"/>
          </a:xfrm>
          <a:prstGeom prst="rect">
            <a:avLst/>
          </a:prstGeom>
        </p:spPr>
      </p:pic>
      <p:pic>
        <p:nvPicPr>
          <p:cNvPr id="54" name="Image 10" descr="gen-dedup-c5470268ec2eb986a60a4f750ba714fa.png"/>
          <p:cNvPicPr>
            <a:picLocks noChangeAspect="1"/>
          </p:cNvPicPr>
          <p:nvPr/>
        </p:nvPicPr>
        <p:blipFill>
          <a:blip r:embed="rId7"/>
          <a:srcRect l="-320" r="-320"/>
          <a:stretch/>
        </p:blipFill>
        <p:spPr>
          <a:xfrm>
            <a:off x="14220749" y="4286707"/>
            <a:ext cx="38405" cy="286207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14296644" y="4343400"/>
            <a:ext cx="38405" cy="171907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6" name="Image 11" descr="gen-dedup-bcda4f1761bb474e1126e5ff341b16d7.png"/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14373454" y="4315054"/>
            <a:ext cx="38405" cy="228600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 44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9" name="Text 45"/>
          <p:cNvSpPr txBox="1"/>
          <p:nvPr/>
        </p:nvSpPr>
        <p:spPr>
          <a:xfrm>
            <a:off x="14287500" y="7667244"/>
            <a:ext cx="81930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975" dirty="0"/>
          </a:p>
        </p:txBody>
      </p:sp>
      <p:sp>
        <p:nvSpPr>
          <p:cNvPr id="60" name="Text 46"/>
          <p:cNvSpPr txBox="1"/>
          <p:nvPr/>
        </p:nvSpPr>
        <p:spPr>
          <a:xfrm>
            <a:off x="15180869" y="7667244"/>
            <a:ext cx="685800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975" dirty="0"/>
          </a:p>
        </p:txBody>
      </p:sp>
      <p:sp>
        <p:nvSpPr>
          <p:cNvPr id="61" name="Text 47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62" name="Text 48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/ 50</a:t>
            </a:r>
            <a:endParaRPr lang="en-US" sz="975" dirty="0"/>
          </a:p>
        </p:txBody>
      </p:sp>
      <p:pic>
        <p:nvPicPr>
          <p:cNvPr id="63" name="Image 12" descr="gen-dedup-8d5a47c3db0dab36a6925f1ca0547b0a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A854-C674-6524-EA91-BA15EB92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93CC9918-DA6C-9AF4-BF41-11EB1965A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5F7D224-3C8A-BCA8-FDFD-D8E16B5A2C03}"/>
              </a:ext>
            </a:extLst>
          </p:cNvPr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768D77B-F649-2488-B30E-88824956D926}"/>
              </a:ext>
            </a:extLst>
          </p:cNvPr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8F8B2F8-5336-144A-52C7-6AAA44158B15}"/>
              </a:ext>
            </a:extLst>
          </p:cNvPr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>
            <a:extLst>
              <a:ext uri="{FF2B5EF4-FFF2-40B4-BE49-F238E27FC236}">
                <a16:creationId xmlns:a16="http://schemas.microsoft.com/office/drawing/2014/main" id="{9C12544B-678B-AA0D-679E-FD3DEE916C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F26F86C4-1E05-2975-1279-8F1966A53461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4F05493-3D38-3C33-6445-FBC7CB0EB1BA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29D14C5-2B49-80C7-4C3D-50AB24021B6A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FD813C7-CDEF-593B-E8B0-927C8F57EEEB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08057AF-318A-6391-A812-3440EE8834B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25ca77fad41c44e392459a669cb46686.png">
            <a:extLst>
              <a:ext uri="{FF2B5EF4-FFF2-40B4-BE49-F238E27FC236}">
                <a16:creationId xmlns:a16="http://schemas.microsoft.com/office/drawing/2014/main" id="{20C07F2E-B7FF-DE89-B579-B34AA3439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>
            <a:extLst>
              <a:ext uri="{FF2B5EF4-FFF2-40B4-BE49-F238E27FC236}">
                <a16:creationId xmlns:a16="http://schemas.microsoft.com/office/drawing/2014/main" id="{307C195D-F23A-135D-4B1E-E92F996057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>
            <a:extLst>
              <a:ext uri="{FF2B5EF4-FFF2-40B4-BE49-F238E27FC236}">
                <a16:creationId xmlns:a16="http://schemas.microsoft.com/office/drawing/2014/main" id="{990A5080-2BE7-6396-3925-C160935340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>
            <a:extLst>
              <a:ext uri="{FF2B5EF4-FFF2-40B4-BE49-F238E27FC236}">
                <a16:creationId xmlns:a16="http://schemas.microsoft.com/office/drawing/2014/main" id="{A3D37FE7-21C3-C2F3-9653-79AEBD4CE8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>
            <a:extLst>
              <a:ext uri="{FF2B5EF4-FFF2-40B4-BE49-F238E27FC236}">
                <a16:creationId xmlns:a16="http://schemas.microsoft.com/office/drawing/2014/main" id="{1C47BCDA-F9A5-0B23-BD4C-556F546C23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260dd6da6acb35cd082fc331d2743917.png">
            <a:extLst>
              <a:ext uri="{FF2B5EF4-FFF2-40B4-BE49-F238E27FC236}">
                <a16:creationId xmlns:a16="http://schemas.microsoft.com/office/drawing/2014/main" id="{F7BB07AE-CF62-0F03-C5E7-B050A5226E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18" name="Image 8" descr="gen-dedup-260dd6da6acb35cd082fc331d2743917.png">
            <a:extLst>
              <a:ext uri="{FF2B5EF4-FFF2-40B4-BE49-F238E27FC236}">
                <a16:creationId xmlns:a16="http://schemas.microsoft.com/office/drawing/2014/main" id="{9AB23C0C-B360-FBCE-1BD0-FA0E71CDE9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5305" y="8781898"/>
            <a:ext cx="533095" cy="533095"/>
          </a:xfrm>
          <a:prstGeom prst="rect">
            <a:avLst/>
          </a:prstGeom>
        </p:spPr>
      </p:pic>
      <p:pic>
        <p:nvPicPr>
          <p:cNvPr id="19" name="Image 9" descr="gen-dedup-8a9a28c3a9840776409e917f9ceffe15.png">
            <a:extLst>
              <a:ext uri="{FF2B5EF4-FFF2-40B4-BE49-F238E27FC236}">
                <a16:creationId xmlns:a16="http://schemas.microsoft.com/office/drawing/2014/main" id="{14B55E06-15B8-9359-BDCB-99FEF25B48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>
            <a:extLst>
              <a:ext uri="{FF2B5EF4-FFF2-40B4-BE49-F238E27FC236}">
                <a16:creationId xmlns:a16="http://schemas.microsoft.com/office/drawing/2014/main" id="{9A3C473B-6E2C-1732-013C-9182447850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25ca77fad41c44e392459a669cb46686.png">
            <a:extLst>
              <a:ext uri="{FF2B5EF4-FFF2-40B4-BE49-F238E27FC236}">
                <a16:creationId xmlns:a16="http://schemas.microsoft.com/office/drawing/2014/main" id="{8DE891DD-258D-0BE8-0F20-9338F943E0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2" descr="gen-dedup-25ca77fad41c44e392459a669cb46686.png">
            <a:extLst>
              <a:ext uri="{FF2B5EF4-FFF2-40B4-BE49-F238E27FC236}">
                <a16:creationId xmlns:a16="http://schemas.microsoft.com/office/drawing/2014/main" id="{D94F94AF-F280-54C1-8A72-944CD77C65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3" descr="gen-dedup-6b1fea6ef9cf700851503bcdb8011f45.png">
            <a:extLst>
              <a:ext uri="{FF2B5EF4-FFF2-40B4-BE49-F238E27FC236}">
                <a16:creationId xmlns:a16="http://schemas.microsoft.com/office/drawing/2014/main" id="{737F2E49-E98D-3E7D-7AEF-1BC321FA8A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4" descr="gen-dedup-07d4da1bf1910daef42c9babebc62b73.png">
            <a:extLst>
              <a:ext uri="{FF2B5EF4-FFF2-40B4-BE49-F238E27FC236}">
                <a16:creationId xmlns:a16="http://schemas.microsoft.com/office/drawing/2014/main" id="{023910B1-58F6-BF3D-D63D-7197C38B9A4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5" descr="gen-dedup-fc23fc46cc0b8a7a71b92116d7c65e62.png">
            <a:extLst>
              <a:ext uri="{FF2B5EF4-FFF2-40B4-BE49-F238E27FC236}">
                <a16:creationId xmlns:a16="http://schemas.microsoft.com/office/drawing/2014/main" id="{A6CD2157-03EB-6118-1106-D4BAADF22B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f8ed294b000c1ef7e579ff30ac06ed18.png">
            <a:extLst>
              <a:ext uri="{FF2B5EF4-FFF2-40B4-BE49-F238E27FC236}">
                <a16:creationId xmlns:a16="http://schemas.microsoft.com/office/drawing/2014/main" id="{ED3D8E5D-D7E0-9755-566E-A7A7C184875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1fccdd897c6e68de427f95f9a1ba34cb.png">
            <a:extLst>
              <a:ext uri="{FF2B5EF4-FFF2-40B4-BE49-F238E27FC236}">
                <a16:creationId xmlns:a16="http://schemas.microsoft.com/office/drawing/2014/main" id="{9C81BF2F-F5F5-A9FC-0856-9F9E44A337D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28" name="Image 18" descr="gen-dedup-dbbe570e5ea020bc080cbd7c66058d39.png">
            <a:extLst>
              <a:ext uri="{FF2B5EF4-FFF2-40B4-BE49-F238E27FC236}">
                <a16:creationId xmlns:a16="http://schemas.microsoft.com/office/drawing/2014/main" id="{92D868F0-FF2F-E795-85CB-EDA81F6C6D7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3125" b="-3125"/>
          <a:stretch/>
        </p:blipFill>
        <p:spPr>
          <a:xfrm>
            <a:off x="9629546" y="8887054"/>
            <a:ext cx="323698" cy="323698"/>
          </a:xfrm>
          <a:prstGeom prst="rect">
            <a:avLst/>
          </a:prstGeom>
        </p:spPr>
      </p:pic>
      <p:pic>
        <p:nvPicPr>
          <p:cNvPr id="29" name="Image 19" descr="gen-dedup-dbbe570e5ea020bc080cbd7c66058d39.png">
            <a:extLst>
              <a:ext uri="{FF2B5EF4-FFF2-40B4-BE49-F238E27FC236}">
                <a16:creationId xmlns:a16="http://schemas.microsoft.com/office/drawing/2014/main" id="{E36919D7-6784-827D-A0E4-2D51CDFEE3F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3125" b="-3125"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D96523C9-3086-4E4A-E4A5-E8FCCEF264CF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C03</a:t>
            </a:r>
            <a:endParaRPr lang="en-US" sz="975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4870939-11DE-B72F-E0A9-08764A3D6CF7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E153123-EB4E-1151-7A6B-3F0A4436CDEB}"/>
              </a:ext>
            </a:extLst>
          </p:cNvPr>
          <p:cNvSpPr txBox="1"/>
          <p:nvPr/>
        </p:nvSpPr>
        <p:spPr>
          <a:xfrm>
            <a:off x="1315822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13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67D763D-8FB9-CD87-9961-7792D22E4558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· Qué entra, qué sale</a:t>
            </a:r>
            <a:endParaRPr lang="en-US" sz="1125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B0FBBC35-3B78-B843-BB35-FF08889D07A9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Voz.</a:t>
            </a:r>
            <a:endParaRPr lang="en-US" sz="58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8B5200F-94D9-3434-030B-8B605002EC8D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telefónica autónoma sobre su centralita actual.</a:t>
            </a:r>
            <a:endParaRPr lang="en-US" sz="19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96DA804F-D62E-F1D1-2FCB-F5D4414C5BD7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014188B8-2FCB-0BB6-5C99-A984BB798C7C}"/>
              </a:ext>
            </a:extLst>
          </p:cNvPr>
          <p:cNvSpPr/>
          <p:nvPr/>
        </p:nvSpPr>
        <p:spPr>
          <a:xfrm>
            <a:off x="12382805" y="2533802"/>
            <a:ext cx="11713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AB755CD-52F5-82E9-011E-91C13218AD09}"/>
              </a:ext>
            </a:extLst>
          </p:cNvPr>
          <p:cNvSpPr txBox="1"/>
          <p:nvPr/>
        </p:nvSpPr>
        <p:spPr>
          <a:xfrm>
            <a:off x="12382805" y="2533802"/>
            <a:ext cx="11722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FreeSWITCH</a:t>
            </a:r>
            <a:endParaRPr lang="en-US" sz="1125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6E45C1A-7EE4-ECDB-1BCC-236C92CBA3AE}"/>
              </a:ext>
            </a:extLst>
          </p:cNvPr>
          <p:cNvSpPr/>
          <p:nvPr/>
        </p:nvSpPr>
        <p:spPr>
          <a:xfrm>
            <a:off x="13627303" y="2533802"/>
            <a:ext cx="8668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484383E7-812B-5F13-2989-BCA9CA1CBFC7}"/>
              </a:ext>
            </a:extLst>
          </p:cNvPr>
          <p:cNvSpPr txBox="1"/>
          <p:nvPr/>
        </p:nvSpPr>
        <p:spPr>
          <a:xfrm>
            <a:off x="13627303" y="25338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125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826EC3F4-2026-884D-D56D-FAD8EA7F35D0}"/>
              </a:ext>
            </a:extLst>
          </p:cNvPr>
          <p:cNvSpPr/>
          <p:nvPr/>
        </p:nvSpPr>
        <p:spPr>
          <a:xfrm>
            <a:off x="1456913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0784E4ED-6119-5057-6DB8-A862C0CF2350}"/>
              </a:ext>
            </a:extLst>
          </p:cNvPr>
          <p:cNvSpPr txBox="1"/>
          <p:nvPr/>
        </p:nvSpPr>
        <p:spPr>
          <a:xfrm>
            <a:off x="1456913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ADC891A8-20FC-0238-6425-27E1AD781923}"/>
              </a:ext>
            </a:extLst>
          </p:cNvPr>
          <p:cNvSpPr/>
          <p:nvPr/>
        </p:nvSpPr>
        <p:spPr>
          <a:xfrm>
            <a:off x="15692018" y="2533802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6ABC70F7-5B0A-F7F1-3480-E21C2A2E2B89}"/>
              </a:ext>
            </a:extLst>
          </p:cNvPr>
          <p:cNvSpPr txBox="1"/>
          <p:nvPr/>
        </p:nvSpPr>
        <p:spPr>
          <a:xfrm>
            <a:off x="15692018" y="2533802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1125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D9A403D1-8243-1F0A-FAFB-61C3944D8DBC}"/>
              </a:ext>
            </a:extLst>
          </p:cNvPr>
          <p:cNvSpPr/>
          <p:nvPr/>
        </p:nvSpPr>
        <p:spPr>
          <a:xfrm>
            <a:off x="12382805" y="2905049"/>
            <a:ext cx="514807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A671FE8F-AF1B-0AC0-F1A7-BEC21E93C2FD}"/>
              </a:ext>
            </a:extLst>
          </p:cNvPr>
          <p:cNvSpPr txBox="1"/>
          <p:nvPr/>
        </p:nvSpPr>
        <p:spPr>
          <a:xfrm>
            <a:off x="12382805" y="2905049"/>
            <a:ext cx="5148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</a:t>
            </a:r>
            <a:endParaRPr lang="en-US" sz="1125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E1DE1CB7-81FA-D8C9-F873-5E2975377A18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4190AC3A-54D5-F79D-E8CF-2986CAEDF8F2}"/>
              </a:ext>
            </a:extLst>
          </p:cNvPr>
          <p:cNvSpPr/>
          <p:nvPr/>
        </p:nvSpPr>
        <p:spPr>
          <a:xfrm>
            <a:off x="12382805" y="3829507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009DB5EB-2FD4-A891-C85D-53A719D7FAC0}"/>
              </a:ext>
            </a:extLst>
          </p:cNvPr>
          <p:cNvSpPr txBox="1"/>
          <p:nvPr/>
        </p:nvSpPr>
        <p:spPr>
          <a:xfrm>
            <a:off x="12382805" y="3829507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1125" dirty="0"/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09773CA3-5B73-64EF-CE3E-1A21DC3F68E8}"/>
              </a:ext>
            </a:extLst>
          </p:cNvPr>
          <p:cNvSpPr/>
          <p:nvPr/>
        </p:nvSpPr>
        <p:spPr>
          <a:xfrm>
            <a:off x="13384073" y="3829507"/>
            <a:ext cx="7717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82E5172A-1444-2033-6C3A-9EA343F7B536}"/>
              </a:ext>
            </a:extLst>
          </p:cNvPr>
          <p:cNvSpPr txBox="1"/>
          <p:nvPr/>
        </p:nvSpPr>
        <p:spPr>
          <a:xfrm>
            <a:off x="13384073" y="3829507"/>
            <a:ext cx="7717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ASPOL</a:t>
            </a:r>
            <a:endParaRPr lang="en-US" sz="1125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C1CA3A27-4649-0215-1FBA-3410FED7D3F0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0285CD0D-E1B3-D0AD-82FA-B83B9DD3E1FA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C86CF816-507D-2BD4-FAF6-06F0338D5E7F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pic>
        <p:nvPicPr>
          <p:cNvPr id="55" name="Image 20" descr="gen-dedup-5753d29df88f58139a34bdae804f42e1.png">
            <a:extLst>
              <a:ext uri="{FF2B5EF4-FFF2-40B4-BE49-F238E27FC236}">
                <a16:creationId xmlns:a16="http://schemas.microsoft.com/office/drawing/2014/main" id="{673E7C37-272F-1A56-C511-5AFA10AA43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6698" y="5886907"/>
            <a:ext cx="381305" cy="381305"/>
          </a:xfrm>
          <a:prstGeom prst="rect">
            <a:avLst/>
          </a:prstGeom>
        </p:spPr>
      </p:pic>
      <p:sp>
        <p:nvSpPr>
          <p:cNvPr id="56" name="Text 33">
            <a:extLst>
              <a:ext uri="{FF2B5EF4-FFF2-40B4-BE49-F238E27FC236}">
                <a16:creationId xmlns:a16="http://schemas.microsoft.com/office/drawing/2014/main" id="{37DEA210-6872-71B9-400C-601F1EFA551F}"/>
              </a:ext>
            </a:extLst>
          </p:cNvPr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entrante</a:t>
            </a:r>
            <a:endParaRPr lang="en-US" sz="1725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5CF636BB-617A-6060-B502-8BB817DBD5D3}"/>
              </a:ext>
            </a:extLst>
          </p:cNvPr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Extensión SIP</a:t>
            </a:r>
            <a:endParaRPr lang="en-US" sz="1275" dirty="0"/>
          </a:p>
        </p:txBody>
      </p:sp>
      <p:pic>
        <p:nvPicPr>
          <p:cNvPr id="58" name="Image 21" descr="gen-dedup-40fe17d3ab1353232329f201d424c931.png">
            <a:extLst>
              <a:ext uri="{FF2B5EF4-FFF2-40B4-BE49-F238E27FC236}">
                <a16:creationId xmlns:a16="http://schemas.microsoft.com/office/drawing/2014/main" id="{5FB3A836-40DD-CFA4-1911-96C605EDF03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9" name="Text 35">
            <a:extLst>
              <a:ext uri="{FF2B5EF4-FFF2-40B4-BE49-F238E27FC236}">
                <a16:creationId xmlns:a16="http://schemas.microsoft.com/office/drawing/2014/main" id="{19FA1A27-AF31-359C-BBD8-306437CCFAF7}"/>
              </a:ext>
            </a:extLst>
          </p:cNvPr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centralita</a:t>
            </a:r>
            <a:endParaRPr lang="en-US" sz="1725" dirty="0"/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04ED484E-D5FC-7CAB-1EE5-05FCD2A73000}"/>
              </a:ext>
            </a:extLst>
          </p:cNvPr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cambiarla</a:t>
            </a:r>
            <a:endParaRPr lang="en-US" sz="1275" dirty="0"/>
          </a:p>
        </p:txBody>
      </p:sp>
      <p:pic>
        <p:nvPicPr>
          <p:cNvPr id="61" name="Image 22" descr="gen-dedup-e2a0c92ad940ed4cb94c2f4f57203343.png">
            <a:extLst>
              <a:ext uri="{FF2B5EF4-FFF2-40B4-BE49-F238E27FC236}">
                <a16:creationId xmlns:a16="http://schemas.microsoft.com/office/drawing/2014/main" id="{CFBEC150-1130-A198-AC2A-55A373953F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2" name="Text 37">
            <a:extLst>
              <a:ext uri="{FF2B5EF4-FFF2-40B4-BE49-F238E27FC236}">
                <a16:creationId xmlns:a16="http://schemas.microsoft.com/office/drawing/2014/main" id="{BECE400F-FD64-F094-5B23-2BF277B419D5}"/>
              </a:ext>
            </a:extLst>
          </p:cNvPr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 del cliente</a:t>
            </a:r>
            <a:endParaRPr lang="en-US" sz="1725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F6B428C0-D3EB-D561-B409-F0AFB0101F60}"/>
              </a:ext>
            </a:extLst>
          </p:cNvPr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 e inglés</a:t>
            </a:r>
            <a:endParaRPr lang="en-US" sz="1275" dirty="0"/>
          </a:p>
        </p:txBody>
      </p:sp>
      <p:pic>
        <p:nvPicPr>
          <p:cNvPr id="64" name="Image 23" descr="gen-dedup-182d78fddcadc7feb406cb878a100c1d.png">
            <a:extLst>
              <a:ext uri="{FF2B5EF4-FFF2-40B4-BE49-F238E27FC236}">
                <a16:creationId xmlns:a16="http://schemas.microsoft.com/office/drawing/2014/main" id="{53EB3C4A-427C-A6C0-3D84-85CF5FEF472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5" name="Text 39">
            <a:extLst>
              <a:ext uri="{FF2B5EF4-FFF2-40B4-BE49-F238E27FC236}">
                <a16:creationId xmlns:a16="http://schemas.microsoft.com/office/drawing/2014/main" id="{C12DCA70-A3E9-1F44-F622-C0DE82750160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C03</a:t>
            </a:r>
            <a:endParaRPr lang="en-US" sz="900" dirty="0"/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74CE247C-C927-14DB-C75A-1F30024963F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de Voz</a:t>
            </a:r>
            <a:endParaRPr lang="en-US" sz="2250" dirty="0"/>
          </a:p>
        </p:txBody>
      </p:sp>
      <p:sp>
        <p:nvSpPr>
          <p:cNvPr id="67" name="Shape 41">
            <a:extLst>
              <a:ext uri="{FF2B5EF4-FFF2-40B4-BE49-F238E27FC236}">
                <a16:creationId xmlns:a16="http://schemas.microsoft.com/office/drawing/2014/main" id="{2256161A-8FA7-0354-C2DE-CD4AFE96E68C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2">
            <a:extLst>
              <a:ext uri="{FF2B5EF4-FFF2-40B4-BE49-F238E27FC236}">
                <a16:creationId xmlns:a16="http://schemas.microsoft.com/office/drawing/2014/main" id="{7E71D619-BA77-4914-D02A-887280167E95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39080CA7-C268-CF10-8238-2E12EC636436}"/>
              </a:ext>
            </a:extLst>
          </p:cNvPr>
          <p:cNvSpPr txBox="1"/>
          <p:nvPr/>
        </p:nvSpPr>
        <p:spPr>
          <a:xfrm>
            <a:off x="7524598" y="6986930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Transcribe la voz en tiempo real</a:t>
            </a:r>
            <a:endParaRPr lang="en-US" sz="1425" dirty="0"/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7BCB0ACD-B1EA-A5C8-A202-2E84AA72F487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43858D6A-121D-A0DB-3855-4369F4B19CD3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CF122125-6582-2C78-74CE-04E5EDD508CA}"/>
              </a:ext>
            </a:extLst>
          </p:cNvPr>
          <p:cNvSpPr txBox="1"/>
          <p:nvPr/>
        </p:nvSpPr>
        <p:spPr>
          <a:xfrm>
            <a:off x="7524598" y="7386523"/>
            <a:ext cx="24597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y decide 24/7</a:t>
            </a:r>
            <a:endParaRPr lang="en-US" sz="1425" dirty="0"/>
          </a:p>
        </p:txBody>
      </p:sp>
      <p:sp>
        <p:nvSpPr>
          <p:cNvPr id="73" name="Shape 47">
            <a:extLst>
              <a:ext uri="{FF2B5EF4-FFF2-40B4-BE49-F238E27FC236}">
                <a16:creationId xmlns:a16="http://schemas.microsoft.com/office/drawing/2014/main" id="{639FBCCA-38CC-8758-B6D3-49F73AA278F0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48">
            <a:extLst>
              <a:ext uri="{FF2B5EF4-FFF2-40B4-BE49-F238E27FC236}">
                <a16:creationId xmlns:a16="http://schemas.microsoft.com/office/drawing/2014/main" id="{45C33F66-2300-E686-A4E0-F5090B1B2EB4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49">
            <a:extLst>
              <a:ext uri="{FF2B5EF4-FFF2-40B4-BE49-F238E27FC236}">
                <a16:creationId xmlns:a16="http://schemas.microsoft.com/office/drawing/2014/main" id="{30E94B98-A45B-E4E4-1563-16331276D4E0}"/>
              </a:ext>
            </a:extLst>
          </p:cNvPr>
          <p:cNvSpPr txBox="1"/>
          <p:nvPr/>
        </p:nvSpPr>
        <p:spPr>
          <a:xfrm>
            <a:off x="7524598" y="7787030"/>
            <a:ext cx="26755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con voz natural</a:t>
            </a:r>
            <a:endParaRPr lang="en-US" sz="1425" dirty="0"/>
          </a:p>
        </p:txBody>
      </p:sp>
      <p:sp>
        <p:nvSpPr>
          <p:cNvPr id="76" name="Shape 50">
            <a:extLst>
              <a:ext uri="{FF2B5EF4-FFF2-40B4-BE49-F238E27FC236}">
                <a16:creationId xmlns:a16="http://schemas.microsoft.com/office/drawing/2014/main" id="{C9F6805D-F6F7-4EE9-67C7-A7259A9FD83C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1">
            <a:extLst>
              <a:ext uri="{FF2B5EF4-FFF2-40B4-BE49-F238E27FC236}">
                <a16:creationId xmlns:a16="http://schemas.microsoft.com/office/drawing/2014/main" id="{9F2594B3-9CA5-611B-FCB8-1DAE9270A921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8" name="Text 52">
            <a:extLst>
              <a:ext uri="{FF2B5EF4-FFF2-40B4-BE49-F238E27FC236}">
                <a16:creationId xmlns:a16="http://schemas.microsoft.com/office/drawing/2014/main" id="{E914D527-75B6-1888-2E63-6EE3D7FC7990}"/>
              </a:ext>
            </a:extLst>
          </p:cNvPr>
          <p:cNvSpPr txBox="1"/>
          <p:nvPr/>
        </p:nvSpPr>
        <p:spPr>
          <a:xfrm>
            <a:off x="7524598" y="8186623"/>
            <a:ext cx="31967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5 llamadas concurrentes</a:t>
            </a:r>
            <a:endParaRPr lang="en-US" sz="1425" dirty="0"/>
          </a:p>
        </p:txBody>
      </p:sp>
      <p:pic>
        <p:nvPicPr>
          <p:cNvPr id="79" name="Image 24" descr="gen-dedup-9f2da3d601bd1ff2962f48734b24ef49.png">
            <a:extLst>
              <a:ext uri="{FF2B5EF4-FFF2-40B4-BE49-F238E27FC236}">
                <a16:creationId xmlns:a16="http://schemas.microsoft.com/office/drawing/2014/main" id="{688C0D76-C35B-DBBF-2955-3E5D340060F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0" name="Text 53">
            <a:extLst>
              <a:ext uri="{FF2B5EF4-FFF2-40B4-BE49-F238E27FC236}">
                <a16:creationId xmlns:a16="http://schemas.microsoft.com/office/drawing/2014/main" id="{0BE0BC74-A5E3-D65A-FAE3-D8C51B6E9FB8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hablada</a:t>
            </a:r>
            <a:endParaRPr lang="en-US" sz="1725" dirty="0"/>
          </a:p>
        </p:txBody>
      </p:sp>
      <p:sp>
        <p:nvSpPr>
          <p:cNvPr id="81" name="Text 54">
            <a:extLst>
              <a:ext uri="{FF2B5EF4-FFF2-40B4-BE49-F238E27FC236}">
                <a16:creationId xmlns:a16="http://schemas.microsoft.com/office/drawing/2014/main" id="{CFCF4518-F77C-72CF-8987-B514D76A8363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TTS</a:t>
            </a:r>
            <a:endParaRPr lang="en-US" sz="1275" dirty="0"/>
          </a:p>
        </p:txBody>
      </p:sp>
      <p:pic>
        <p:nvPicPr>
          <p:cNvPr id="82" name="Image 25" descr="gen-dedup-2b4a586b3ab60de3fc74674a155585a7.png">
            <a:extLst>
              <a:ext uri="{FF2B5EF4-FFF2-40B4-BE49-F238E27FC236}">
                <a16:creationId xmlns:a16="http://schemas.microsoft.com/office/drawing/2014/main" id="{974E3E87-B617-061F-0048-0DB7B1E8B4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83" name="Text 55">
            <a:extLst>
              <a:ext uri="{FF2B5EF4-FFF2-40B4-BE49-F238E27FC236}">
                <a16:creationId xmlns:a16="http://schemas.microsoft.com/office/drawing/2014/main" id="{11C18A96-C464-A891-DB16-33BD3787D4E8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Traspaso al humano</a:t>
            </a:r>
            <a:endParaRPr lang="en-US" sz="1725" dirty="0"/>
          </a:p>
        </p:txBody>
      </p:sp>
      <p:sp>
        <p:nvSpPr>
          <p:cNvPr id="84" name="Text 56">
            <a:extLst>
              <a:ext uri="{FF2B5EF4-FFF2-40B4-BE49-F238E27FC236}">
                <a16:creationId xmlns:a16="http://schemas.microsoft.com/office/drawing/2014/main" id="{19F0F8E6-2DAC-5863-2045-3E74BBE3AD81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todo el contexto</a:t>
            </a:r>
            <a:endParaRPr lang="en-US" sz="1275" dirty="0"/>
          </a:p>
        </p:txBody>
      </p:sp>
      <p:pic>
        <p:nvPicPr>
          <p:cNvPr id="85" name="Image 26" descr="gen-dedup-fb6dc6c69da23a7763f473aade9244e2.png">
            <a:extLst>
              <a:ext uri="{FF2B5EF4-FFF2-40B4-BE49-F238E27FC236}">
                <a16:creationId xmlns:a16="http://schemas.microsoft.com/office/drawing/2014/main" id="{F499DF8A-4756-C9E6-91C9-FEA06BBAB6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6" name="Text 57">
            <a:extLst>
              <a:ext uri="{FF2B5EF4-FFF2-40B4-BE49-F238E27FC236}">
                <a16:creationId xmlns:a16="http://schemas.microsoft.com/office/drawing/2014/main" id="{E0580382-907F-A9A5-E0B2-319DDBB3648C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estructurado</a:t>
            </a:r>
            <a:endParaRPr lang="en-US" sz="1725" dirty="0"/>
          </a:p>
        </p:txBody>
      </p:sp>
      <p:sp>
        <p:nvSpPr>
          <p:cNvPr id="87" name="Text 58">
            <a:extLst>
              <a:ext uri="{FF2B5EF4-FFF2-40B4-BE49-F238E27FC236}">
                <a16:creationId xmlns:a16="http://schemas.microsoft.com/office/drawing/2014/main" id="{88A33107-A7A7-D56A-0B3A-8D603F4C0B9F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Grabación y transcripción</a:t>
            </a:r>
            <a:endParaRPr lang="en-US" sz="1275" dirty="0"/>
          </a:p>
        </p:txBody>
      </p:sp>
      <p:pic>
        <p:nvPicPr>
          <p:cNvPr id="88" name="Image 27" descr="gen-dedup-4e71fa0306145f1fe8c8f6d6baeae426.png">
            <a:extLst>
              <a:ext uri="{FF2B5EF4-FFF2-40B4-BE49-F238E27FC236}">
                <a16:creationId xmlns:a16="http://schemas.microsoft.com/office/drawing/2014/main" id="{9588B95C-233E-74BA-0D37-71490EC78C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9" name="Text 59">
            <a:extLst>
              <a:ext uri="{FF2B5EF4-FFF2-40B4-BE49-F238E27FC236}">
                <a16:creationId xmlns:a16="http://schemas.microsoft.com/office/drawing/2014/main" id="{5743D703-24F5-9238-5AC2-4089874DD33A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725" dirty="0"/>
          </a:p>
        </p:txBody>
      </p:sp>
      <p:sp>
        <p:nvSpPr>
          <p:cNvPr id="90" name="Text 60">
            <a:extLst>
              <a:ext uri="{FF2B5EF4-FFF2-40B4-BE49-F238E27FC236}">
                <a16:creationId xmlns:a16="http://schemas.microsoft.com/office/drawing/2014/main" id="{82279ACD-742F-E5A9-88B8-EFEC3F593D13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Transcripción y métricas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560386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761969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 · 36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4195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comercial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CRM al día sin que el comercial lo toque.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el correo de los comerciales, extrae la señal y actualiza Odoo: actividades, etapas, tareas. Detecta oportunidades inactivas y emite alertas. El comercial deja de transcribir y se dedica a vender.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2677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siempre actualizado.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oportunidades inactivas.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8565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accionables al comercial.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29343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Modos automático y supervisado.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0857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por acción.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253928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inmutable para auditoría.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631997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631997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2" name="Text 27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de actividad</a:t>
            </a:r>
            <a:endParaRPr lang="en-US" sz="825" dirty="0"/>
          </a:p>
        </p:txBody>
      </p:sp>
      <p:sp>
        <p:nvSpPr>
          <p:cNvPr id="33" name="Shape 28"/>
          <p:cNvSpPr/>
          <p:nvPr/>
        </p:nvSpPr>
        <p:spPr>
          <a:xfrm>
            <a:off x="13144500" y="2286000"/>
            <a:ext cx="4000500" cy="18864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13382244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147</a:t>
            </a:r>
            <a:endParaRPr lang="en-US" sz="2550" dirty="0"/>
          </a:p>
        </p:txBody>
      </p:sp>
      <p:sp>
        <p:nvSpPr>
          <p:cNvPr id="35" name="Text 30"/>
          <p:cNvSpPr txBox="1"/>
          <p:nvPr/>
        </p:nvSpPr>
        <p:spPr>
          <a:xfrm>
            <a:off x="13382244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Actividades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14282928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550" dirty="0"/>
          </a:p>
        </p:txBody>
      </p:sp>
      <p:sp>
        <p:nvSpPr>
          <p:cNvPr id="37" name="Text 32"/>
          <p:cNvSpPr txBox="1"/>
          <p:nvPr/>
        </p:nvSpPr>
        <p:spPr>
          <a:xfrm>
            <a:off x="14282928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Tareas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15182698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550" dirty="0"/>
          </a:p>
        </p:txBody>
      </p:sp>
      <p:sp>
        <p:nvSpPr>
          <p:cNvPr id="39" name="Text 34"/>
          <p:cNvSpPr txBox="1"/>
          <p:nvPr/>
        </p:nvSpPr>
        <p:spPr>
          <a:xfrm>
            <a:off x="15182698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16083382" y="2505456"/>
            <a:ext cx="8293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kern="0" spc="-5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2550" dirty="0"/>
          </a:p>
        </p:txBody>
      </p:sp>
      <p:sp>
        <p:nvSpPr>
          <p:cNvPr id="41" name="Text 36"/>
          <p:cNvSpPr txBox="1"/>
          <p:nvPr/>
        </p:nvSpPr>
        <p:spPr>
          <a:xfrm>
            <a:off x="16083382" y="2866644"/>
            <a:ext cx="8293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Inactivas</a:t>
            </a:r>
            <a:endParaRPr lang="en-US" sz="800" dirty="0"/>
          </a:p>
        </p:txBody>
      </p:sp>
      <p:pic>
        <p:nvPicPr>
          <p:cNvPr id="42" name="Image 3" descr="gen-dedup-47c85c61eb897dc9df54890f7cf3ecf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82244" y="3152851"/>
            <a:ext cx="3524098" cy="914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3382244" y="3333902"/>
            <a:ext cx="3525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actividad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3382244" y="3571646"/>
            <a:ext cx="35250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 NAUTIA-2025-118 movida a Negociación — tarea creada.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14287500" y="6953098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0"/>
          <p:cNvSpPr txBox="1"/>
          <p:nvPr/>
        </p:nvSpPr>
        <p:spPr>
          <a:xfrm>
            <a:off x="14287500" y="7134149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47" name="Text 41"/>
          <p:cNvSpPr txBox="1"/>
          <p:nvPr/>
        </p:nvSpPr>
        <p:spPr>
          <a:xfrm>
            <a:off x="14287500" y="7381951"/>
            <a:ext cx="905256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Córtex</a:t>
            </a:r>
            <a:endParaRPr lang="en-US" sz="975" dirty="0"/>
          </a:p>
        </p:txBody>
      </p:sp>
      <p:sp>
        <p:nvSpPr>
          <p:cNvPr id="48" name="Text 42"/>
          <p:cNvSpPr txBox="1"/>
          <p:nvPr/>
        </p:nvSpPr>
        <p:spPr>
          <a:xfrm>
            <a:off x="15268651" y="7381951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975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0" name="Text 44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/ 50</a:t>
            </a:r>
            <a:endParaRPr lang="en-US" sz="975" dirty="0"/>
          </a:p>
        </p:txBody>
      </p:sp>
      <p:pic>
        <p:nvPicPr>
          <p:cNvPr id="51" name="Image 4" descr="gen-dedup-b9323ed466faf8272e44a6a6bb1ae81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2F14-FA6B-7491-4376-F59B7084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3B04FD8C-4A31-5B2D-F769-45063280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29A3A5-8D4C-75D0-7C58-057336A30755}"/>
              </a:ext>
            </a:extLst>
          </p:cNvPr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4904A1B-A9F5-4D6D-A394-C7031022736E}"/>
              </a:ext>
            </a:extLst>
          </p:cNvPr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71773A1-5B00-1623-970D-F3351E8B935A}"/>
              </a:ext>
            </a:extLst>
          </p:cNvPr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>
            <a:extLst>
              <a:ext uri="{FF2B5EF4-FFF2-40B4-BE49-F238E27FC236}">
                <a16:creationId xmlns:a16="http://schemas.microsoft.com/office/drawing/2014/main" id="{F26BAA65-CCAC-5C17-7405-66DD0D50CD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ECD154B4-588B-E06D-8C29-82CBD56E5019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70E5AA2-8E17-7855-4238-D337948E8EC1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4F3152D-031A-66E5-8756-57D2D6CE917F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51AA2F9-61A8-CBED-2253-F8497117811E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529D2C2-E499-F93D-2050-EB9ECEC571EB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>
            <a:extLst>
              <a:ext uri="{FF2B5EF4-FFF2-40B4-BE49-F238E27FC236}">
                <a16:creationId xmlns:a16="http://schemas.microsoft.com/office/drawing/2014/main" id="{0A4E38EF-3D0D-E385-4270-0C7C93B49C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8a9a28c3a9840776409e917f9ceffe15.png">
            <a:extLst>
              <a:ext uri="{FF2B5EF4-FFF2-40B4-BE49-F238E27FC236}">
                <a16:creationId xmlns:a16="http://schemas.microsoft.com/office/drawing/2014/main" id="{2F98A228-15AC-A250-6B82-AD0467DEAD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>
            <a:extLst>
              <a:ext uri="{FF2B5EF4-FFF2-40B4-BE49-F238E27FC236}">
                <a16:creationId xmlns:a16="http://schemas.microsoft.com/office/drawing/2014/main" id="{2DF1BC95-6A45-467B-627D-8C0B806CCF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>
            <a:extLst>
              <a:ext uri="{FF2B5EF4-FFF2-40B4-BE49-F238E27FC236}">
                <a16:creationId xmlns:a16="http://schemas.microsoft.com/office/drawing/2014/main" id="{B788E3C6-E090-9B84-FE34-CF673EBF17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>
            <a:extLst>
              <a:ext uri="{FF2B5EF4-FFF2-40B4-BE49-F238E27FC236}">
                <a16:creationId xmlns:a16="http://schemas.microsoft.com/office/drawing/2014/main" id="{CD82A74D-0282-BF2C-69A3-11DC89B3D8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53298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8a9a28c3a9840776409e917f9ceffe15.png">
            <a:extLst>
              <a:ext uri="{FF2B5EF4-FFF2-40B4-BE49-F238E27FC236}">
                <a16:creationId xmlns:a16="http://schemas.microsoft.com/office/drawing/2014/main" id="{C0FE5461-8CFB-EB45-B0C0-847316CA81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8" name="Image 8" descr="gen-dedup-8a9a28c3a9840776409e917f9ceffe15.png">
            <a:extLst>
              <a:ext uri="{FF2B5EF4-FFF2-40B4-BE49-F238E27FC236}">
                <a16:creationId xmlns:a16="http://schemas.microsoft.com/office/drawing/2014/main" id="{CBEF4F3A-05D7-5D44-CCCA-6EA081DDC4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19" name="Image 9" descr="gen-dedup-8a9a28c3a9840776409e917f9ceffe15.png">
            <a:extLst>
              <a:ext uri="{FF2B5EF4-FFF2-40B4-BE49-F238E27FC236}">
                <a16:creationId xmlns:a16="http://schemas.microsoft.com/office/drawing/2014/main" id="{C1FC1CFE-84C6-89F8-EBD0-7207948D10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>
            <a:extLst>
              <a:ext uri="{FF2B5EF4-FFF2-40B4-BE49-F238E27FC236}">
                <a16:creationId xmlns:a16="http://schemas.microsoft.com/office/drawing/2014/main" id="{D95A4D56-D5DD-5735-B596-0978ADA3C5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6b1fea6ef9cf700851503bcdb8011f45.png">
            <a:extLst>
              <a:ext uri="{FF2B5EF4-FFF2-40B4-BE49-F238E27FC236}">
                <a16:creationId xmlns:a16="http://schemas.microsoft.com/office/drawing/2014/main" id="{A097B113-69E3-430D-81EB-0CC4A44DF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2" name="Image 12" descr="gen-dedup-07d4da1bf1910daef42c9babebc62b73.png">
            <a:extLst>
              <a:ext uri="{FF2B5EF4-FFF2-40B4-BE49-F238E27FC236}">
                <a16:creationId xmlns:a16="http://schemas.microsoft.com/office/drawing/2014/main" id="{3481503F-4160-3965-1FA4-82497A3D43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3" name="Image 13" descr="gen-dedup-5023fea922589d6909f6d48e2362d329.png">
            <a:extLst>
              <a:ext uri="{FF2B5EF4-FFF2-40B4-BE49-F238E27FC236}">
                <a16:creationId xmlns:a16="http://schemas.microsoft.com/office/drawing/2014/main" id="{C1463665-5D9F-E3FC-3F4C-010CA4D294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4" name="Image 14" descr="gen-dedup-04a6c6595c9dff6b95c3b59c31d72678.png">
            <a:extLst>
              <a:ext uri="{FF2B5EF4-FFF2-40B4-BE49-F238E27FC236}">
                <a16:creationId xmlns:a16="http://schemas.microsoft.com/office/drawing/2014/main" id="{BC3AF015-49FF-78AA-F3F2-2995689092D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7067398"/>
            <a:ext cx="409651" cy="409651"/>
          </a:xfrm>
          <a:prstGeom prst="rect">
            <a:avLst/>
          </a:prstGeom>
        </p:spPr>
      </p:pic>
      <p:pic>
        <p:nvPicPr>
          <p:cNvPr id="25" name="Image 15" descr="gen-dedup-fc23fc46cc0b8a7a71b92116d7c65e62.png">
            <a:extLst>
              <a:ext uri="{FF2B5EF4-FFF2-40B4-BE49-F238E27FC236}">
                <a16:creationId xmlns:a16="http://schemas.microsoft.com/office/drawing/2014/main" id="{569C1092-AB06-4B36-439A-25000B0CCB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1fccdd897c6e68de427f95f9a1ba34cb.png">
            <a:extLst>
              <a:ext uri="{FF2B5EF4-FFF2-40B4-BE49-F238E27FC236}">
                <a16:creationId xmlns:a16="http://schemas.microsoft.com/office/drawing/2014/main" id="{6C0BAF59-34E4-6E40-62A3-17C33E82E44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58454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367a927f5b78b4bbee80af254fbb37ad.png">
            <a:extLst>
              <a:ext uri="{FF2B5EF4-FFF2-40B4-BE49-F238E27FC236}">
                <a16:creationId xmlns:a16="http://schemas.microsoft.com/office/drawing/2014/main" id="{4BF6476B-B204-30B5-BFE2-BE11931AF51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28" name="Image 18" descr="gen-dedup-ea2e85f5b1b3acf79a04f16727fee6bd.png">
            <a:extLst>
              <a:ext uri="{FF2B5EF4-FFF2-40B4-BE49-F238E27FC236}">
                <a16:creationId xmlns:a16="http://schemas.microsoft.com/office/drawing/2014/main" id="{F1E9D9EE-A2CF-F0DE-1D17-FEA51868CC0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29" name="Image 19" descr="gen-dedup-dc1f25954fda8af65157a95b5d7177cd.png">
            <a:extLst>
              <a:ext uri="{FF2B5EF4-FFF2-40B4-BE49-F238E27FC236}">
                <a16:creationId xmlns:a16="http://schemas.microsoft.com/office/drawing/2014/main" id="{F4241141-FE5E-4548-9C27-BB92939515B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21875" b="-21875"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EDF79E4E-FF69-DC15-455C-AD163B10E34B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C04</a:t>
            </a:r>
            <a:endParaRPr lang="en-US" sz="975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F3ECF20C-006E-DD5D-D68F-0215B46D3E31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4409B18C-D1DD-84DD-53F6-C4DF1FE431E3}"/>
              </a:ext>
            </a:extLst>
          </p:cNvPr>
          <p:cNvSpPr txBox="1"/>
          <p:nvPr/>
        </p:nvSpPr>
        <p:spPr>
          <a:xfrm>
            <a:off x="1313078" y="2214677"/>
            <a:ext cx="3721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13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61F1FC6-7C8E-E515-71FF-BC678D902FB4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comercial · Qué entra, qué sale</a:t>
            </a:r>
            <a:endParaRPr lang="en-US" sz="1125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6C369E3B-14ED-0BCE-91CE-F66E723661CB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CRM.</a:t>
            </a:r>
            <a:endParaRPr lang="en-US" sz="58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C5C7DFAF-95B0-CAAA-DF21-B3A18EA1A05E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CRM al día sin que el comercial lo toque.</a:t>
            </a:r>
            <a:endParaRPr lang="en-US" sz="19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1640E768-78F8-B680-AE5E-6A95331A90A2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11E0C700-D3EF-16CF-9442-F97416008F19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A4525113-CFFD-2CC5-05B6-B6CCB5F7E311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0F65029-8C79-1102-401F-8AA35E0601B2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211E3AE-A4BF-83A2-D593-9F6A55ABABC2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AE7C2123-7923-E320-2205-471E15C4E99E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EB3556CE-74DF-A3AE-211A-FEE2A7FA3316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4AF2989A-0616-F744-33E4-43C1956D2A70}"/>
              </a:ext>
            </a:extLst>
          </p:cNvPr>
          <p:cNvSpPr/>
          <p:nvPr/>
        </p:nvSpPr>
        <p:spPr>
          <a:xfrm>
            <a:off x="14890090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2382FF7F-FDC7-22A5-9095-F32D315CDA44}"/>
              </a:ext>
            </a:extLst>
          </p:cNvPr>
          <p:cNvSpPr txBox="1"/>
          <p:nvPr/>
        </p:nvSpPr>
        <p:spPr>
          <a:xfrm>
            <a:off x="14890090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9543804F-2A08-DD3E-F7C1-781FA2F1552D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F617A3BB-746E-9CD0-BF90-15BBCA7D63BA}"/>
              </a:ext>
            </a:extLst>
          </p:cNvPr>
          <p:cNvSpPr/>
          <p:nvPr/>
        </p:nvSpPr>
        <p:spPr>
          <a:xfrm>
            <a:off x="12382805" y="3829507"/>
            <a:ext cx="10287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6428B006-F432-3C44-F4E4-63B0343DF60B}"/>
              </a:ext>
            </a:extLst>
          </p:cNvPr>
          <p:cNvSpPr txBox="1"/>
          <p:nvPr/>
        </p:nvSpPr>
        <p:spPr>
          <a:xfrm>
            <a:off x="12382805" y="3829507"/>
            <a:ext cx="10287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Córtex</a:t>
            </a:r>
            <a:endParaRPr lang="en-US" sz="1125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ABC359B4-20B3-2CAD-8FB5-F158B753139B}"/>
              </a:ext>
            </a:extLst>
          </p:cNvPr>
          <p:cNvSpPr/>
          <p:nvPr/>
        </p:nvSpPr>
        <p:spPr>
          <a:xfrm>
            <a:off x="13486486" y="3829507"/>
            <a:ext cx="69494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B8E39140-5D49-D51A-788C-4CDAC8F4AF2A}"/>
              </a:ext>
            </a:extLst>
          </p:cNvPr>
          <p:cNvSpPr txBox="1"/>
          <p:nvPr/>
        </p:nvSpPr>
        <p:spPr>
          <a:xfrm>
            <a:off x="13486486" y="3829507"/>
            <a:ext cx="6958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1125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60ED6435-4585-B040-A86D-0B78B31A476C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4F5E99EE-CCEF-028A-DCF9-89781D468E21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14F1DC18-7119-CB6A-5173-67E906616D98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1AF171A-5601-A5A4-EBB7-E4755D99484C}"/>
              </a:ext>
            </a:extLst>
          </p:cNvPr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</a:t>
            </a:r>
            <a:endParaRPr lang="en-US" sz="1725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2C273CF4-9F70-6481-C9C3-2EDF96139DAE}"/>
              </a:ext>
            </a:extLst>
          </p:cNvPr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comercial vía IMAP</a:t>
            </a:r>
            <a:endParaRPr lang="en-US" sz="1275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2702E31C-127F-60EE-D9D1-109BF25F9955}"/>
              </a:ext>
            </a:extLst>
          </p:cNvPr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7B875BD1-E706-A3BE-6074-0E32609AD52F}"/>
              </a:ext>
            </a:extLst>
          </p:cNvPr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comercial</a:t>
            </a:r>
            <a:endParaRPr lang="en-US" sz="1275" dirty="0"/>
          </a:p>
        </p:txBody>
      </p:sp>
      <p:pic>
        <p:nvPicPr>
          <p:cNvPr id="57" name="Image 20" descr="gen-dedup-a832f96a8efbeea01b183a808255d3bb.png">
            <a:extLst>
              <a:ext uri="{FF2B5EF4-FFF2-40B4-BE49-F238E27FC236}">
                <a16:creationId xmlns:a16="http://schemas.microsoft.com/office/drawing/2014/main" id="{FEBC91ED-35D2-9A59-D959-13E9A033A90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58" name="Text 35">
            <a:extLst>
              <a:ext uri="{FF2B5EF4-FFF2-40B4-BE49-F238E27FC236}">
                <a16:creationId xmlns:a16="http://schemas.microsoft.com/office/drawing/2014/main" id="{2FE106D9-641A-6444-C9FD-D9D36A38B7A3}"/>
              </a:ext>
            </a:extLst>
          </p:cNvPr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Hilos con clientes</a:t>
            </a:r>
            <a:endParaRPr lang="en-US" sz="1725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101CF094-B9F2-E7F0-C3FB-A3EF44A3078D}"/>
              </a:ext>
            </a:extLst>
          </p:cNvPr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Señales de venta</a:t>
            </a:r>
            <a:endParaRPr lang="en-US" sz="1275" dirty="0"/>
          </a:p>
        </p:txBody>
      </p:sp>
      <p:pic>
        <p:nvPicPr>
          <p:cNvPr id="60" name="Image 21" descr="gen-dedup-182d78fddcadc7feb406cb878a100c1d.png">
            <a:extLst>
              <a:ext uri="{FF2B5EF4-FFF2-40B4-BE49-F238E27FC236}">
                <a16:creationId xmlns:a16="http://schemas.microsoft.com/office/drawing/2014/main" id="{F269681B-2364-5F01-3AD9-1953C5C5210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1" name="Text 37">
            <a:extLst>
              <a:ext uri="{FF2B5EF4-FFF2-40B4-BE49-F238E27FC236}">
                <a16:creationId xmlns:a16="http://schemas.microsoft.com/office/drawing/2014/main" id="{A91DBBFE-EFC5-C325-3E39-6FD27DECC34C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C04</a:t>
            </a:r>
            <a:endParaRPr lang="en-US" sz="900" dirty="0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286F5DF9-4F23-A3D2-F797-AC0068AB2957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CRM</a:t>
            </a:r>
            <a:endParaRPr lang="en-US" sz="2250" dirty="0"/>
          </a:p>
        </p:txBody>
      </p:sp>
      <p:sp>
        <p:nvSpPr>
          <p:cNvPr id="63" name="Shape 39">
            <a:extLst>
              <a:ext uri="{FF2B5EF4-FFF2-40B4-BE49-F238E27FC236}">
                <a16:creationId xmlns:a16="http://schemas.microsoft.com/office/drawing/2014/main" id="{28A7C841-9E3E-EA18-3129-C1BDF3F40B65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762FE3C0-F5F2-31A7-81E3-A879D42D79E7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5B4AC3A4-CE6D-A623-0EC7-A5A6413D3BDE}"/>
              </a:ext>
            </a:extLst>
          </p:cNvPr>
          <p:cNvSpPr txBox="1"/>
          <p:nvPr/>
        </p:nvSpPr>
        <p:spPr>
          <a:xfrm>
            <a:off x="7524598" y="6986930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 la señal de cada correo</a:t>
            </a:r>
            <a:endParaRPr lang="en-US" sz="1425" dirty="0"/>
          </a:p>
        </p:txBody>
      </p:sp>
      <p:sp>
        <p:nvSpPr>
          <p:cNvPr id="66" name="Shape 42">
            <a:extLst>
              <a:ext uri="{FF2B5EF4-FFF2-40B4-BE49-F238E27FC236}">
                <a16:creationId xmlns:a16="http://schemas.microsoft.com/office/drawing/2014/main" id="{2C14326F-CE06-3916-DFA5-EDBA3B5D4086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F8F6E114-4DAD-8A7C-F742-64ADB2B2A1B8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44">
            <a:extLst>
              <a:ext uri="{FF2B5EF4-FFF2-40B4-BE49-F238E27FC236}">
                <a16:creationId xmlns:a16="http://schemas.microsoft.com/office/drawing/2014/main" id="{9C98E36E-4A18-7F8A-9CBA-6EE87CDA265A}"/>
              </a:ext>
            </a:extLst>
          </p:cNvPr>
          <p:cNvSpPr txBox="1"/>
          <p:nvPr/>
        </p:nvSpPr>
        <p:spPr>
          <a:xfrm>
            <a:off x="7524598" y="7386523"/>
            <a:ext cx="38825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 actividades, etapas y tareas</a:t>
            </a:r>
            <a:endParaRPr lang="en-US" sz="1425" dirty="0"/>
          </a:p>
        </p:txBody>
      </p:sp>
      <p:sp>
        <p:nvSpPr>
          <p:cNvPr id="69" name="Shape 45">
            <a:extLst>
              <a:ext uri="{FF2B5EF4-FFF2-40B4-BE49-F238E27FC236}">
                <a16:creationId xmlns:a16="http://schemas.microsoft.com/office/drawing/2014/main" id="{48905610-84B6-FC2F-41B3-1FD3FE8F2D3A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75B3838D-D7A7-9E41-A6AC-FA65A269A73F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CD769E42-7A82-55D5-37C6-D1FAC1EA1FA2}"/>
              </a:ext>
            </a:extLst>
          </p:cNvPr>
          <p:cNvSpPr txBox="1"/>
          <p:nvPr/>
        </p:nvSpPr>
        <p:spPr>
          <a:xfrm>
            <a:off x="7524598" y="7787030"/>
            <a:ext cx="33329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oportunidades inactivas</a:t>
            </a:r>
            <a:endParaRPr lang="en-US" sz="1425" dirty="0"/>
          </a:p>
        </p:txBody>
      </p:sp>
      <p:sp>
        <p:nvSpPr>
          <p:cNvPr id="72" name="Shape 48">
            <a:extLst>
              <a:ext uri="{FF2B5EF4-FFF2-40B4-BE49-F238E27FC236}">
                <a16:creationId xmlns:a16="http://schemas.microsoft.com/office/drawing/2014/main" id="{9BF02579-8EC5-F6EF-C4B3-265C1D2D9587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9">
            <a:extLst>
              <a:ext uri="{FF2B5EF4-FFF2-40B4-BE49-F238E27FC236}">
                <a16:creationId xmlns:a16="http://schemas.microsoft.com/office/drawing/2014/main" id="{EC87ED28-81A3-C479-8507-C742375CFE2E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4" name="Text 50">
            <a:extLst>
              <a:ext uri="{FF2B5EF4-FFF2-40B4-BE49-F238E27FC236}">
                <a16:creationId xmlns:a16="http://schemas.microsoft.com/office/drawing/2014/main" id="{7F735120-E38D-1799-9A7C-BEAE79DA5CD3}"/>
              </a:ext>
            </a:extLst>
          </p:cNvPr>
          <p:cNvSpPr txBox="1"/>
          <p:nvPr/>
        </p:nvSpPr>
        <p:spPr>
          <a:xfrm>
            <a:off x="7524598" y="8186623"/>
            <a:ext cx="32607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automático o supervisado</a:t>
            </a:r>
            <a:endParaRPr lang="en-US" sz="1425" dirty="0"/>
          </a:p>
        </p:txBody>
      </p:sp>
      <p:sp>
        <p:nvSpPr>
          <p:cNvPr id="75" name="Shape 51">
            <a:extLst>
              <a:ext uri="{FF2B5EF4-FFF2-40B4-BE49-F238E27FC236}">
                <a16:creationId xmlns:a16="http://schemas.microsoft.com/office/drawing/2014/main" id="{5ED810C6-790A-AEB6-ED65-89B1B3543A9E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2">
            <a:extLst>
              <a:ext uri="{FF2B5EF4-FFF2-40B4-BE49-F238E27FC236}">
                <a16:creationId xmlns:a16="http://schemas.microsoft.com/office/drawing/2014/main" id="{22EB1CCF-2620-F10A-4EB1-8532A0BD4587}"/>
              </a:ext>
            </a:extLst>
          </p:cNvPr>
          <p:cNvSpPr txBox="1"/>
          <p:nvPr/>
        </p:nvSpPr>
        <p:spPr>
          <a:xfrm>
            <a:off x="9309506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pic>
        <p:nvPicPr>
          <p:cNvPr id="77" name="Image 22" descr="gen-dedup-9f2da3d601bd1ff2962f48734b24ef49.png">
            <a:extLst>
              <a:ext uri="{FF2B5EF4-FFF2-40B4-BE49-F238E27FC236}">
                <a16:creationId xmlns:a16="http://schemas.microsoft.com/office/drawing/2014/main" id="{0A131419-FA1B-4425-7F67-8A950EE1E84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78" name="Text 53">
            <a:extLst>
              <a:ext uri="{FF2B5EF4-FFF2-40B4-BE49-F238E27FC236}">
                <a16:creationId xmlns:a16="http://schemas.microsoft.com/office/drawing/2014/main" id="{AB4B7815-7658-067B-5B26-FBC977EFE208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CRM</a:t>
            </a:r>
            <a:endParaRPr lang="en-US" sz="1725" dirty="0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0054425A-FDC5-44D0-7D5B-70B4D4EC9EC9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actualizado</a:t>
            </a:r>
            <a:endParaRPr lang="en-US" sz="1275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CD9BE866-EB68-420E-C1A1-DB1F08D9A048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1725" dirty="0"/>
          </a:p>
        </p:txBody>
      </p:sp>
      <p:sp>
        <p:nvSpPr>
          <p:cNvPr id="81" name="Text 56">
            <a:extLst>
              <a:ext uri="{FF2B5EF4-FFF2-40B4-BE49-F238E27FC236}">
                <a16:creationId xmlns:a16="http://schemas.microsoft.com/office/drawing/2014/main" id="{3B695E3A-46D0-8009-1364-81D0341D3B40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1275" dirty="0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0F96F248-2EB1-D9FB-5419-44B468E62E22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1725" dirty="0"/>
          </a:p>
        </p:txBody>
      </p:sp>
      <p:sp>
        <p:nvSpPr>
          <p:cNvPr id="83" name="Text 58">
            <a:extLst>
              <a:ext uri="{FF2B5EF4-FFF2-40B4-BE49-F238E27FC236}">
                <a16:creationId xmlns:a16="http://schemas.microsoft.com/office/drawing/2014/main" id="{2E3D9D4E-DEEB-B363-93C1-1570ECCD4A30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sincronizado</a:t>
            </a:r>
            <a:endParaRPr lang="en-US" sz="1275" dirty="0"/>
          </a:p>
        </p:txBody>
      </p:sp>
      <p:pic>
        <p:nvPicPr>
          <p:cNvPr id="84" name="Image 23" descr="gen-dedup-88dcb31eb760695c9388ddaf5f14100d.png">
            <a:extLst>
              <a:ext uri="{FF2B5EF4-FFF2-40B4-BE49-F238E27FC236}">
                <a16:creationId xmlns:a16="http://schemas.microsoft.com/office/drawing/2014/main" id="{094D4D49-ECBD-FE75-A8C0-9883F12509A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5" name="Text 59">
            <a:extLst>
              <a:ext uri="{FF2B5EF4-FFF2-40B4-BE49-F238E27FC236}">
                <a16:creationId xmlns:a16="http://schemas.microsoft.com/office/drawing/2014/main" id="{5F80FB44-58A2-1258-F0BB-37DD5FAF0745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al comercial</a:t>
            </a:r>
            <a:endParaRPr lang="en-US" sz="1725" dirty="0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3289E817-5123-CB9F-FBDF-C8916B26FDC6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Accionables, con log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728484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72116808d469401733c917a4031849b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02000" y="-1714500"/>
            <a:ext cx="4000500" cy="40005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 · 38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199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Multicanal.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Adiós al grabado manual de pedidos.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los correos de pedido, los interpreta en lenguaje natural, los cruza con el catálogo y el stock y crea el pedido en su ERP. Si el ERP no escribe por API, lo deja en su propio módulo.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 del grabado nocturno manual.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58500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patrones por cliente.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42590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Cruce con catálogo y stock.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46012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inconsistencias antes de comprometer stock.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29343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Modos automático y supervisado.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40361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propio de fallback si el ERP no escribe.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6473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6483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631997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631997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610405" y="8762695"/>
            <a:ext cx="95280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610405" y="8762695"/>
            <a:ext cx="9528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detectado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097305" y="1904695"/>
            <a:ext cx="3810305" cy="21049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335049" y="2124151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7044416" y="2124151"/>
            <a:ext cx="6291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975" dirty="0"/>
          </a:p>
        </p:txBody>
      </p:sp>
      <p:pic>
        <p:nvPicPr>
          <p:cNvPr id="38" name="Image 3" descr="gen-dedup-903b0a4be279efbebb8ba9c031661f3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4335049" y="2409444"/>
            <a:ext cx="3333902" cy="91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335049" y="2553005"/>
            <a:ext cx="99486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A-2204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17373600" y="2553005"/>
            <a:ext cx="37581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50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14335049" y="2790749"/>
            <a:ext cx="986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A-1188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7370857" y="2790749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30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14335049" y="3029407"/>
            <a:ext cx="990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Ref. A-3001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17238269" y="3029407"/>
            <a:ext cx="64465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1050" dirty="0"/>
          </a:p>
        </p:txBody>
      </p:sp>
      <p:pic>
        <p:nvPicPr>
          <p:cNvPr id="45" name="Image 4" descr="gen-dedup-903b0a4be279efbebb8ba9c031661f3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4335049" y="3323844"/>
            <a:ext cx="3333902" cy="914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4335049" y="3467405"/>
            <a:ext cx="11722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</a:t>
            </a:r>
            <a:endParaRPr lang="en-US" sz="825" dirty="0"/>
          </a:p>
        </p:txBody>
      </p:sp>
      <p:sp>
        <p:nvSpPr>
          <p:cNvPr id="47" name="Text 40"/>
          <p:cNvSpPr txBox="1"/>
          <p:nvPr/>
        </p:nvSpPr>
        <p:spPr>
          <a:xfrm>
            <a:off x="14335049" y="3638398"/>
            <a:ext cx="163494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 de stock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16830446" y="3486607"/>
            <a:ext cx="838505" cy="286207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</a:t>
            </a:r>
            <a:endParaRPr lang="en-US" sz="825" dirty="0"/>
          </a:p>
        </p:txBody>
      </p:sp>
      <p:sp>
        <p:nvSpPr>
          <p:cNvPr id="49" name="Shape 42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3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1" name="Text 44"/>
          <p:cNvSpPr txBox="1"/>
          <p:nvPr/>
        </p:nvSpPr>
        <p:spPr>
          <a:xfrm>
            <a:off x="14287500" y="7667244"/>
            <a:ext cx="89611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975" dirty="0"/>
          </a:p>
        </p:txBody>
      </p:sp>
      <p:sp>
        <p:nvSpPr>
          <p:cNvPr id="52" name="Text 45"/>
          <p:cNvSpPr txBox="1"/>
          <p:nvPr/>
        </p:nvSpPr>
        <p:spPr>
          <a:xfrm>
            <a:off x="15254935" y="7667244"/>
            <a:ext cx="78181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975" dirty="0"/>
          </a:p>
        </p:txBody>
      </p:sp>
      <p:sp>
        <p:nvSpPr>
          <p:cNvPr id="53" name="Text 46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4" name="Text 47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/ 50</a:t>
            </a:r>
            <a:endParaRPr lang="en-US" sz="975" dirty="0"/>
          </a:p>
        </p:txBody>
      </p:sp>
      <p:pic>
        <p:nvPicPr>
          <p:cNvPr id="55" name="Image 5" descr="gen-dedup-5e6cfa15fdde50fc8b72728e79a7223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D79E-E26E-6B11-CBD6-44305A56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>
            <a:extLst>
              <a:ext uri="{FF2B5EF4-FFF2-40B4-BE49-F238E27FC236}">
                <a16:creationId xmlns:a16="http://schemas.microsoft.com/office/drawing/2014/main" id="{55E0D06A-40C3-CD48-ED22-63DB6E89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080037-3154-532C-65B0-196C2E223B35}"/>
              </a:ext>
            </a:extLst>
          </p:cNvPr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6E8BB84-5CAF-F3D0-2080-5D07182A238F}"/>
              </a:ext>
            </a:extLst>
          </p:cNvPr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EA87842-5FBB-0368-CF8E-E0B2F00A65C3}"/>
              </a:ext>
            </a:extLst>
          </p:cNvPr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F2FA9B0-49C2-E41A-8A74-AF46896B6476}"/>
              </a:ext>
            </a:extLst>
          </p:cNvPr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>
            <a:extLst>
              <a:ext uri="{FF2B5EF4-FFF2-40B4-BE49-F238E27FC236}">
                <a16:creationId xmlns:a16="http://schemas.microsoft.com/office/drawing/2014/main" id="{50084620-7BC8-84E8-7B5E-EB484870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BE189C97-F670-AF5E-9354-C1473724BFA2}"/>
              </a:ext>
            </a:extLst>
          </p:cNvPr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634F6EE-EC60-08C2-5123-4403D5BF5E0C}"/>
              </a:ext>
            </a:extLst>
          </p:cNvPr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F29C018-B24A-241D-8676-7500005EE83B}"/>
              </a:ext>
            </a:extLst>
          </p:cNvPr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AB09A22-C00C-416E-D2FB-4E6FB27C6F92}"/>
              </a:ext>
            </a:extLst>
          </p:cNvPr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DCC807F-A1C3-0F5C-54D9-56304C63E425}"/>
              </a:ext>
            </a:extLst>
          </p:cNvPr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>
            <a:extLst>
              <a:ext uri="{FF2B5EF4-FFF2-40B4-BE49-F238E27FC236}">
                <a16:creationId xmlns:a16="http://schemas.microsoft.com/office/drawing/2014/main" id="{8101219D-9FB8-309E-71AC-7BACB8754A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>
            <a:extLst>
              <a:ext uri="{FF2B5EF4-FFF2-40B4-BE49-F238E27FC236}">
                <a16:creationId xmlns:a16="http://schemas.microsoft.com/office/drawing/2014/main" id="{D723F918-BA68-CB18-2C68-90F09A03E4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8a9a28c3a9840776409e917f9ceffe15.png">
            <a:extLst>
              <a:ext uri="{FF2B5EF4-FFF2-40B4-BE49-F238E27FC236}">
                <a16:creationId xmlns:a16="http://schemas.microsoft.com/office/drawing/2014/main" id="{0A12FEB1-7F08-DE25-8A4A-2F4691F242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8a9a28c3a9840776409e917f9ceffe15.png">
            <a:extLst>
              <a:ext uri="{FF2B5EF4-FFF2-40B4-BE49-F238E27FC236}">
                <a16:creationId xmlns:a16="http://schemas.microsoft.com/office/drawing/2014/main" id="{5F3A46A0-3BA7-A7B9-7DE9-8E45166B1F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>
            <a:extLst>
              <a:ext uri="{FF2B5EF4-FFF2-40B4-BE49-F238E27FC236}">
                <a16:creationId xmlns:a16="http://schemas.microsoft.com/office/drawing/2014/main" id="{434A8A2D-8513-7A63-ADD2-E4BEEE18BF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>
            <a:extLst>
              <a:ext uri="{FF2B5EF4-FFF2-40B4-BE49-F238E27FC236}">
                <a16:creationId xmlns:a16="http://schemas.microsoft.com/office/drawing/2014/main" id="{A4A22246-33C8-42ED-34B7-40927BB805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53298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8a9a28c3a9840776409e917f9ceffe15.png">
            <a:extLst>
              <a:ext uri="{FF2B5EF4-FFF2-40B4-BE49-F238E27FC236}">
                <a16:creationId xmlns:a16="http://schemas.microsoft.com/office/drawing/2014/main" id="{A0B2A257-A11B-BCBC-E779-E8BAB9A6C6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0" name="Image 9" descr="gen-dedup-8a9a28c3a9840776409e917f9ceffe15.png">
            <a:extLst>
              <a:ext uri="{FF2B5EF4-FFF2-40B4-BE49-F238E27FC236}">
                <a16:creationId xmlns:a16="http://schemas.microsoft.com/office/drawing/2014/main" id="{868A6A4F-4280-91FA-3DEF-4A47BDF096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1" name="Image 10" descr="gen-dedup-25ca77fad41c44e392459a669cb46686.png">
            <a:extLst>
              <a:ext uri="{FF2B5EF4-FFF2-40B4-BE49-F238E27FC236}">
                <a16:creationId xmlns:a16="http://schemas.microsoft.com/office/drawing/2014/main" id="{8EA3F430-F68E-52C0-A9E3-B40344AAD4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>
            <a:extLst>
              <a:ext uri="{FF2B5EF4-FFF2-40B4-BE49-F238E27FC236}">
                <a16:creationId xmlns:a16="http://schemas.microsoft.com/office/drawing/2014/main" id="{09682BCD-1A65-5918-AC79-B201BA4C43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3" name="Image 12" descr="gen-dedup-6b1fea6ef9cf700851503bcdb8011f45.png">
            <a:extLst>
              <a:ext uri="{FF2B5EF4-FFF2-40B4-BE49-F238E27FC236}">
                <a16:creationId xmlns:a16="http://schemas.microsoft.com/office/drawing/2014/main" id="{2E945C58-D383-B542-284F-8F95A25C35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4" name="Image 13" descr="gen-dedup-07d4da1bf1910daef42c9babebc62b73.png">
            <a:extLst>
              <a:ext uri="{FF2B5EF4-FFF2-40B4-BE49-F238E27FC236}">
                <a16:creationId xmlns:a16="http://schemas.microsoft.com/office/drawing/2014/main" id="{4635D6B7-D260-5E2B-5D58-AA8B3D24805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5" name="Image 14" descr="gen-dedup-5023fea922589d6909f6d48e2362d329.png">
            <a:extLst>
              <a:ext uri="{FF2B5EF4-FFF2-40B4-BE49-F238E27FC236}">
                <a16:creationId xmlns:a16="http://schemas.microsoft.com/office/drawing/2014/main" id="{B0BB8A97-A205-48D6-4323-6FE53C72D24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6" name="Image 15" descr="gen-dedup-04a6c6595c9dff6b95c3b59c31d72678.png">
            <a:extLst>
              <a:ext uri="{FF2B5EF4-FFF2-40B4-BE49-F238E27FC236}">
                <a16:creationId xmlns:a16="http://schemas.microsoft.com/office/drawing/2014/main" id="{C4B10ED0-0AD4-192E-B75E-04DA288BEE5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7" name="Image 16" descr="gen-dedup-3eb90732e3661373fb19e7f4f40accc7.png">
            <a:extLst>
              <a:ext uri="{FF2B5EF4-FFF2-40B4-BE49-F238E27FC236}">
                <a16:creationId xmlns:a16="http://schemas.microsoft.com/office/drawing/2014/main" id="{AC071ABA-FC17-A0B4-026D-C4EAA089EC1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47495" y="7667244"/>
            <a:ext cx="409651" cy="409651"/>
          </a:xfrm>
          <a:prstGeom prst="rect">
            <a:avLst/>
          </a:prstGeom>
        </p:spPr>
      </p:pic>
      <p:pic>
        <p:nvPicPr>
          <p:cNvPr id="28" name="Image 17" descr="gen-dedup-e65a801e1d2e7d7f545c66da47e65295.png">
            <a:extLst>
              <a:ext uri="{FF2B5EF4-FFF2-40B4-BE49-F238E27FC236}">
                <a16:creationId xmlns:a16="http://schemas.microsoft.com/office/drawing/2014/main" id="{3C0BCF20-496F-1698-C978-6EC9B4CA2AB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447495" y="8867851"/>
            <a:ext cx="409651" cy="409651"/>
          </a:xfrm>
          <a:prstGeom prst="rect">
            <a:avLst/>
          </a:prstGeom>
        </p:spPr>
      </p:pic>
      <p:pic>
        <p:nvPicPr>
          <p:cNvPr id="29" name="Image 18" descr="gen-dedup-fc23fc46cc0b8a7a71b92116d7c65e62.png">
            <a:extLst>
              <a:ext uri="{FF2B5EF4-FFF2-40B4-BE49-F238E27FC236}">
                <a16:creationId xmlns:a16="http://schemas.microsoft.com/office/drawing/2014/main" id="{4AEC0BA0-998F-5D29-E2A2-6D8FD9ADE8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30" name="Image 19" descr="gen-dedup-1fccdd897c6e68de427f95f9a1ba34cb.png">
            <a:extLst>
              <a:ext uri="{FF2B5EF4-FFF2-40B4-BE49-F238E27FC236}">
                <a16:creationId xmlns:a16="http://schemas.microsoft.com/office/drawing/2014/main" id="{35888F90-7EE7-4A7D-192D-1643AFE3D69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58454" y="8887054"/>
            <a:ext cx="323698" cy="323698"/>
          </a:xfrm>
          <a:prstGeom prst="rect">
            <a:avLst/>
          </a:prstGeom>
        </p:spPr>
      </p:pic>
      <p:pic>
        <p:nvPicPr>
          <p:cNvPr id="31" name="Image 20" descr="gen-dedup-367a927f5b78b4bbee80af254fbb37ad.png">
            <a:extLst>
              <a:ext uri="{FF2B5EF4-FFF2-40B4-BE49-F238E27FC236}">
                <a16:creationId xmlns:a16="http://schemas.microsoft.com/office/drawing/2014/main" id="{33D23521-862F-2130-5482-7DD0CF1574E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32" name="Image 21" descr="gen-dedup-1d344c7a59f5a91386bffe2900bacfe0.png">
            <a:extLst>
              <a:ext uri="{FF2B5EF4-FFF2-40B4-BE49-F238E27FC236}">
                <a16:creationId xmlns:a16="http://schemas.microsoft.com/office/drawing/2014/main" id="{1C6A706D-95A5-0C76-D778-3DF19B6C6F8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50000" b="-50000"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72CDAF85-9021-8192-0371-C16ACE872CB4}"/>
              </a:ext>
            </a:extLst>
          </p:cNvPr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C05</a:t>
            </a:r>
            <a:endParaRPr lang="en-US" sz="975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246EAD2-62AC-5622-4507-3CB4F8DF523C}"/>
              </a:ext>
            </a:extLst>
          </p:cNvPr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73860FFF-18DF-277F-1005-E4A51868A4CF}"/>
              </a:ext>
            </a:extLst>
          </p:cNvPr>
          <p:cNvSpPr txBox="1"/>
          <p:nvPr/>
        </p:nvSpPr>
        <p:spPr>
          <a:xfrm>
            <a:off x="1317650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135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9C8E668-3081-6BC5-C5F1-4F9AEA077F61}"/>
              </a:ext>
            </a:extLst>
          </p:cNvPr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de pedidos · Qué entra, qué sale</a:t>
            </a:r>
            <a:endParaRPr lang="en-US" sz="1125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9979638-DFB7-BFA2-7825-8A0AD1E1C2D9}"/>
              </a:ext>
            </a:extLst>
          </p:cNvPr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Multicanal.</a:t>
            </a:r>
            <a:endParaRPr lang="en-US" sz="585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CE53884-68B8-9D75-4A01-BED15948418C}"/>
              </a:ext>
            </a:extLst>
          </p:cNvPr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Adiós al grabado manual de pedidos.</a:t>
            </a:r>
            <a:endParaRPr lang="en-US" sz="195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7D184DC-9CE8-0B07-1605-2F0CA26720D3}"/>
              </a:ext>
            </a:extLst>
          </p:cNvPr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0EC8434C-8867-5EF4-5C27-EFA8498E5718}"/>
              </a:ext>
            </a:extLst>
          </p:cNvPr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1C84A0B-0975-21D0-743A-6AB889B5A1DF}"/>
              </a:ext>
            </a:extLst>
          </p:cNvPr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5839CCE8-141F-12A0-B09B-73542EF05001}"/>
              </a:ext>
            </a:extLst>
          </p:cNvPr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6A4E6147-8E73-5871-6B77-0175EA91C301}"/>
              </a:ext>
            </a:extLst>
          </p:cNvPr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B5515314-AB0C-3F29-830A-7AC0533E4AE5}"/>
              </a:ext>
            </a:extLst>
          </p:cNvPr>
          <p:cNvSpPr/>
          <p:nvPr/>
        </p:nvSpPr>
        <p:spPr>
          <a:xfrm>
            <a:off x="14160398" y="2533802"/>
            <a:ext cx="65745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BFCC52A-C06C-299B-859E-F26C6319560F}"/>
              </a:ext>
            </a:extLst>
          </p:cNvPr>
          <p:cNvSpPr txBox="1"/>
          <p:nvPr/>
        </p:nvSpPr>
        <p:spPr>
          <a:xfrm>
            <a:off x="14160398" y="2533802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1125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DA155C49-E3EF-7326-BF8D-1719CFD6A3BE}"/>
              </a:ext>
            </a:extLst>
          </p:cNvPr>
          <p:cNvSpPr/>
          <p:nvPr/>
        </p:nvSpPr>
        <p:spPr>
          <a:xfrm>
            <a:off x="14890090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4EE36014-9DBF-C599-2291-2A4B73F802E4}"/>
              </a:ext>
            </a:extLst>
          </p:cNvPr>
          <p:cNvSpPr txBox="1"/>
          <p:nvPr/>
        </p:nvSpPr>
        <p:spPr>
          <a:xfrm>
            <a:off x="14890090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DFA1A953-7E96-D24E-82AD-86B8523C214B}"/>
              </a:ext>
            </a:extLst>
          </p:cNvPr>
          <p:cNvSpPr/>
          <p:nvPr/>
        </p:nvSpPr>
        <p:spPr>
          <a:xfrm>
            <a:off x="15896844" y="2533802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7F4782C6-F937-582F-7202-F06165AE992E}"/>
              </a:ext>
            </a:extLst>
          </p:cNvPr>
          <p:cNvSpPr txBox="1"/>
          <p:nvPr/>
        </p:nvSpPr>
        <p:spPr>
          <a:xfrm>
            <a:off x="15896844" y="2533802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125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C8031C65-5B60-AA96-B6BB-92910321C8AD}"/>
              </a:ext>
            </a:extLst>
          </p:cNvPr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EEA0C2EA-F5E5-14FC-6946-77A4BCE9B3F4}"/>
              </a:ext>
            </a:extLst>
          </p:cNvPr>
          <p:cNvSpPr/>
          <p:nvPr/>
        </p:nvSpPr>
        <p:spPr>
          <a:xfrm>
            <a:off x="12382805" y="3829507"/>
            <a:ext cx="101955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C09021AC-9353-9466-7F7B-0540BF30B8DE}"/>
              </a:ext>
            </a:extLst>
          </p:cNvPr>
          <p:cNvSpPr txBox="1"/>
          <p:nvPr/>
        </p:nvSpPr>
        <p:spPr>
          <a:xfrm>
            <a:off x="12382805" y="3829507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PROMEGA</a:t>
            </a:r>
            <a:endParaRPr lang="en-US" sz="1125" dirty="0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996E70FD-94D0-FF33-FEE7-2A0ACE80A74A}"/>
              </a:ext>
            </a:extLst>
          </p:cNvPr>
          <p:cNvSpPr/>
          <p:nvPr/>
        </p:nvSpPr>
        <p:spPr>
          <a:xfrm>
            <a:off x="13470026" y="3829507"/>
            <a:ext cx="886054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24210FB3-9075-0AF2-6C47-66A6ABD3870A}"/>
              </a:ext>
            </a:extLst>
          </p:cNvPr>
          <p:cNvSpPr txBox="1"/>
          <p:nvPr/>
        </p:nvSpPr>
        <p:spPr>
          <a:xfrm>
            <a:off x="13470026" y="3829507"/>
            <a:ext cx="886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UCALSA</a:t>
            </a:r>
            <a:endParaRPr lang="en-US" sz="1125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1214C563-AC60-5B01-950B-2558C10AAC2C}"/>
              </a:ext>
            </a:extLst>
          </p:cNvPr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4947427D-3DD3-87AC-E68A-9C192AE94D97}"/>
              </a:ext>
            </a:extLst>
          </p:cNvPr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707F8F70-521B-DBD1-F3B1-4685AE3806DB}"/>
              </a:ext>
            </a:extLst>
          </p:cNvPr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5FF78CE0-7B64-678E-00A9-20C25969999B}"/>
              </a:ext>
            </a:extLst>
          </p:cNvPr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725" dirty="0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5986B3A9-E2F8-04D0-494F-A921F3615C4C}"/>
              </a:ext>
            </a:extLst>
          </p:cNvPr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correo</a:t>
            </a:r>
            <a:endParaRPr lang="en-US" sz="1275" dirty="0"/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98E78DEF-2461-3D01-F533-ACACF2624039}"/>
              </a:ext>
            </a:extLst>
          </p:cNvPr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 / 365</a:t>
            </a:r>
            <a:endParaRPr lang="en-US" sz="1725" dirty="0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C522803C-5FED-23DC-7B1E-36800D7AD9FA}"/>
              </a:ext>
            </a:extLst>
          </p:cNvPr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correo</a:t>
            </a:r>
            <a:endParaRPr lang="en-US" sz="1275" dirty="0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827F5D5C-0BD9-2BF2-9805-D46BCA50F0F4}"/>
              </a:ext>
            </a:extLst>
          </p:cNvPr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725" dirty="0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36AB6599-E552-6F54-73D8-7D7AC48A1C63}"/>
              </a:ext>
            </a:extLst>
          </p:cNvPr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por mensaje</a:t>
            </a:r>
            <a:endParaRPr lang="en-US" sz="1275" dirty="0"/>
          </a:p>
        </p:txBody>
      </p:sp>
      <p:sp>
        <p:nvSpPr>
          <p:cNvPr id="64" name="Text 40">
            <a:extLst>
              <a:ext uri="{FF2B5EF4-FFF2-40B4-BE49-F238E27FC236}">
                <a16:creationId xmlns:a16="http://schemas.microsoft.com/office/drawing/2014/main" id="{18A06D03-3737-0D6E-F952-9CF370941B92}"/>
              </a:ext>
            </a:extLst>
          </p:cNvPr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adjunto</a:t>
            </a:r>
            <a:endParaRPr lang="en-US" sz="1725" dirty="0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54479E6A-3D00-E5D6-562B-335D089458CC}"/>
              </a:ext>
            </a:extLst>
          </p:cNvPr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del cliente</a:t>
            </a:r>
            <a:endParaRPr lang="en-US" sz="1275" dirty="0"/>
          </a:p>
        </p:txBody>
      </p:sp>
      <p:pic>
        <p:nvPicPr>
          <p:cNvPr id="66" name="Image 22" descr="gen-dedup-625f6ee98a837ce7c94bde031f58a71e.png">
            <a:extLst>
              <a:ext uri="{FF2B5EF4-FFF2-40B4-BE49-F238E27FC236}">
                <a16:creationId xmlns:a16="http://schemas.microsoft.com/office/drawing/2014/main" id="{C24665F9-0B74-1E2D-B87C-7DBAF8AD5D22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7" name="Text 42">
            <a:extLst>
              <a:ext uri="{FF2B5EF4-FFF2-40B4-BE49-F238E27FC236}">
                <a16:creationId xmlns:a16="http://schemas.microsoft.com/office/drawing/2014/main" id="{3F25EED4-2BB2-40C9-D3C9-86834FED5CD2}"/>
              </a:ext>
            </a:extLst>
          </p:cNvPr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C05</a:t>
            </a:r>
            <a:endParaRPr lang="en-US" sz="900" dirty="0"/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650F3E92-AEAF-10C0-C00D-37B882E58C06}"/>
              </a:ext>
            </a:extLst>
          </p:cNvPr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Multicanal</a:t>
            </a:r>
            <a:endParaRPr lang="en-US" sz="2250" dirty="0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4946F940-4F7D-0A70-3D9F-F568118D196A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58682345-315B-7CF5-C117-1E6F12E34F2C}"/>
              </a:ext>
            </a:extLst>
          </p:cNvPr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A275CF37-9CD8-8019-1B5B-F18D9D3B691A}"/>
              </a:ext>
            </a:extLst>
          </p:cNvPr>
          <p:cNvSpPr txBox="1"/>
          <p:nvPr/>
        </p:nvSpPr>
        <p:spPr>
          <a:xfrm>
            <a:off x="7524598" y="6986930"/>
            <a:ext cx="4014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 el pedido en lenguaje natural</a:t>
            </a:r>
            <a:endParaRPr lang="en-US" sz="1425" dirty="0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70FB253B-20BC-4498-BBFD-9012E395A6C7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98B731D9-8338-28EB-E4CD-AA191F90279C}"/>
              </a:ext>
            </a:extLst>
          </p:cNvPr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A5132A60-776B-B93A-DB24-6E6A7E04F2ED}"/>
              </a:ext>
            </a:extLst>
          </p:cNvPr>
          <p:cNvSpPr txBox="1"/>
          <p:nvPr/>
        </p:nvSpPr>
        <p:spPr>
          <a:xfrm>
            <a:off x="7524598" y="7386523"/>
            <a:ext cx="38167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los patrones de cada cliente</a:t>
            </a:r>
            <a:endParaRPr lang="en-US" sz="1425" dirty="0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88CE289E-1B47-DEC5-1926-21208B8BEAF6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358C114F-27F8-813E-A5DF-7AB9A3224371}"/>
              </a:ext>
            </a:extLst>
          </p:cNvPr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Text 52">
            <a:extLst>
              <a:ext uri="{FF2B5EF4-FFF2-40B4-BE49-F238E27FC236}">
                <a16:creationId xmlns:a16="http://schemas.microsoft.com/office/drawing/2014/main" id="{F48F7975-B5F9-B585-A53E-34C25F7646FB}"/>
              </a:ext>
            </a:extLst>
          </p:cNvPr>
          <p:cNvSpPr txBox="1"/>
          <p:nvPr/>
        </p:nvSpPr>
        <p:spPr>
          <a:xfrm>
            <a:off x="7524598" y="7787030"/>
            <a:ext cx="28117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Cruza con catálogo y stock</a:t>
            </a:r>
            <a:endParaRPr lang="en-US" sz="1425" dirty="0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67790369-7D5A-98F7-1752-D7F241685E86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4">
            <a:extLst>
              <a:ext uri="{FF2B5EF4-FFF2-40B4-BE49-F238E27FC236}">
                <a16:creationId xmlns:a16="http://schemas.microsoft.com/office/drawing/2014/main" id="{4E998DFF-3F55-5716-FBD5-B7B051585BE3}"/>
              </a:ext>
            </a:extLst>
          </p:cNvPr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76373E96-DB27-B655-2CC2-0BA3B8791782}"/>
              </a:ext>
            </a:extLst>
          </p:cNvPr>
          <p:cNvSpPr txBox="1"/>
          <p:nvPr/>
        </p:nvSpPr>
        <p:spPr>
          <a:xfrm>
            <a:off x="7524598" y="8186623"/>
            <a:ext cx="24597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inconsistencias</a:t>
            </a:r>
            <a:endParaRPr lang="en-US" sz="1425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2EA40D79-75FC-490B-B30C-34632BDAC583}"/>
              </a:ext>
            </a:extLst>
          </p:cNvPr>
          <p:cNvSpPr/>
          <p:nvPr/>
        </p:nvSpPr>
        <p:spPr>
          <a:xfrm>
            <a:off x="9201607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04EA7FB2-2678-91F4-8983-D0A47ADD760B}"/>
              </a:ext>
            </a:extLst>
          </p:cNvPr>
          <p:cNvSpPr txBox="1"/>
          <p:nvPr/>
        </p:nvSpPr>
        <p:spPr>
          <a:xfrm>
            <a:off x="9309506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pic>
        <p:nvPicPr>
          <p:cNvPr id="83" name="Image 23" descr="gen-dedup-9f2da3d601bd1ff2962f48734b24ef49.png">
            <a:extLst>
              <a:ext uri="{FF2B5EF4-FFF2-40B4-BE49-F238E27FC236}">
                <a16:creationId xmlns:a16="http://schemas.microsoft.com/office/drawing/2014/main" id="{07DA5BDE-8E2F-EEC3-4535-21D7FEA58F5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4" name="Text 58">
            <a:extLst>
              <a:ext uri="{FF2B5EF4-FFF2-40B4-BE49-F238E27FC236}">
                <a16:creationId xmlns:a16="http://schemas.microsoft.com/office/drawing/2014/main" id="{B27A0B55-FDAC-6E52-767A-5F94D6C1DABB}"/>
              </a:ext>
            </a:extLst>
          </p:cNvPr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en Odoo</a:t>
            </a:r>
            <a:endParaRPr lang="en-US" sz="1725" dirty="0"/>
          </a:p>
        </p:txBody>
      </p:sp>
      <p:sp>
        <p:nvSpPr>
          <p:cNvPr id="85" name="Text 59">
            <a:extLst>
              <a:ext uri="{FF2B5EF4-FFF2-40B4-BE49-F238E27FC236}">
                <a16:creationId xmlns:a16="http://schemas.microsoft.com/office/drawing/2014/main" id="{953ED26C-075D-4915-1F3F-3F932D01CBC2}"/>
              </a:ext>
            </a:extLst>
          </p:cNvPr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vía API</a:t>
            </a:r>
            <a:endParaRPr lang="en-US" sz="1275" dirty="0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E52AE7FE-1884-FFED-4230-B01588C4A727}"/>
              </a:ext>
            </a:extLst>
          </p:cNvPr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 en SAP</a:t>
            </a:r>
            <a:endParaRPr lang="en-US" sz="1725" dirty="0"/>
          </a:p>
        </p:txBody>
      </p:sp>
      <p:sp>
        <p:nvSpPr>
          <p:cNvPr id="87" name="Text 61">
            <a:extLst>
              <a:ext uri="{FF2B5EF4-FFF2-40B4-BE49-F238E27FC236}">
                <a16:creationId xmlns:a16="http://schemas.microsoft.com/office/drawing/2014/main" id="{2451BE66-D532-D912-12DD-496DDE1D5B02}"/>
              </a:ext>
            </a:extLst>
          </p:cNvPr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en el ERP</a:t>
            </a:r>
            <a:endParaRPr lang="en-US" sz="1275" dirty="0"/>
          </a:p>
        </p:txBody>
      </p:sp>
      <p:pic>
        <p:nvPicPr>
          <p:cNvPr id="88" name="Image 24" descr="gen-dedup-cad81b674f5ca746b7ee00627dfd46b4.png">
            <a:extLst>
              <a:ext uri="{FF2B5EF4-FFF2-40B4-BE49-F238E27FC236}">
                <a16:creationId xmlns:a16="http://schemas.microsoft.com/office/drawing/2014/main" id="{5E8A6C49-D55F-A711-D339-BA6BD0DD431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9" name="Text 62">
            <a:extLst>
              <a:ext uri="{FF2B5EF4-FFF2-40B4-BE49-F238E27FC236}">
                <a16:creationId xmlns:a16="http://schemas.microsoft.com/office/drawing/2014/main" id="{E12E6812-17D1-4C93-4893-848544A47D67}"/>
              </a:ext>
            </a:extLst>
          </p:cNvPr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 de stock</a:t>
            </a:r>
            <a:endParaRPr lang="en-US" sz="1725" dirty="0"/>
          </a:p>
        </p:txBody>
      </p:sp>
      <p:sp>
        <p:nvSpPr>
          <p:cNvPr id="90" name="Text 63">
            <a:extLst>
              <a:ext uri="{FF2B5EF4-FFF2-40B4-BE49-F238E27FC236}">
                <a16:creationId xmlns:a16="http://schemas.microsoft.com/office/drawing/2014/main" id="{FFBB9B19-1688-7706-C42B-D7C6BCA18A98}"/>
              </a:ext>
            </a:extLst>
          </p:cNvPr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comprometer</a:t>
            </a:r>
            <a:endParaRPr lang="en-US" sz="1275" dirty="0"/>
          </a:p>
        </p:txBody>
      </p:sp>
      <p:pic>
        <p:nvPicPr>
          <p:cNvPr id="91" name="Image 25" descr="gen-dedup-925fba63a8843f0fea34333cb67c6447.png">
            <a:extLst>
              <a:ext uri="{FF2B5EF4-FFF2-40B4-BE49-F238E27FC236}">
                <a16:creationId xmlns:a16="http://schemas.microsoft.com/office/drawing/2014/main" id="{E4E03312-A9C0-15AD-3BC7-46931FD128F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2" name="Text 64">
            <a:extLst>
              <a:ext uri="{FF2B5EF4-FFF2-40B4-BE49-F238E27FC236}">
                <a16:creationId xmlns:a16="http://schemas.microsoft.com/office/drawing/2014/main" id="{D82FA772-45A8-4A17-F49F-279885AE2D68}"/>
              </a:ext>
            </a:extLst>
          </p:cNvPr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fallback</a:t>
            </a:r>
            <a:endParaRPr lang="en-US" sz="1725" dirty="0"/>
          </a:p>
        </p:txBody>
      </p:sp>
      <p:sp>
        <p:nvSpPr>
          <p:cNvPr id="93" name="Text 65">
            <a:extLst>
              <a:ext uri="{FF2B5EF4-FFF2-40B4-BE49-F238E27FC236}">
                <a16:creationId xmlns:a16="http://schemas.microsoft.com/office/drawing/2014/main" id="{3B2AF530-FD85-160C-50E4-647957A183CD}"/>
              </a:ext>
            </a:extLst>
          </p:cNvPr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ERP no escribe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2626751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-152430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 · 40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18288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y docs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Automáticos.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Genera, envía y concilia. Sin Excel.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se cierra una expedición, el sistema genera el albarán, lo envía al cliente y al cierre del día concilia expedido contra facturado. Las discrepancias se elevan al responsable.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277703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en PDF, Excel y EDI.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4716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 con su logo y datos.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48259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al contacto del cliente.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expedido vs facturado.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7298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discrepancias en tiempo real.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038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documental auditable.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15998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15998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88605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8860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872484" y="8762695"/>
            <a:ext cx="11622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872484" y="8762695"/>
            <a:ext cx="11622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5122469" y="8762695"/>
            <a:ext cx="523951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5122469" y="8762695"/>
            <a:ext cx="5239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en proceso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4287500" y="2286000"/>
            <a:ext cx="3619195" cy="215249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525244" y="2505456"/>
            <a:ext cx="13149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</a:t>
            </a:r>
            <a:endParaRPr lang="en-US" sz="825" dirty="0"/>
          </a:p>
        </p:txBody>
      </p:sp>
      <p:sp>
        <p:nvSpPr>
          <p:cNvPr id="37" name="Text 32"/>
          <p:cNvSpPr txBox="1"/>
          <p:nvPr/>
        </p:nvSpPr>
        <p:spPr>
          <a:xfrm>
            <a:off x="14525244" y="2676449"/>
            <a:ext cx="154167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A-9981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16758209" y="2505456"/>
            <a:ext cx="914400" cy="247802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+ XLS</a:t>
            </a:r>
            <a:endParaRPr lang="en-US" sz="825" dirty="0"/>
          </a:p>
        </p:txBody>
      </p:sp>
      <p:pic>
        <p:nvPicPr>
          <p:cNvPr id="39" name="Image 3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10205"/>
            <a:ext cx="3143707" cy="91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4525244" y="3152851"/>
            <a:ext cx="5815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17305020" y="3152851"/>
            <a:ext cx="43982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4525244" y="3381451"/>
            <a:ext cx="50749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7006011" y="3381451"/>
            <a:ext cx="79187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2025-1042</a:t>
            </a:r>
            <a:endParaRPr lang="en-US" sz="975" dirty="0"/>
          </a:p>
        </p:txBody>
      </p:sp>
      <p:sp>
        <p:nvSpPr>
          <p:cNvPr id="44" name="Text 38"/>
          <p:cNvSpPr txBox="1"/>
          <p:nvPr/>
        </p:nvSpPr>
        <p:spPr>
          <a:xfrm>
            <a:off x="14525244" y="3610051"/>
            <a:ext cx="504749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Líneas</a:t>
            </a:r>
            <a:endParaRPr lang="en-US" sz="975" dirty="0"/>
          </a:p>
        </p:txBody>
      </p:sp>
      <p:sp>
        <p:nvSpPr>
          <p:cNvPr id="45" name="Text 39"/>
          <p:cNvSpPr txBox="1"/>
          <p:nvPr/>
        </p:nvSpPr>
        <p:spPr>
          <a:xfrm>
            <a:off x="16399764" y="3610051"/>
            <a:ext cx="15197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220 uds · 1.847 kg</a:t>
            </a:r>
            <a:endParaRPr lang="en-US" sz="975" dirty="0"/>
          </a:p>
        </p:txBody>
      </p:sp>
      <p:sp>
        <p:nvSpPr>
          <p:cNvPr id="46" name="Text 40"/>
          <p:cNvSpPr txBox="1"/>
          <p:nvPr/>
        </p:nvSpPr>
        <p:spPr>
          <a:xfrm>
            <a:off x="14525244" y="3895344"/>
            <a:ext cx="1534363" cy="324612"/>
          </a:xfrm>
          <a:prstGeom prst="rect">
            <a:avLst/>
          </a:prstGeom>
          <a:solidFill>
            <a:srgbClr val="E6A817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101600" rtlCol="0" anchor="ctr"/>
          <a:lstStyle/>
          <a:p>
            <a:pPr marL="0" indent="0" algn="ct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Enviado</a:t>
            </a:r>
            <a:endParaRPr lang="en-US" sz="825" dirty="0"/>
          </a:p>
        </p:txBody>
      </p:sp>
      <p:sp>
        <p:nvSpPr>
          <p:cNvPr id="47" name="Text 41"/>
          <p:cNvSpPr txBox="1"/>
          <p:nvPr/>
        </p:nvSpPr>
        <p:spPr>
          <a:xfrm>
            <a:off x="16135502" y="3895344"/>
            <a:ext cx="1534363" cy="324612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101600" rtlCol="0" anchor="ctr"/>
          <a:lstStyle/>
          <a:p>
            <a:pPr marL="0" indent="0" algn="ct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Acuse</a:t>
            </a:r>
            <a:endParaRPr lang="en-US" sz="825" dirty="0"/>
          </a:p>
        </p:txBody>
      </p:sp>
      <p:sp>
        <p:nvSpPr>
          <p:cNvPr id="48" name="Shape 42"/>
          <p:cNvSpPr/>
          <p:nvPr/>
        </p:nvSpPr>
        <p:spPr>
          <a:xfrm>
            <a:off x="14287500" y="4953305"/>
            <a:ext cx="3619195" cy="972007"/>
          </a:xfrm>
          <a:prstGeom prst="rect">
            <a:avLst/>
          </a:prstGeom>
          <a:solidFill>
            <a:srgbClr val="E6A817">
              <a:alpha val="18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3"/>
          <p:cNvSpPr txBox="1"/>
          <p:nvPr/>
        </p:nvSpPr>
        <p:spPr>
          <a:xfrm>
            <a:off x="14525244" y="517184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del día</a:t>
            </a:r>
            <a:endParaRPr lang="en-US" sz="825" dirty="0"/>
          </a:p>
        </p:txBody>
      </p:sp>
      <p:sp>
        <p:nvSpPr>
          <p:cNvPr id="50" name="Text 44"/>
          <p:cNvSpPr txBox="1"/>
          <p:nvPr/>
        </p:nvSpPr>
        <p:spPr>
          <a:xfrm>
            <a:off x="14525244" y="5381244"/>
            <a:ext cx="4096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2550" dirty="0"/>
          </a:p>
        </p:txBody>
      </p:sp>
      <p:sp>
        <p:nvSpPr>
          <p:cNvPr id="51" name="Text 45"/>
          <p:cNvSpPr txBox="1"/>
          <p:nvPr/>
        </p:nvSpPr>
        <p:spPr>
          <a:xfrm>
            <a:off x="16578072" y="5419649"/>
            <a:ext cx="10954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expediciones</a:t>
            </a:r>
            <a:endParaRPr lang="en-US" sz="825" dirty="0"/>
          </a:p>
        </p:txBody>
      </p:sp>
      <p:sp>
        <p:nvSpPr>
          <p:cNvPr id="52" name="Text 46"/>
          <p:cNvSpPr txBox="1"/>
          <p:nvPr/>
        </p:nvSpPr>
        <p:spPr>
          <a:xfrm>
            <a:off x="16381476" y="5572354"/>
            <a:ext cx="129204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discrepancia</a:t>
            </a:r>
            <a:endParaRPr lang="en-US" sz="825" dirty="0"/>
          </a:p>
        </p:txBody>
      </p:sp>
      <p:sp>
        <p:nvSpPr>
          <p:cNvPr id="53" name="Shape 47"/>
          <p:cNvSpPr/>
          <p:nvPr/>
        </p:nvSpPr>
        <p:spPr>
          <a:xfrm>
            <a:off x="14287500" y="6953098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7134149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5" name="Text 49"/>
          <p:cNvSpPr txBox="1"/>
          <p:nvPr/>
        </p:nvSpPr>
        <p:spPr>
          <a:xfrm>
            <a:off x="14287500" y="7381951"/>
            <a:ext cx="6382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975" dirty="0"/>
          </a:p>
        </p:txBody>
      </p:sp>
      <p:sp>
        <p:nvSpPr>
          <p:cNvPr id="56" name="Text 50"/>
          <p:cNvSpPr txBox="1"/>
          <p:nvPr/>
        </p:nvSpPr>
        <p:spPr>
          <a:xfrm>
            <a:off x="14994331" y="7381951"/>
            <a:ext cx="6382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8" name="Text 52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/ 50</a:t>
            </a:r>
            <a:endParaRPr lang="en-US" sz="975" dirty="0"/>
          </a:p>
        </p:txBody>
      </p:sp>
      <p:pic>
        <p:nvPicPr>
          <p:cNvPr id="59" name="Image 4" descr="gen-dedup-d5c564535a9179a545f68b1a9b0ccb6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8" name="Image 8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19" name="Image 9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1" name="Image 11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2" name="Image 12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3" name="Image 13" descr="gen-dedup-367a927f5b78b4bbee80af254fbb37a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4" name="Image 14" descr="gen-dedup-fc23fc46cc0b8a7a71b92116d7c65e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5" name="Image 15" descr="gen-dedup-1fccdd897c6e68de427f95f9a1ba34cb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6" name="Image 16" descr="gen-dedup-e65a801e1d2e7d7f545c66da47e65295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pic>
        <p:nvPicPr>
          <p:cNvPr id="27" name="Image 17" descr="gen-dedup-1ca55d8bcfd048e85c2feec6baee4754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6467551"/>
            <a:ext cx="409651" cy="409651"/>
          </a:xfrm>
          <a:prstGeom prst="rect">
            <a:avLst/>
          </a:prstGeom>
        </p:spPr>
      </p:pic>
      <p:pic>
        <p:nvPicPr>
          <p:cNvPr id="28" name="Image 18" descr="gen-dedup-04a6c6595c9dff6b95c3b59c31d72678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7667244"/>
            <a:ext cx="409651" cy="409651"/>
          </a:xfrm>
          <a:prstGeom prst="rect">
            <a:avLst/>
          </a:prstGeom>
        </p:spPr>
      </p:pic>
      <p:sp>
        <p:nvSpPr>
          <p:cNvPr id="29" name="Text 8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C06</a:t>
            </a:r>
            <a:endParaRPr lang="en-US" sz="975" dirty="0"/>
          </a:p>
        </p:txBody>
      </p:sp>
      <p:sp>
        <p:nvSpPr>
          <p:cNvPr id="30" name="Shape 9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/>
          <p:cNvSpPr txBox="1"/>
          <p:nvPr/>
        </p:nvSpPr>
        <p:spPr>
          <a:xfrm>
            <a:off x="1315822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1350" dirty="0"/>
          </a:p>
        </p:txBody>
      </p:sp>
      <p:sp>
        <p:nvSpPr>
          <p:cNvPr id="32" name="Text 11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y documentación · Qué entra, qué sale</a:t>
            </a:r>
            <a:endParaRPr lang="en-US" sz="1125" dirty="0"/>
          </a:p>
        </p:txBody>
      </p:sp>
      <p:sp>
        <p:nvSpPr>
          <p:cNvPr id="33" name="Text 12"/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Automáticos.</a:t>
            </a:r>
            <a:endParaRPr lang="en-US" sz="5850" dirty="0"/>
          </a:p>
        </p:txBody>
      </p:sp>
      <p:sp>
        <p:nvSpPr>
          <p:cNvPr id="34" name="Text 13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Genera, envía y concilia. Sin Excel.</a:t>
            </a:r>
            <a:endParaRPr lang="en-US" sz="1950" dirty="0"/>
          </a:p>
        </p:txBody>
      </p:sp>
      <p:sp>
        <p:nvSpPr>
          <p:cNvPr id="35" name="Text 14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6" name="Shape 15"/>
          <p:cNvSpPr/>
          <p:nvPr/>
        </p:nvSpPr>
        <p:spPr>
          <a:xfrm>
            <a:off x="12382805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6"/>
          <p:cNvSpPr txBox="1"/>
          <p:nvPr/>
        </p:nvSpPr>
        <p:spPr>
          <a:xfrm>
            <a:off x="12382805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38" name="Shape 17"/>
          <p:cNvSpPr/>
          <p:nvPr/>
        </p:nvSpPr>
        <p:spPr>
          <a:xfrm>
            <a:off x="1303751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/>
          <p:cNvSpPr txBox="1"/>
          <p:nvPr/>
        </p:nvSpPr>
        <p:spPr>
          <a:xfrm>
            <a:off x="1303751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40" name="Shape 19"/>
          <p:cNvSpPr/>
          <p:nvPr/>
        </p:nvSpPr>
        <p:spPr>
          <a:xfrm>
            <a:off x="14160398" y="2533802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/>
          <p:cNvSpPr txBox="1"/>
          <p:nvPr/>
        </p:nvSpPr>
        <p:spPr>
          <a:xfrm>
            <a:off x="14160398" y="2533802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125" dirty="0"/>
          </a:p>
        </p:txBody>
      </p:sp>
      <p:sp>
        <p:nvSpPr>
          <p:cNvPr id="42" name="Shape 21"/>
          <p:cNvSpPr/>
          <p:nvPr/>
        </p:nvSpPr>
        <p:spPr>
          <a:xfrm>
            <a:off x="15167153" y="2533802"/>
            <a:ext cx="124815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/>
          <p:cNvSpPr txBox="1"/>
          <p:nvPr/>
        </p:nvSpPr>
        <p:spPr>
          <a:xfrm>
            <a:off x="15167153" y="2533802"/>
            <a:ext cx="12481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1125" dirty="0"/>
          </a:p>
        </p:txBody>
      </p:sp>
      <p:sp>
        <p:nvSpPr>
          <p:cNvPr id="44" name="Shape 23"/>
          <p:cNvSpPr/>
          <p:nvPr/>
        </p:nvSpPr>
        <p:spPr>
          <a:xfrm>
            <a:off x="16487546" y="2533802"/>
            <a:ext cx="5239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4"/>
          <p:cNvSpPr txBox="1"/>
          <p:nvPr/>
        </p:nvSpPr>
        <p:spPr>
          <a:xfrm>
            <a:off x="16487546" y="2533802"/>
            <a:ext cx="5239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1125" dirty="0"/>
          </a:p>
        </p:txBody>
      </p:sp>
      <p:sp>
        <p:nvSpPr>
          <p:cNvPr id="46" name="Text 25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7" name="Shape 26"/>
          <p:cNvSpPr/>
          <p:nvPr/>
        </p:nvSpPr>
        <p:spPr>
          <a:xfrm>
            <a:off x="12382805" y="3829507"/>
            <a:ext cx="71414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7"/>
          <p:cNvSpPr txBox="1"/>
          <p:nvPr/>
        </p:nvSpPr>
        <p:spPr>
          <a:xfrm>
            <a:off x="12382805" y="3829507"/>
            <a:ext cx="7150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GALPI</a:t>
            </a:r>
            <a:endParaRPr lang="en-US" sz="1125" dirty="0"/>
          </a:p>
        </p:txBody>
      </p:sp>
      <p:sp>
        <p:nvSpPr>
          <p:cNvPr id="49" name="Shape 28"/>
          <p:cNvSpPr/>
          <p:nvPr/>
        </p:nvSpPr>
        <p:spPr>
          <a:xfrm>
            <a:off x="13167360" y="3829507"/>
            <a:ext cx="714146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9"/>
          <p:cNvSpPr txBox="1"/>
          <p:nvPr/>
        </p:nvSpPr>
        <p:spPr>
          <a:xfrm>
            <a:off x="13167360" y="3829507"/>
            <a:ext cx="7150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PRISA</a:t>
            </a:r>
            <a:endParaRPr lang="en-US" sz="1125" dirty="0"/>
          </a:p>
        </p:txBody>
      </p:sp>
      <p:sp>
        <p:nvSpPr>
          <p:cNvPr id="51" name="Text 30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2" name="Text 31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3" name="Text 32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4" name="Text 33"/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Expedición cerrada</a:t>
            </a:r>
            <a:endParaRPr lang="en-US" sz="1725" dirty="0"/>
          </a:p>
        </p:txBody>
      </p:sp>
      <p:sp>
        <p:nvSpPr>
          <p:cNvPr id="55" name="Text 34"/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 API</a:t>
            </a:r>
            <a:endParaRPr lang="en-US" sz="1275" dirty="0"/>
          </a:p>
        </p:txBody>
      </p:sp>
      <p:pic>
        <p:nvPicPr>
          <p:cNvPr id="56" name="Image 19" descr="gen-dedup-925fba63a8843f0fea34333cb67c644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envío</a:t>
            </a:r>
            <a:endParaRPr lang="en-US" sz="1725" dirty="0"/>
          </a:p>
        </p:txBody>
      </p:sp>
      <p:sp>
        <p:nvSpPr>
          <p:cNvPr id="58" name="Text 36"/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Bultos, unidades, kg</a:t>
            </a:r>
            <a:endParaRPr lang="en-US" sz="1275" dirty="0"/>
          </a:p>
        </p:txBody>
      </p:sp>
      <p:pic>
        <p:nvPicPr>
          <p:cNvPr id="59" name="Image 20" descr="gen-dedup-a832f96a8efbeea01b183a808255d3bb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0" name="Text 37"/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plantilla</a:t>
            </a:r>
            <a:endParaRPr lang="en-US" sz="1725" dirty="0"/>
          </a:p>
        </p:txBody>
      </p:sp>
      <p:sp>
        <p:nvSpPr>
          <p:cNvPr id="61" name="Text 38"/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y datos de empresa</a:t>
            </a:r>
            <a:endParaRPr lang="en-US" sz="1275" dirty="0"/>
          </a:p>
        </p:txBody>
      </p:sp>
      <p:pic>
        <p:nvPicPr>
          <p:cNvPr id="62" name="Image 21" descr="gen-dedup-182d78fddcadc7feb406cb878a100c1d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3" name="Text 39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C06</a:t>
            </a:r>
            <a:endParaRPr lang="en-US" sz="900" dirty="0"/>
          </a:p>
        </p:txBody>
      </p:sp>
      <p:sp>
        <p:nvSpPr>
          <p:cNvPr id="64" name="Text 40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Albaranes Automáticos</a:t>
            </a:r>
            <a:endParaRPr lang="en-US" sz="2250" dirty="0"/>
          </a:p>
        </p:txBody>
      </p:sp>
      <p:sp>
        <p:nvSpPr>
          <p:cNvPr id="65" name="Shape 41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42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43"/>
          <p:cNvSpPr txBox="1"/>
          <p:nvPr/>
        </p:nvSpPr>
        <p:spPr>
          <a:xfrm>
            <a:off x="7524598" y="6986930"/>
            <a:ext cx="18141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el albarán</a:t>
            </a:r>
            <a:endParaRPr lang="en-US" sz="1425" dirty="0"/>
          </a:p>
        </p:txBody>
      </p:sp>
      <p:sp>
        <p:nvSpPr>
          <p:cNvPr id="68" name="Shape 44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45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0" name="Text 46"/>
          <p:cNvSpPr txBox="1"/>
          <p:nvPr/>
        </p:nvSpPr>
        <p:spPr>
          <a:xfrm>
            <a:off x="7524598" y="7386523"/>
            <a:ext cx="28565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según cada cliente</a:t>
            </a:r>
            <a:endParaRPr lang="en-US" sz="1425" dirty="0"/>
          </a:p>
        </p:txBody>
      </p:sp>
      <p:sp>
        <p:nvSpPr>
          <p:cNvPr id="71" name="Shape 47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48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49"/>
          <p:cNvSpPr txBox="1"/>
          <p:nvPr/>
        </p:nvSpPr>
        <p:spPr>
          <a:xfrm>
            <a:off x="7524598" y="7787030"/>
            <a:ext cx="2505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Envía y registra el acuse</a:t>
            </a:r>
            <a:endParaRPr lang="en-US" sz="1425" dirty="0"/>
          </a:p>
        </p:txBody>
      </p:sp>
      <p:sp>
        <p:nvSpPr>
          <p:cNvPr id="74" name="Shape 50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1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52"/>
          <p:cNvSpPr txBox="1"/>
          <p:nvPr/>
        </p:nvSpPr>
        <p:spPr>
          <a:xfrm>
            <a:off x="7524598" y="8186623"/>
            <a:ext cx="319674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 expedido vs facturado</a:t>
            </a:r>
            <a:endParaRPr lang="en-US" sz="1425" dirty="0"/>
          </a:p>
        </p:txBody>
      </p:sp>
      <p:sp>
        <p:nvSpPr>
          <p:cNvPr id="77" name="Shape 53"/>
          <p:cNvSpPr/>
          <p:nvPr/>
        </p:nvSpPr>
        <p:spPr>
          <a:xfrm>
            <a:off x="887699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4"/>
          <p:cNvSpPr txBox="1"/>
          <p:nvPr/>
        </p:nvSpPr>
        <p:spPr>
          <a:xfrm>
            <a:off x="8985809" y="8953805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200" dirty="0"/>
          </a:p>
        </p:txBody>
      </p:sp>
      <p:sp>
        <p:nvSpPr>
          <p:cNvPr id="79" name="Shape 55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56"/>
          <p:cNvSpPr txBox="1"/>
          <p:nvPr/>
        </p:nvSpPr>
        <p:spPr>
          <a:xfrm>
            <a:off x="9667951" y="8953805"/>
            <a:ext cx="2935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</a:t>
            </a:r>
            <a:endParaRPr lang="en-US" sz="1200" dirty="0"/>
          </a:p>
        </p:txBody>
      </p:sp>
      <p:pic>
        <p:nvPicPr>
          <p:cNvPr id="81" name="Image 22" descr="gen-dedup-9f2da3d601bd1ff2962f48734b24ef49.png"/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PDF</a:t>
            </a:r>
            <a:endParaRPr lang="en-US" sz="1725" dirty="0"/>
          </a:p>
        </p:txBody>
      </p:sp>
      <p:sp>
        <p:nvSpPr>
          <p:cNvPr id="83" name="Text 58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su plantilla</a:t>
            </a:r>
            <a:endParaRPr lang="en-US" sz="1275" dirty="0"/>
          </a:p>
        </p:txBody>
      </p:sp>
      <p:sp>
        <p:nvSpPr>
          <p:cNvPr id="84" name="Text 59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Albarán Excel</a:t>
            </a:r>
            <a:endParaRPr lang="en-US" sz="1725" dirty="0"/>
          </a:p>
        </p:txBody>
      </p:sp>
      <p:sp>
        <p:nvSpPr>
          <p:cNvPr id="85" name="Text 60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de líneas</a:t>
            </a:r>
            <a:endParaRPr lang="en-US" sz="1275" dirty="0"/>
          </a:p>
        </p:txBody>
      </p:sp>
      <p:sp>
        <p:nvSpPr>
          <p:cNvPr id="86" name="Text 61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Enviado al cliente</a:t>
            </a:r>
            <a:endParaRPr lang="en-US" sz="1725" dirty="0"/>
          </a:p>
        </p:txBody>
      </p:sp>
      <p:sp>
        <p:nvSpPr>
          <p:cNvPr id="87" name="Text 62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Graph</a:t>
            </a:r>
            <a:endParaRPr lang="en-US" sz="1275" dirty="0"/>
          </a:p>
        </p:txBody>
      </p:sp>
      <p:pic>
        <p:nvPicPr>
          <p:cNvPr id="88" name="Image 23" descr="gen-dedup-cad81b674f5ca746b7ee00627dfd46b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89" name="Text 63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Discrepancias</a:t>
            </a:r>
            <a:endParaRPr lang="en-US" sz="1725" dirty="0"/>
          </a:p>
        </p:txBody>
      </p:sp>
      <p:sp>
        <p:nvSpPr>
          <p:cNvPr id="90" name="Text 64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Conciliación del día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55631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ac77d8f42a1a358f9b1530a2d05c16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 · 42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591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documental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 interna, consultable en lenguaje natural.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Convierte manuales, normativa y procedimientos en una base consultable en lenguaje natural. Cada respuesta cita el documento y la sección. Combina retrieval vectorial y grafo.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8496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instantáneo a la información interna.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29589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Citas al documento y a la sección.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2992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híbrido: vectorial + grafo.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94837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automática de gaps documentales.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por colección y por usuario.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31738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web + extensión de navegador.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820570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820570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494483" y="8762695"/>
            <a:ext cx="685800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494483" y="8762695"/>
            <a:ext cx="68580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270809" y="8762695"/>
            <a:ext cx="743407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270809" y="8762695"/>
            <a:ext cx="7434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101998" y="8762695"/>
            <a:ext cx="1076249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101998" y="8762695"/>
            <a:ext cx="10771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5266030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0"/>
          <p:cNvSpPr txBox="1"/>
          <p:nvPr/>
        </p:nvSpPr>
        <p:spPr>
          <a:xfrm>
            <a:off x="5266030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3144500" y="19046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3144500" y="2286000"/>
            <a:ext cx="4000500" cy="79095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3363956" y="2467051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«Qué controles hay que hacer antes de expedir y qué </a:t>
            </a:r>
            <a:r>
              <a:rPr lang="en-US" sz="1125" b="1" i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</a:t>
            </a:r>
            <a:r>
              <a:rPr lang="en-US" sz="1125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exige?»</a:t>
            </a:r>
            <a:endParaRPr lang="en-US" sz="1125" dirty="0"/>
          </a:p>
        </p:txBody>
      </p:sp>
      <p:sp>
        <p:nvSpPr>
          <p:cNvPr id="39" name="Text 34"/>
          <p:cNvSpPr txBox="1"/>
          <p:nvPr/>
        </p:nvSpPr>
        <p:spPr>
          <a:xfrm>
            <a:off x="13144500" y="3619195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con fuentes</a:t>
            </a:r>
            <a:endParaRPr lang="en-US" sz="825" dirty="0"/>
          </a:p>
        </p:txBody>
      </p:sp>
      <p:sp>
        <p:nvSpPr>
          <p:cNvPr id="40" name="Shape 35"/>
          <p:cNvSpPr/>
          <p:nvPr/>
        </p:nvSpPr>
        <p:spPr>
          <a:xfrm>
            <a:off x="13144500" y="4000500"/>
            <a:ext cx="4000500" cy="16477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6"/>
          <p:cNvSpPr txBox="1"/>
          <p:nvPr/>
        </p:nvSpPr>
        <p:spPr>
          <a:xfrm>
            <a:off x="13363956" y="4181551"/>
            <a:ext cx="35625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a ≤ 4 °C. Verificación visual antes del cierre. Firma del responsable en la hoja.</a:t>
            </a:r>
            <a:endParaRPr lang="en-US" sz="975" dirty="0"/>
          </a:p>
        </p:txBody>
      </p:sp>
      <p:pic>
        <p:nvPicPr>
          <p:cNvPr id="42" name="Image 3" descr="gen-dedup-70cfce64a46439fcb2843927a7d5a949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63956" y="4698187"/>
            <a:ext cx="3562502" cy="914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3363956" y="4841748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3542264" y="4841748"/>
            <a:ext cx="149687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 calidad §4.2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3363956" y="5079492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3542264" y="5079492"/>
            <a:ext cx="123626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22000 §8.4.1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3363956" y="5317236"/>
            <a:ext cx="1051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3542264" y="5317236"/>
            <a:ext cx="155082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853/2004 Anexo II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14287500" y="723930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4"/>
          <p:cNvSpPr txBox="1"/>
          <p:nvPr/>
        </p:nvSpPr>
        <p:spPr>
          <a:xfrm>
            <a:off x="14287500" y="742035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1" name="Text 45"/>
          <p:cNvSpPr txBox="1"/>
          <p:nvPr/>
        </p:nvSpPr>
        <p:spPr>
          <a:xfrm>
            <a:off x="14287500" y="7667244"/>
            <a:ext cx="94366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975" dirty="0"/>
          </a:p>
        </p:txBody>
      </p:sp>
      <p:sp>
        <p:nvSpPr>
          <p:cNvPr id="52" name="Text 46"/>
          <p:cNvSpPr txBox="1"/>
          <p:nvPr/>
        </p:nvSpPr>
        <p:spPr>
          <a:xfrm>
            <a:off x="15306142" y="7667244"/>
            <a:ext cx="619963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975" dirty="0"/>
          </a:p>
        </p:txBody>
      </p:sp>
      <p:sp>
        <p:nvSpPr>
          <p:cNvPr id="53" name="Text 47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4" name="Text 48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/ 50</a:t>
            </a:r>
            <a:endParaRPr lang="en-US" sz="975" dirty="0"/>
          </a:p>
        </p:txBody>
      </p:sp>
      <p:pic>
        <p:nvPicPr>
          <p:cNvPr id="55" name="Image 4" descr="gen-dedup-a10b06393f16b68cb88f4915ec56234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430500" y="723930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43000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134356"/>
            <a:ext cx="685800" cy="685800"/>
          </a:xfrm>
          <a:prstGeom prst="rect">
            <a:avLst/>
          </a:prstGeom>
        </p:spPr>
      </p:pic>
      <p:pic>
        <p:nvPicPr>
          <p:cNvPr id="14" name="Image 3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6334049"/>
            <a:ext cx="685800" cy="685800"/>
          </a:xfrm>
          <a:prstGeom prst="rect">
            <a:avLst/>
          </a:prstGeom>
        </p:spPr>
      </p:pic>
      <p:pic>
        <p:nvPicPr>
          <p:cNvPr id="15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7534656"/>
            <a:ext cx="685800" cy="685800"/>
          </a:xfrm>
          <a:prstGeom prst="rect">
            <a:avLst/>
          </a:prstGeom>
        </p:spPr>
      </p:pic>
      <p:pic>
        <p:nvPicPr>
          <p:cNvPr id="16" name="Image 5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734349"/>
            <a:ext cx="685800" cy="685800"/>
          </a:xfrm>
          <a:prstGeom prst="rect">
            <a:avLst/>
          </a:prstGeom>
        </p:spPr>
      </p:pic>
      <p:pic>
        <p:nvPicPr>
          <p:cNvPr id="17" name="Image 6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8" name="Image 7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9" name="Image 8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20" name="Image 9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21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2" name="Image 11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3" name="Image 12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4" name="Image 13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5" name="Image 14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6" name="Image 15" descr="gen-dedup-e65a801e1d2e7d7f545c66da47e65295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47495" y="5266944"/>
            <a:ext cx="409651" cy="409651"/>
          </a:xfrm>
          <a:prstGeom prst="rect">
            <a:avLst/>
          </a:prstGeom>
        </p:spPr>
      </p:pic>
      <p:pic>
        <p:nvPicPr>
          <p:cNvPr id="27" name="Image 16" descr="gen-dedup-faef72f8220654017d2ee5f08dc50c2c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447495" y="6467551"/>
            <a:ext cx="409651" cy="409651"/>
          </a:xfrm>
          <a:prstGeom prst="rect">
            <a:avLst/>
          </a:prstGeom>
        </p:spPr>
      </p:pic>
      <p:pic>
        <p:nvPicPr>
          <p:cNvPr id="28" name="Image 17" descr="gen-dedup-fc23fc46cc0b8a7a71b92116d7c65e6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9" name="Image 18" descr="gen-dedup-c64420af1170f774cb39882a607964c5.png"/>
          <p:cNvPicPr>
            <a:picLocks noChangeAspect="1"/>
          </p:cNvPicPr>
          <p:nvPr/>
        </p:nvPicPr>
        <p:blipFill>
          <a:blip r:embed="rId14"/>
          <a:srcRect l="-7143" r="-7143"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30" name="Image 19" descr="gen-dedup-ae9fbf65c2968d1581755de022ed705b.png"/>
          <p:cNvPicPr>
            <a:picLocks noChangeAspect="1"/>
          </p:cNvPicPr>
          <p:nvPr/>
        </p:nvPicPr>
        <p:blipFill>
          <a:blip r:embed="rId15"/>
          <a:srcRect t="-100000" b="-100000"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31" name="Image 20" descr="gen-dedup-bc0a37f2aa86479f1dbba7289591e74a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6420795" y="5266944"/>
            <a:ext cx="409651" cy="409651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C07</a:t>
            </a:r>
            <a:endParaRPr lang="en-US" sz="975" dirty="0"/>
          </a:p>
        </p:txBody>
      </p:sp>
      <p:sp>
        <p:nvSpPr>
          <p:cNvPr id="33" name="Shape 10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/>
          <p:cNvSpPr txBox="1"/>
          <p:nvPr/>
        </p:nvSpPr>
        <p:spPr>
          <a:xfrm>
            <a:off x="1323137" y="2214677"/>
            <a:ext cx="3529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1350" dirty="0"/>
          </a:p>
        </p:txBody>
      </p:sp>
      <p:sp>
        <p:nvSpPr>
          <p:cNvPr id="35" name="Text 12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del conocimiento · Qué entra, qué sale</a:t>
            </a:r>
            <a:endParaRPr lang="en-US" sz="1125" dirty="0"/>
          </a:p>
        </p:txBody>
      </p:sp>
      <p:sp>
        <p:nvSpPr>
          <p:cNvPr id="36" name="Text 13"/>
          <p:cNvSpPr txBox="1"/>
          <p:nvPr/>
        </p:nvSpPr>
        <p:spPr>
          <a:xfrm>
            <a:off x="1143000" y="2686507"/>
            <a:ext cx="11610137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Conocimiento.</a:t>
            </a:r>
            <a:endParaRPr lang="en-US" sz="5850" dirty="0"/>
          </a:p>
        </p:txBody>
      </p:sp>
      <p:sp>
        <p:nvSpPr>
          <p:cNvPr id="37" name="Text 14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documentación interna, consultable en lenguaje natural.</a:t>
            </a:r>
            <a:endParaRPr lang="en-US" sz="1950" dirty="0"/>
          </a:p>
        </p:txBody>
      </p:sp>
      <p:sp>
        <p:nvSpPr>
          <p:cNvPr id="38" name="Text 15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9" name="Shape 16"/>
          <p:cNvSpPr/>
          <p:nvPr/>
        </p:nvSpPr>
        <p:spPr>
          <a:xfrm>
            <a:off x="12382805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7"/>
          <p:cNvSpPr txBox="1"/>
          <p:nvPr/>
        </p:nvSpPr>
        <p:spPr>
          <a:xfrm>
            <a:off x="12382805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1" name="Shape 18"/>
          <p:cNvSpPr/>
          <p:nvPr/>
        </p:nvSpPr>
        <p:spPr>
          <a:xfrm>
            <a:off x="13043002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9"/>
          <p:cNvSpPr txBox="1"/>
          <p:nvPr/>
        </p:nvSpPr>
        <p:spPr>
          <a:xfrm>
            <a:off x="13043002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3" name="Shape 20"/>
          <p:cNvSpPr/>
          <p:nvPr/>
        </p:nvSpPr>
        <p:spPr>
          <a:xfrm>
            <a:off x="13698626" y="2533802"/>
            <a:ext cx="7050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1"/>
          <p:cNvSpPr txBox="1"/>
          <p:nvPr/>
        </p:nvSpPr>
        <p:spPr>
          <a:xfrm>
            <a:off x="13698626" y="2533802"/>
            <a:ext cx="7050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</a:t>
            </a:r>
            <a:endParaRPr lang="en-US" sz="1125" dirty="0"/>
          </a:p>
        </p:txBody>
      </p:sp>
      <p:sp>
        <p:nvSpPr>
          <p:cNvPr id="45" name="Shape 22"/>
          <p:cNvSpPr/>
          <p:nvPr/>
        </p:nvSpPr>
        <p:spPr>
          <a:xfrm>
            <a:off x="14473123" y="2533802"/>
            <a:ext cx="761695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3"/>
          <p:cNvSpPr txBox="1"/>
          <p:nvPr/>
        </p:nvSpPr>
        <p:spPr>
          <a:xfrm>
            <a:off x="14473123" y="2533802"/>
            <a:ext cx="7626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1125" dirty="0"/>
          </a:p>
        </p:txBody>
      </p:sp>
      <p:sp>
        <p:nvSpPr>
          <p:cNvPr id="47" name="Shape 24"/>
          <p:cNvSpPr/>
          <p:nvPr/>
        </p:nvSpPr>
        <p:spPr>
          <a:xfrm>
            <a:off x="15309799" y="2533802"/>
            <a:ext cx="11521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5"/>
          <p:cNvSpPr txBox="1"/>
          <p:nvPr/>
        </p:nvSpPr>
        <p:spPr>
          <a:xfrm>
            <a:off x="15309799" y="2533802"/>
            <a:ext cx="11530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125" dirty="0"/>
          </a:p>
        </p:txBody>
      </p:sp>
      <p:sp>
        <p:nvSpPr>
          <p:cNvPr id="49" name="Shape 26"/>
          <p:cNvSpPr/>
          <p:nvPr/>
        </p:nvSpPr>
        <p:spPr>
          <a:xfrm>
            <a:off x="16531438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7"/>
          <p:cNvSpPr txBox="1"/>
          <p:nvPr/>
        </p:nvSpPr>
        <p:spPr>
          <a:xfrm>
            <a:off x="16531438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51" name="Text 28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52" name="Shape 29"/>
          <p:cNvSpPr/>
          <p:nvPr/>
        </p:nvSpPr>
        <p:spPr>
          <a:xfrm>
            <a:off x="12382805" y="3829507"/>
            <a:ext cx="1076249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0"/>
          <p:cNvSpPr txBox="1"/>
          <p:nvPr/>
        </p:nvSpPr>
        <p:spPr>
          <a:xfrm>
            <a:off x="12382805" y="3829507"/>
            <a:ext cx="10771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REGENASA</a:t>
            </a:r>
            <a:endParaRPr lang="en-US" sz="1125" dirty="0"/>
          </a:p>
        </p:txBody>
      </p:sp>
      <p:sp>
        <p:nvSpPr>
          <p:cNvPr id="54" name="Shape 31"/>
          <p:cNvSpPr/>
          <p:nvPr/>
        </p:nvSpPr>
        <p:spPr>
          <a:xfrm>
            <a:off x="13530377" y="3829507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2"/>
          <p:cNvSpPr txBox="1"/>
          <p:nvPr/>
        </p:nvSpPr>
        <p:spPr>
          <a:xfrm>
            <a:off x="13530377" y="3829507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1125" dirty="0"/>
          </a:p>
        </p:txBody>
      </p:sp>
      <p:sp>
        <p:nvSpPr>
          <p:cNvPr id="56" name="Text 33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7" name="Text 34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8" name="Text 35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9" name="Text 36"/>
          <p:cNvSpPr txBox="1"/>
          <p:nvPr/>
        </p:nvSpPr>
        <p:spPr>
          <a:xfrm>
            <a:off x="21717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Manuales</a:t>
            </a:r>
            <a:endParaRPr lang="en-US" sz="1725" dirty="0"/>
          </a:p>
        </p:txBody>
      </p:sp>
      <p:sp>
        <p:nvSpPr>
          <p:cNvPr id="60" name="Text 37"/>
          <p:cNvSpPr txBox="1"/>
          <p:nvPr/>
        </p:nvSpPr>
        <p:spPr>
          <a:xfrm>
            <a:off x="21717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técnica</a:t>
            </a:r>
            <a:endParaRPr lang="en-US" sz="1275" dirty="0"/>
          </a:p>
        </p:txBody>
      </p:sp>
      <p:sp>
        <p:nvSpPr>
          <p:cNvPr id="61" name="Text 38"/>
          <p:cNvSpPr txBox="1"/>
          <p:nvPr/>
        </p:nvSpPr>
        <p:spPr>
          <a:xfrm>
            <a:off x="21717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Procedimientos</a:t>
            </a:r>
            <a:endParaRPr lang="en-US" sz="1725" dirty="0"/>
          </a:p>
        </p:txBody>
      </p:sp>
      <p:sp>
        <p:nvSpPr>
          <p:cNvPr id="62" name="Text 39"/>
          <p:cNvSpPr txBox="1"/>
          <p:nvPr/>
        </p:nvSpPr>
        <p:spPr>
          <a:xfrm>
            <a:off x="21717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 internas</a:t>
            </a:r>
            <a:endParaRPr lang="en-US" sz="1275" dirty="0"/>
          </a:p>
        </p:txBody>
      </p:sp>
      <p:pic>
        <p:nvPicPr>
          <p:cNvPr id="63" name="Image 21" descr="gen-dedup-3ebdaa17aa4f73f0a40cf173e01637c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7686446"/>
            <a:ext cx="381305" cy="381305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21717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</a:t>
            </a:r>
            <a:endParaRPr lang="en-US" sz="1725" dirty="0"/>
          </a:p>
        </p:txBody>
      </p:sp>
      <p:sp>
        <p:nvSpPr>
          <p:cNvPr id="65" name="Text 41"/>
          <p:cNvSpPr txBox="1"/>
          <p:nvPr/>
        </p:nvSpPr>
        <p:spPr>
          <a:xfrm>
            <a:off x="21717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aplicables</a:t>
            </a:r>
            <a:endParaRPr lang="en-US" sz="1275" dirty="0"/>
          </a:p>
        </p:txBody>
      </p:sp>
      <p:pic>
        <p:nvPicPr>
          <p:cNvPr id="66" name="Image 22" descr="gen-dedup-bb78bd60ebac547c6c1d68cc4b407b9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6698" y="8887054"/>
            <a:ext cx="381305" cy="381305"/>
          </a:xfrm>
          <a:prstGeom prst="rect">
            <a:avLst/>
          </a:prstGeom>
        </p:spPr>
      </p:pic>
      <p:sp>
        <p:nvSpPr>
          <p:cNvPr id="67" name="Text 42"/>
          <p:cNvSpPr txBox="1"/>
          <p:nvPr/>
        </p:nvSpPr>
        <p:spPr>
          <a:xfrm>
            <a:off x="21717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Escaneados</a:t>
            </a:r>
            <a:endParaRPr lang="en-US" sz="1725" dirty="0"/>
          </a:p>
        </p:txBody>
      </p:sp>
      <p:sp>
        <p:nvSpPr>
          <p:cNvPr id="68" name="Text 43"/>
          <p:cNvSpPr txBox="1"/>
          <p:nvPr/>
        </p:nvSpPr>
        <p:spPr>
          <a:xfrm>
            <a:off x="21717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9" name="Image 23" descr="gen-dedup-625f6ee98a837ce7c94bde031f58a71e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70" name="Text 44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C07</a:t>
            </a:r>
            <a:endParaRPr lang="en-US" sz="900" dirty="0"/>
          </a:p>
        </p:txBody>
      </p:sp>
      <p:sp>
        <p:nvSpPr>
          <p:cNvPr id="71" name="Text 45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de Conocimiento</a:t>
            </a:r>
            <a:endParaRPr lang="en-US" sz="2250" dirty="0"/>
          </a:p>
        </p:txBody>
      </p:sp>
      <p:sp>
        <p:nvSpPr>
          <p:cNvPr id="72" name="Shape 46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7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48"/>
          <p:cNvSpPr txBox="1"/>
          <p:nvPr/>
        </p:nvSpPr>
        <p:spPr>
          <a:xfrm>
            <a:off x="7524598" y="6986930"/>
            <a:ext cx="364205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Indexa con embeddings vectoriales</a:t>
            </a:r>
            <a:endParaRPr lang="en-US" sz="1425" dirty="0"/>
          </a:p>
        </p:txBody>
      </p:sp>
      <p:sp>
        <p:nvSpPr>
          <p:cNvPr id="75" name="Shape 49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0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7" name="Text 51"/>
          <p:cNvSpPr txBox="1"/>
          <p:nvPr/>
        </p:nvSpPr>
        <p:spPr>
          <a:xfrm>
            <a:off x="7524598" y="7386523"/>
            <a:ext cx="3242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Relaciona el contenido en grafo</a:t>
            </a:r>
            <a:endParaRPr lang="en-US" sz="1425" dirty="0"/>
          </a:p>
        </p:txBody>
      </p:sp>
      <p:sp>
        <p:nvSpPr>
          <p:cNvPr id="78" name="Shape 52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53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54"/>
          <p:cNvSpPr txBox="1"/>
          <p:nvPr/>
        </p:nvSpPr>
        <p:spPr>
          <a:xfrm>
            <a:off x="7524598" y="7787030"/>
            <a:ext cx="32653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híbrido: vector + grafo</a:t>
            </a:r>
            <a:endParaRPr lang="en-US" sz="1425" dirty="0"/>
          </a:p>
        </p:txBody>
      </p:sp>
      <p:sp>
        <p:nvSpPr>
          <p:cNvPr id="81" name="Shape 55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6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57"/>
          <p:cNvSpPr txBox="1"/>
          <p:nvPr/>
        </p:nvSpPr>
        <p:spPr>
          <a:xfrm>
            <a:off x="7524598" y="8186623"/>
            <a:ext cx="342259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por colección y usuario</a:t>
            </a:r>
            <a:endParaRPr lang="en-US" sz="1425" dirty="0"/>
          </a:p>
        </p:txBody>
      </p:sp>
      <p:sp>
        <p:nvSpPr>
          <p:cNvPr id="84" name="Shape 58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59"/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6" name="Image 24" descr="gen-dedup-9f2da3d601bd1ff2962f48734b24ef49.png"/>
          <p:cNvPicPr>
            <a:picLocks noChangeAspect="1"/>
          </p:cNvPicPr>
          <p:nvPr/>
        </p:nvPicPr>
        <p:blipFill>
          <a:blip r:embed="rId20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sp>
        <p:nvSpPr>
          <p:cNvPr id="87" name="Text 60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web + extensión</a:t>
            </a:r>
            <a:endParaRPr lang="en-US" sz="1725" dirty="0"/>
          </a:p>
        </p:txBody>
      </p:sp>
      <p:sp>
        <p:nvSpPr>
          <p:cNvPr id="88" name="Text 61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en lenguaje natural</a:t>
            </a:r>
            <a:endParaRPr lang="en-US" sz="1275" dirty="0"/>
          </a:p>
        </p:txBody>
      </p:sp>
      <p:pic>
        <p:nvPicPr>
          <p:cNvPr id="89" name="Image 25" descr="gen-dedup-ce73183853f9710a6d0473dce2704dc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90" name="Text 62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con fuentes</a:t>
            </a:r>
            <a:endParaRPr lang="en-US" sz="1725" dirty="0"/>
          </a:p>
        </p:txBody>
      </p:sp>
      <p:sp>
        <p:nvSpPr>
          <p:cNvPr id="91" name="Text 63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y sección</a:t>
            </a:r>
            <a:endParaRPr lang="en-US" sz="1275" dirty="0"/>
          </a:p>
        </p:txBody>
      </p:sp>
      <p:pic>
        <p:nvPicPr>
          <p:cNvPr id="92" name="Image 26" descr="gen-dedup-421ab1c043c9caa43d1aba742f30aa1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93" name="Text 64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documentales</a:t>
            </a:r>
            <a:endParaRPr lang="en-US" sz="1725" dirty="0"/>
          </a:p>
        </p:txBody>
      </p:sp>
      <p:sp>
        <p:nvSpPr>
          <p:cNvPr id="94" name="Text 65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Detectados solos</a:t>
            </a:r>
            <a:endParaRPr lang="en-US" sz="1275" dirty="0"/>
          </a:p>
        </p:txBody>
      </p:sp>
      <p:pic>
        <p:nvPicPr>
          <p:cNvPr id="95" name="Image 27" descr="gen-dedup-cae6b8a028f3769cc79ae636363cc91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439998" y="8887054"/>
            <a:ext cx="381305" cy="381305"/>
          </a:xfrm>
          <a:prstGeom prst="rect">
            <a:avLst/>
          </a:prstGeom>
        </p:spPr>
      </p:pic>
      <p:sp>
        <p:nvSpPr>
          <p:cNvPr id="96" name="Text 66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controlado</a:t>
            </a:r>
            <a:endParaRPr lang="en-US" sz="1725" dirty="0"/>
          </a:p>
        </p:txBody>
      </p:sp>
      <p:sp>
        <p:nvSpPr>
          <p:cNvPr id="97" name="Text 67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colección y usuario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2313830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fac8eb198ecfd775a3e8768787cb1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2195" y="7619695"/>
            <a:ext cx="4190695" cy="4190695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21010b4c20abbbcb8e45be4e38abdc38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 · 44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904695"/>
            <a:ext cx="571500" cy="571500"/>
          </a:xfrm>
          <a:prstGeom prst="rect">
            <a:avLst/>
          </a:prstGeom>
          <a:noFill/>
          <a:ln w="12700">
            <a:solidFill>
              <a:srgbClr val="E6A8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6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886407" y="2115007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y respuesta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857500"/>
            <a:ext cx="123828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kern="0" spc="-19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</a:t>
            </a:r>
            <a:r>
              <a:rPr lang="en-US" sz="5550" b="1" kern="0" spc="-1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Calidad.</a:t>
            </a:r>
            <a:endParaRPr lang="en-US" sz="5550" dirty="0"/>
          </a:p>
        </p:txBody>
      </p:sp>
      <p:sp>
        <p:nvSpPr>
          <p:cNvPr id="9" name="Text 4"/>
          <p:cNvSpPr txBox="1"/>
          <p:nvPr/>
        </p:nvSpPr>
        <p:spPr>
          <a:xfrm>
            <a:off x="1181405" y="3733495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por voz al cierre con causa raíz documentada.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81405" y="4304995"/>
            <a:ext cx="11239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operario reporta desde el móvil — formulario, voz o foto. El sistema clasifica, asigna al responsable, consulta la normativa aplicable. Cierre con acción correctiva trazable.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5524805"/>
            <a:ext cx="10858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clave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345082" y="5905195"/>
            <a:ext cx="31171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multimodal: form, voz, foto.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38798" y="5905195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5905195"/>
            <a:ext cx="342259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y priorización automática.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45082" y="6292901"/>
            <a:ext cx="31738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normativo con cita aplicable.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38798" y="629290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6292901"/>
            <a:ext cx="32534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configurable de resolución.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45082" y="6681521"/>
            <a:ext cx="32872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 con SLA por gravedad.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838798" y="6681521"/>
            <a:ext cx="914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6681521"/>
            <a:ext cx="289041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 automáticos de calidad.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43000" y="8762695"/>
            <a:ext cx="990295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8762695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2221078" y="8762695"/>
            <a:ext cx="580644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2221078" y="8762695"/>
            <a:ext cx="5815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894990" y="8762695"/>
            <a:ext cx="590702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2894990" y="8762695"/>
            <a:ext cx="5907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572561" y="8762695"/>
            <a:ext cx="8284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3572561" y="8762695"/>
            <a:ext cx="8293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4494276" y="8762695"/>
            <a:ext cx="599846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4494276" y="8762695"/>
            <a:ext cx="600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5180990" y="8762695"/>
            <a:ext cx="666598" cy="323698"/>
          </a:xfrm>
          <a:prstGeom prst="roundRect">
            <a:avLst>
              <a:gd name="adj" fmla="val 5932"/>
            </a:avLst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0"/>
          <p:cNvSpPr txBox="1"/>
          <p:nvPr/>
        </p:nvSpPr>
        <p:spPr>
          <a:xfrm>
            <a:off x="5180990" y="8762695"/>
            <a:ext cx="6675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4287500" y="19046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 reportada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4287500" y="2286000"/>
            <a:ext cx="3619195" cy="196230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 txBox="1"/>
          <p:nvPr/>
        </p:nvSpPr>
        <p:spPr>
          <a:xfrm>
            <a:off x="14525244" y="2505456"/>
            <a:ext cx="1200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endParaRPr lang="en-US" sz="825" dirty="0"/>
          </a:p>
        </p:txBody>
      </p:sp>
      <p:sp>
        <p:nvSpPr>
          <p:cNvPr id="39" name="Text 34"/>
          <p:cNvSpPr txBox="1"/>
          <p:nvPr/>
        </p:nvSpPr>
        <p:spPr>
          <a:xfrm>
            <a:off x="14525244" y="2676449"/>
            <a:ext cx="12527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NC-2025-0418</a:t>
            </a:r>
            <a:endParaRPr lang="en-US" sz="1275" dirty="0"/>
          </a:p>
        </p:txBody>
      </p:sp>
      <p:sp>
        <p:nvSpPr>
          <p:cNvPr id="40" name="Text 35"/>
          <p:cNvSpPr txBox="1"/>
          <p:nvPr/>
        </p:nvSpPr>
        <p:spPr>
          <a:xfrm>
            <a:off x="17106595" y="2505456"/>
            <a:ext cx="571500" cy="247802"/>
          </a:xfrm>
          <a:prstGeom prst="rect">
            <a:avLst/>
          </a:prstGeom>
          <a:solidFill>
            <a:srgbClr val="E6A817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825" dirty="0"/>
          </a:p>
        </p:txBody>
      </p:sp>
      <p:pic>
        <p:nvPicPr>
          <p:cNvPr id="41" name="Image 3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000146"/>
            <a:ext cx="3143707" cy="9144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4525244" y="3143707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Salmón a 6 °C · máximo 4 °C</a:t>
            </a:r>
            <a:endParaRPr lang="en-US" sz="1050" dirty="0"/>
          </a:p>
        </p:txBody>
      </p:sp>
      <p:pic>
        <p:nvPicPr>
          <p:cNvPr id="43" name="Image 4" descr="gen-dedup-e4da4572dd0a2a949d775cada46b1539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4525244" y="3462833"/>
            <a:ext cx="3143707" cy="914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4525244" y="3606394"/>
            <a:ext cx="67482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975" dirty="0"/>
          </a:p>
        </p:txBody>
      </p:sp>
      <p:sp>
        <p:nvSpPr>
          <p:cNvPr id="45" name="Text 38"/>
          <p:cNvSpPr txBox="1"/>
          <p:nvPr/>
        </p:nvSpPr>
        <p:spPr>
          <a:xfrm>
            <a:off x="16807586" y="3606394"/>
            <a:ext cx="112837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Salmón fresco</a:t>
            </a:r>
            <a:endParaRPr lang="en-US" sz="975" dirty="0"/>
          </a:p>
        </p:txBody>
      </p:sp>
      <p:sp>
        <p:nvSpPr>
          <p:cNvPr id="46" name="Text 39"/>
          <p:cNvSpPr txBox="1"/>
          <p:nvPr/>
        </p:nvSpPr>
        <p:spPr>
          <a:xfrm>
            <a:off x="14525244" y="3891686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E6A81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24 h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14287500" y="5333695"/>
            <a:ext cx="3619195" cy="1505102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1"/>
          <p:cNvSpPr txBox="1"/>
          <p:nvPr/>
        </p:nvSpPr>
        <p:spPr>
          <a:xfrm>
            <a:off x="14525244" y="5553151"/>
            <a:ext cx="3143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citada</a:t>
            </a:r>
            <a:endParaRPr lang="en-US" sz="825" dirty="0"/>
          </a:p>
        </p:txBody>
      </p:sp>
      <p:sp>
        <p:nvSpPr>
          <p:cNvPr id="49" name="Text 42"/>
          <p:cNvSpPr txBox="1"/>
          <p:nvPr/>
        </p:nvSpPr>
        <p:spPr>
          <a:xfrm>
            <a:off x="14525244" y="5820156"/>
            <a:ext cx="3143707" cy="352958"/>
          </a:xfrm>
          <a:prstGeom prst="rect">
            <a:avLst/>
          </a:prstGeom>
          <a:solidFill>
            <a:srgbClr val="E6A817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22000 §8.4.1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14525244" y="6267298"/>
            <a:ext cx="3143707" cy="352958"/>
          </a:xfrm>
          <a:prstGeom prst="rect">
            <a:avLst/>
          </a:prstGeom>
          <a:solidFill>
            <a:srgbClr val="E6A817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Reglamento CE 853/2004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14287500" y="7048195"/>
            <a:ext cx="3619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 45"/>
          <p:cNvSpPr txBox="1"/>
          <p:nvPr/>
        </p:nvSpPr>
        <p:spPr>
          <a:xfrm>
            <a:off x="14287500" y="7229246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24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53" name="Text 46"/>
          <p:cNvSpPr txBox="1"/>
          <p:nvPr/>
        </p:nvSpPr>
        <p:spPr>
          <a:xfrm>
            <a:off x="14287500" y="7477049"/>
            <a:ext cx="819302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975" dirty="0"/>
          </a:p>
        </p:txBody>
      </p:sp>
      <p:sp>
        <p:nvSpPr>
          <p:cNvPr id="54" name="Text 47"/>
          <p:cNvSpPr txBox="1"/>
          <p:nvPr/>
        </p:nvSpPr>
        <p:spPr>
          <a:xfrm>
            <a:off x="15180869" y="7477049"/>
            <a:ext cx="752551" cy="305410"/>
          </a:xfrm>
          <a:prstGeom prst="rect">
            <a:avLst/>
          </a:prstGeom>
          <a:solidFill>
            <a:srgbClr val="E6A817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NAUTIA</a:t>
            </a:r>
            <a:endParaRPr lang="en-US" sz="975" dirty="0"/>
          </a:p>
        </p:txBody>
      </p:sp>
      <p:sp>
        <p:nvSpPr>
          <p:cNvPr id="55" name="Text 48"/>
          <p:cNvSpPr txBox="1"/>
          <p:nvPr/>
        </p:nvSpPr>
        <p:spPr>
          <a:xfrm>
            <a:off x="11430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real a continuación.</a:t>
            </a:r>
            <a:endParaRPr lang="en-US" sz="975" dirty="0"/>
          </a:p>
        </p:txBody>
      </p:sp>
      <p:sp>
        <p:nvSpPr>
          <p:cNvPr id="56" name="Text 49"/>
          <p:cNvSpPr txBox="1"/>
          <p:nvPr/>
        </p:nvSpPr>
        <p:spPr>
          <a:xfrm>
            <a:off x="14287500" y="100199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/ 50</a:t>
            </a:r>
            <a:endParaRPr lang="en-US" sz="975" dirty="0"/>
          </a:p>
        </p:txBody>
      </p:sp>
      <p:pic>
        <p:nvPicPr>
          <p:cNvPr id="57" name="Image 5" descr="gen-dedup-48688a835f425efe66de88baf3c2b53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2805" y="3429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12a16a144ccee032e015b7285f2a9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622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6762902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0" y="7962595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fac80e9e021134ca9d35aa6425fc9f26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72707" y="4914900"/>
            <a:ext cx="5143500" cy="4724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05295" y="5048402"/>
            <a:ext cx="4876495" cy="4457700"/>
          </a:xfrm>
          <a:prstGeom prst="roundRect">
            <a:avLst>
              <a:gd name="adj" fmla="val 636"/>
            </a:avLst>
          </a:prstGeom>
          <a:noFill/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954305" y="49624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954305" y="61630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954305" y="7362749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954305" y="8563356"/>
            <a:ext cx="4190695" cy="1028700"/>
          </a:xfrm>
          <a:prstGeom prst="roundRect">
            <a:avLst>
              <a:gd name="adj" fmla="val 37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5734202"/>
            <a:ext cx="685800" cy="685800"/>
          </a:xfrm>
          <a:prstGeom prst="rect">
            <a:avLst/>
          </a:prstGeom>
        </p:spPr>
      </p:pic>
      <p:pic>
        <p:nvPicPr>
          <p:cNvPr id="13" name="Image 3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6933895"/>
            <a:ext cx="685800" cy="685800"/>
          </a:xfrm>
          <a:prstGeom prst="rect">
            <a:avLst/>
          </a:prstGeom>
        </p:spPr>
      </p:pic>
      <p:pic>
        <p:nvPicPr>
          <p:cNvPr id="14" name="Image 4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8134502"/>
            <a:ext cx="685800" cy="685800"/>
          </a:xfrm>
          <a:prstGeom prst="rect">
            <a:avLst/>
          </a:prstGeom>
        </p:spPr>
      </p:pic>
      <p:pic>
        <p:nvPicPr>
          <p:cNvPr id="15" name="Image 5" descr="gen-dedup-4fd6ab27e8b90bd8fc3508b3072b05e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144207" y="8572500"/>
            <a:ext cx="4000500" cy="9144"/>
          </a:xfrm>
          <a:prstGeom prst="rect">
            <a:avLst/>
          </a:prstGeom>
        </p:spPr>
      </p:pic>
      <p:pic>
        <p:nvPicPr>
          <p:cNvPr id="16" name="Image 6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8781898"/>
            <a:ext cx="533095" cy="533095"/>
          </a:xfrm>
          <a:prstGeom prst="rect">
            <a:avLst/>
          </a:prstGeom>
        </p:spPr>
      </p:pic>
      <p:pic>
        <p:nvPicPr>
          <p:cNvPr id="17" name="Image 7" descr="gen-dedup-260dd6da6acb35cd082fc331d27439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76995" y="8781898"/>
            <a:ext cx="533095" cy="533095"/>
          </a:xfrm>
          <a:prstGeom prst="rect">
            <a:avLst/>
          </a:prstGeom>
        </p:spPr>
      </p:pic>
      <p:pic>
        <p:nvPicPr>
          <p:cNvPr id="18" name="Image 8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5134356"/>
            <a:ext cx="685800" cy="685800"/>
          </a:xfrm>
          <a:prstGeom prst="rect">
            <a:avLst/>
          </a:prstGeom>
        </p:spPr>
      </p:pic>
      <p:pic>
        <p:nvPicPr>
          <p:cNvPr id="19" name="Image 9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6334049"/>
            <a:ext cx="685800" cy="685800"/>
          </a:xfrm>
          <a:prstGeom prst="rect">
            <a:avLst/>
          </a:prstGeom>
        </p:spPr>
      </p:pic>
      <p:pic>
        <p:nvPicPr>
          <p:cNvPr id="20" name="Image 10" descr="gen-dedup-25ca77fad41c44e392459a669cb4668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8207" y="7534656"/>
            <a:ext cx="685800" cy="685800"/>
          </a:xfrm>
          <a:prstGeom prst="rect">
            <a:avLst/>
          </a:prstGeom>
        </p:spPr>
      </p:pic>
      <p:pic>
        <p:nvPicPr>
          <p:cNvPr id="21" name="Image 11" descr="gen-dedup-8a9a28c3a9840776409e917f9ceff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288207" y="8734349"/>
            <a:ext cx="685800" cy="685800"/>
          </a:xfrm>
          <a:prstGeom prst="rect">
            <a:avLst/>
          </a:prstGeom>
        </p:spPr>
      </p:pic>
      <p:pic>
        <p:nvPicPr>
          <p:cNvPr id="22" name="Image 12" descr="gen-dedup-6b1fea6ef9cf700851503bcdb8011f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23" name="Image 13" descr="gen-dedup-07d4da1bf1910daef42c9babebc62b73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143000" y="1867205"/>
            <a:ext cx="914400" cy="38405"/>
          </a:xfrm>
          <a:prstGeom prst="rect">
            <a:avLst/>
          </a:prstGeom>
        </p:spPr>
      </p:pic>
      <p:pic>
        <p:nvPicPr>
          <p:cNvPr id="24" name="Image 14" descr="gen-dedup-adb194156bb412e8d13b0f82fa257db1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1447495" y="5867705"/>
            <a:ext cx="409651" cy="409651"/>
          </a:xfrm>
          <a:prstGeom prst="rect">
            <a:avLst/>
          </a:prstGeom>
        </p:spPr>
      </p:pic>
      <p:pic>
        <p:nvPicPr>
          <p:cNvPr id="25" name="Image 15" descr="gen-dedup-fc23fc46cc0b8a7a71b92116d7c65e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0049" y="5277002"/>
            <a:ext cx="1047902" cy="743407"/>
          </a:xfrm>
          <a:prstGeom prst="rect">
            <a:avLst/>
          </a:prstGeom>
        </p:spPr>
      </p:pic>
      <p:pic>
        <p:nvPicPr>
          <p:cNvPr id="26" name="Image 16" descr="gen-dedup-1fccdd897c6e68de427f95f9a1ba34cb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8887054"/>
            <a:ext cx="323698" cy="323698"/>
          </a:xfrm>
          <a:prstGeom prst="rect">
            <a:avLst/>
          </a:prstGeom>
        </p:spPr>
      </p:pic>
      <p:pic>
        <p:nvPicPr>
          <p:cNvPr id="27" name="Image 17" descr="gen-dedup-f8ed294b000c1ef7e579ff30ac06ed18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982151" y="8887054"/>
            <a:ext cx="323698" cy="323698"/>
          </a:xfrm>
          <a:prstGeom prst="rect">
            <a:avLst/>
          </a:prstGeom>
        </p:spPr>
      </p:pic>
      <p:pic>
        <p:nvPicPr>
          <p:cNvPr id="28" name="Image 18" descr="gen-dedup-e65a801e1d2e7d7f545c66da47e65295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6420795" y="8867851"/>
            <a:ext cx="409651" cy="409651"/>
          </a:xfrm>
          <a:prstGeom prst="rect">
            <a:avLst/>
          </a:prstGeom>
        </p:spPr>
      </p:pic>
      <p:sp>
        <p:nvSpPr>
          <p:cNvPr id="29" name="Text 8"/>
          <p:cNvSpPr txBox="1"/>
          <p:nvPr/>
        </p:nvSpPr>
        <p:spPr>
          <a:xfrm>
            <a:off x="14097305" y="914400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Output · C08</a:t>
            </a:r>
            <a:endParaRPr lang="en-US" sz="975" dirty="0"/>
          </a:p>
        </p:txBody>
      </p:sp>
      <p:sp>
        <p:nvSpPr>
          <p:cNvPr id="30" name="Shape 9"/>
          <p:cNvSpPr/>
          <p:nvPr/>
        </p:nvSpPr>
        <p:spPr>
          <a:xfrm>
            <a:off x="1143000" y="2115007"/>
            <a:ext cx="705002" cy="400507"/>
          </a:xfrm>
          <a:prstGeom prst="roundRect">
            <a:avLst>
              <a:gd name="adj" fmla="val 4795"/>
            </a:avLst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0"/>
          <p:cNvSpPr txBox="1"/>
          <p:nvPr/>
        </p:nvSpPr>
        <p:spPr>
          <a:xfrm>
            <a:off x="1314907" y="2214677"/>
            <a:ext cx="3621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1350" dirty="0"/>
          </a:p>
        </p:txBody>
      </p:sp>
      <p:sp>
        <p:nvSpPr>
          <p:cNvPr id="32" name="Text 11"/>
          <p:cNvSpPr txBox="1"/>
          <p:nvPr/>
        </p:nvSpPr>
        <p:spPr>
          <a:xfrm>
            <a:off x="2057400" y="224759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y calidad · Qué entra, qué sale</a:t>
            </a:r>
            <a:endParaRPr lang="en-US" sz="1125" dirty="0"/>
          </a:p>
        </p:txBody>
      </p:sp>
      <p:sp>
        <p:nvSpPr>
          <p:cNvPr id="33" name="Text 12"/>
          <p:cNvSpPr txBox="1"/>
          <p:nvPr/>
        </p:nvSpPr>
        <p:spPr>
          <a:xfrm>
            <a:off x="1143000" y="2686507"/>
            <a:ext cx="10858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</a:t>
            </a:r>
            <a:r>
              <a:rPr lang="en-US" sz="585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Calidad.</a:t>
            </a:r>
            <a:endParaRPr lang="en-US" sz="5850" dirty="0"/>
          </a:p>
        </p:txBody>
      </p:sp>
      <p:sp>
        <p:nvSpPr>
          <p:cNvPr id="34" name="Text 13"/>
          <p:cNvSpPr txBox="1"/>
          <p:nvPr/>
        </p:nvSpPr>
        <p:spPr>
          <a:xfrm>
            <a:off x="1143000" y="3657600"/>
            <a:ext cx="10858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reporte por voz al cierre con causa raíz documentada.</a:t>
            </a:r>
            <a:endParaRPr lang="en-US" sz="1950" dirty="0"/>
          </a:p>
        </p:txBody>
      </p:sp>
      <p:sp>
        <p:nvSpPr>
          <p:cNvPr id="35" name="Text 14"/>
          <p:cNvSpPr txBox="1"/>
          <p:nvPr/>
        </p:nvSpPr>
        <p:spPr>
          <a:xfrm>
            <a:off x="12382805" y="22475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975" dirty="0"/>
          </a:p>
        </p:txBody>
      </p:sp>
      <p:sp>
        <p:nvSpPr>
          <p:cNvPr id="36" name="Shape 15"/>
          <p:cNvSpPr/>
          <p:nvPr/>
        </p:nvSpPr>
        <p:spPr>
          <a:xfrm>
            <a:off x="12382805" y="2533802"/>
            <a:ext cx="10479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6"/>
          <p:cNvSpPr txBox="1"/>
          <p:nvPr/>
        </p:nvSpPr>
        <p:spPr>
          <a:xfrm>
            <a:off x="12382805" y="2533802"/>
            <a:ext cx="10479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25" dirty="0"/>
          </a:p>
        </p:txBody>
      </p:sp>
      <p:sp>
        <p:nvSpPr>
          <p:cNvPr id="38" name="Shape 17"/>
          <p:cNvSpPr/>
          <p:nvPr/>
        </p:nvSpPr>
        <p:spPr>
          <a:xfrm>
            <a:off x="13505688" y="2533802"/>
            <a:ext cx="580644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/>
          <p:cNvSpPr txBox="1"/>
          <p:nvPr/>
        </p:nvSpPr>
        <p:spPr>
          <a:xfrm>
            <a:off x="13505688" y="2533802"/>
            <a:ext cx="5815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25" dirty="0"/>
          </a:p>
        </p:txBody>
      </p:sp>
      <p:sp>
        <p:nvSpPr>
          <p:cNvPr id="40" name="Shape 19"/>
          <p:cNvSpPr/>
          <p:nvPr/>
        </p:nvSpPr>
        <p:spPr>
          <a:xfrm>
            <a:off x="14160398" y="2533802"/>
            <a:ext cx="590702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/>
          <p:cNvSpPr txBox="1"/>
          <p:nvPr/>
        </p:nvSpPr>
        <p:spPr>
          <a:xfrm>
            <a:off x="14160398" y="2533802"/>
            <a:ext cx="5907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125" dirty="0"/>
          </a:p>
        </p:txBody>
      </p:sp>
      <p:sp>
        <p:nvSpPr>
          <p:cNvPr id="42" name="Shape 21"/>
          <p:cNvSpPr/>
          <p:nvPr/>
        </p:nvSpPr>
        <p:spPr>
          <a:xfrm>
            <a:off x="14821510" y="2533802"/>
            <a:ext cx="866851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/>
          <p:cNvSpPr txBox="1"/>
          <p:nvPr/>
        </p:nvSpPr>
        <p:spPr>
          <a:xfrm>
            <a:off x="14821510" y="2533802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125" dirty="0"/>
          </a:p>
        </p:txBody>
      </p:sp>
      <p:sp>
        <p:nvSpPr>
          <p:cNvPr id="44" name="Shape 23"/>
          <p:cNvSpPr/>
          <p:nvPr/>
        </p:nvSpPr>
        <p:spPr>
          <a:xfrm>
            <a:off x="15762427" y="2533802"/>
            <a:ext cx="599846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4"/>
          <p:cNvSpPr txBox="1"/>
          <p:nvPr/>
        </p:nvSpPr>
        <p:spPr>
          <a:xfrm>
            <a:off x="15762427" y="2533802"/>
            <a:ext cx="6007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</a:t>
            </a:r>
            <a:endParaRPr lang="en-US" sz="1125" dirty="0"/>
          </a:p>
        </p:txBody>
      </p:sp>
      <p:sp>
        <p:nvSpPr>
          <p:cNvPr id="46" name="Shape 25"/>
          <p:cNvSpPr/>
          <p:nvPr/>
        </p:nvSpPr>
        <p:spPr>
          <a:xfrm>
            <a:off x="16432682" y="2533802"/>
            <a:ext cx="685800" cy="295351"/>
          </a:xfrm>
          <a:prstGeom prst="roundRect">
            <a:avLst>
              <a:gd name="adj" fmla="val 1300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6"/>
          <p:cNvSpPr txBox="1"/>
          <p:nvPr/>
        </p:nvSpPr>
        <p:spPr>
          <a:xfrm>
            <a:off x="16432682" y="2533802"/>
            <a:ext cx="6858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125" dirty="0"/>
          </a:p>
        </p:txBody>
      </p:sp>
      <p:sp>
        <p:nvSpPr>
          <p:cNvPr id="48" name="Text 27"/>
          <p:cNvSpPr txBox="1"/>
          <p:nvPr/>
        </p:nvSpPr>
        <p:spPr>
          <a:xfrm>
            <a:off x="12382805" y="35433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producción</a:t>
            </a:r>
            <a:endParaRPr lang="en-US" sz="975" dirty="0"/>
          </a:p>
        </p:txBody>
      </p:sp>
      <p:sp>
        <p:nvSpPr>
          <p:cNvPr id="49" name="Shape 28"/>
          <p:cNvSpPr/>
          <p:nvPr/>
        </p:nvSpPr>
        <p:spPr>
          <a:xfrm>
            <a:off x="12382805" y="3829507"/>
            <a:ext cx="933602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9"/>
          <p:cNvSpPr txBox="1"/>
          <p:nvPr/>
        </p:nvSpPr>
        <p:spPr>
          <a:xfrm>
            <a:off x="12382805" y="3829507"/>
            <a:ext cx="93360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FRIOTEIS</a:t>
            </a:r>
            <a:endParaRPr lang="en-US" sz="1125" dirty="0"/>
          </a:p>
        </p:txBody>
      </p:sp>
      <p:sp>
        <p:nvSpPr>
          <p:cNvPr id="51" name="Shape 30"/>
          <p:cNvSpPr/>
          <p:nvPr/>
        </p:nvSpPr>
        <p:spPr>
          <a:xfrm>
            <a:off x="13384073" y="3829507"/>
            <a:ext cx="847649" cy="295351"/>
          </a:xfrm>
          <a:prstGeom prst="roundRect">
            <a:avLst>
              <a:gd name="adj" fmla="val 13003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1"/>
          <p:cNvSpPr txBox="1"/>
          <p:nvPr/>
        </p:nvSpPr>
        <p:spPr>
          <a:xfrm>
            <a:off x="13384073" y="3829507"/>
            <a:ext cx="8485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C6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NAUTIA</a:t>
            </a:r>
            <a:endParaRPr lang="en-US" sz="1125" dirty="0"/>
          </a:p>
        </p:txBody>
      </p:sp>
      <p:sp>
        <p:nvSpPr>
          <p:cNvPr id="53" name="Text 32"/>
          <p:cNvSpPr txBox="1"/>
          <p:nvPr/>
        </p:nvSpPr>
        <p:spPr>
          <a:xfrm>
            <a:off x="1143000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Input</a:t>
            </a:r>
            <a:endParaRPr lang="en-US" sz="1050" dirty="0"/>
          </a:p>
        </p:txBody>
      </p:sp>
      <p:sp>
        <p:nvSpPr>
          <p:cNvPr id="54" name="Text 33"/>
          <p:cNvSpPr txBox="1"/>
          <p:nvPr/>
        </p:nvSpPr>
        <p:spPr>
          <a:xfrm>
            <a:off x="6572707" y="4552798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Plataforma MTi</a:t>
            </a:r>
            <a:endParaRPr lang="en-US" sz="1050" dirty="0"/>
          </a:p>
        </p:txBody>
      </p:sp>
      <p:sp>
        <p:nvSpPr>
          <p:cNvPr id="55" name="Text 34"/>
          <p:cNvSpPr txBox="1"/>
          <p:nvPr/>
        </p:nvSpPr>
        <p:spPr>
          <a:xfrm>
            <a:off x="12954305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73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050" b="1" kern="0" spc="273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Output</a:t>
            </a:r>
            <a:endParaRPr lang="en-US" sz="1050" dirty="0"/>
          </a:p>
        </p:txBody>
      </p:sp>
      <p:sp>
        <p:nvSpPr>
          <p:cNvPr id="56" name="Text 35"/>
          <p:cNvSpPr txBox="1"/>
          <p:nvPr/>
        </p:nvSpPr>
        <p:spPr>
          <a:xfrm>
            <a:off x="2171700" y="58100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móvil</a:t>
            </a:r>
            <a:endParaRPr lang="en-US" sz="1725" dirty="0"/>
          </a:p>
        </p:txBody>
      </p:sp>
      <p:sp>
        <p:nvSpPr>
          <p:cNvPr id="57" name="Text 36"/>
          <p:cNvSpPr txBox="1"/>
          <p:nvPr/>
        </p:nvSpPr>
        <p:spPr>
          <a:xfrm>
            <a:off x="2171700" y="61191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del operario</a:t>
            </a:r>
            <a:endParaRPr lang="en-US" sz="1275" dirty="0"/>
          </a:p>
        </p:txBody>
      </p:sp>
      <p:pic>
        <p:nvPicPr>
          <p:cNvPr id="58" name="Image 19" descr="gen-dedup-e2a0c92ad940ed4cb94c2f4f5720334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698" y="7086600"/>
            <a:ext cx="381305" cy="381305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2171700" y="7010705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 por voz</a:t>
            </a:r>
            <a:endParaRPr lang="en-US" sz="1725" dirty="0"/>
          </a:p>
        </p:txBody>
      </p:sp>
      <p:sp>
        <p:nvSpPr>
          <p:cNvPr id="60" name="Text 38"/>
          <p:cNvSpPr txBox="1"/>
          <p:nvPr/>
        </p:nvSpPr>
        <p:spPr>
          <a:xfrm>
            <a:off x="2171700" y="7319772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Transcrito con Whisper</a:t>
            </a:r>
            <a:endParaRPr lang="en-US" sz="1275" dirty="0"/>
          </a:p>
        </p:txBody>
      </p:sp>
      <p:pic>
        <p:nvPicPr>
          <p:cNvPr id="61" name="Image 20" descr="gen-dedup-12c381b1329d25e1d0dcbc62c0ef721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6698" y="8287207"/>
            <a:ext cx="381305" cy="381305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2171700" y="8210398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de la incidencia</a:t>
            </a:r>
            <a:endParaRPr lang="en-US" sz="1725" dirty="0"/>
          </a:p>
        </p:txBody>
      </p:sp>
      <p:sp>
        <p:nvSpPr>
          <p:cNvPr id="63" name="Text 40"/>
          <p:cNvSpPr txBox="1"/>
          <p:nvPr/>
        </p:nvSpPr>
        <p:spPr>
          <a:xfrm>
            <a:off x="2171700" y="8519465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OCR</a:t>
            </a:r>
            <a:endParaRPr lang="en-US" sz="1275" dirty="0"/>
          </a:p>
        </p:txBody>
      </p:sp>
      <p:pic>
        <p:nvPicPr>
          <p:cNvPr id="64" name="Image 21" descr="gen-dedup-182d78fddcadc7feb406cb878a100c1d.png"/>
          <p:cNvPicPr>
            <a:picLocks noChangeAspect="1"/>
          </p:cNvPicPr>
          <p:nvPr/>
        </p:nvPicPr>
        <p:blipFill>
          <a:blip r:embed="rId18"/>
          <a:srcRect t="-9" b="-9"/>
          <a:stretch/>
        </p:blipFill>
        <p:spPr>
          <a:xfrm>
            <a:off x="5333695" y="4914900"/>
            <a:ext cx="1238098" cy="4724705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6858000" y="6152998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Agentiva · C08</a:t>
            </a:r>
            <a:endParaRPr lang="en-US" sz="900" dirty="0"/>
          </a:p>
        </p:txBody>
      </p:sp>
      <p:sp>
        <p:nvSpPr>
          <p:cNvPr id="66" name="Text 42"/>
          <p:cNvSpPr txBox="1"/>
          <p:nvPr/>
        </p:nvSpPr>
        <p:spPr>
          <a:xfrm>
            <a:off x="6858000" y="63724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kern="0" spc="-4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&amp; Calidad</a:t>
            </a:r>
            <a:endParaRPr lang="en-US" sz="2250" dirty="0"/>
          </a:p>
        </p:txBody>
      </p:sp>
      <p:sp>
        <p:nvSpPr>
          <p:cNvPr id="67" name="Shape 43"/>
          <p:cNvSpPr/>
          <p:nvPr/>
        </p:nvSpPr>
        <p:spPr>
          <a:xfrm>
            <a:off x="7105802" y="69530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4"/>
          <p:cNvSpPr/>
          <p:nvPr/>
        </p:nvSpPr>
        <p:spPr>
          <a:xfrm>
            <a:off x="7105802" y="69530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9" name="Text 45"/>
          <p:cNvSpPr txBox="1"/>
          <p:nvPr/>
        </p:nvSpPr>
        <p:spPr>
          <a:xfrm>
            <a:off x="7524598" y="6986930"/>
            <a:ext cx="32653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y prioriza la incidencia</a:t>
            </a:r>
            <a:endParaRPr lang="en-US" sz="1425" dirty="0"/>
          </a:p>
        </p:txBody>
      </p:sp>
      <p:sp>
        <p:nvSpPr>
          <p:cNvPr id="70" name="Shape 46"/>
          <p:cNvSpPr/>
          <p:nvPr/>
        </p:nvSpPr>
        <p:spPr>
          <a:xfrm>
            <a:off x="7105802" y="73536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47"/>
          <p:cNvSpPr/>
          <p:nvPr/>
        </p:nvSpPr>
        <p:spPr>
          <a:xfrm>
            <a:off x="7105802" y="73536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72" name="Text 48"/>
          <p:cNvSpPr txBox="1"/>
          <p:nvPr/>
        </p:nvSpPr>
        <p:spPr>
          <a:xfrm>
            <a:off x="7524598" y="7386523"/>
            <a:ext cx="27203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la normativa aplicable</a:t>
            </a:r>
            <a:endParaRPr lang="en-US" sz="1425" dirty="0"/>
          </a:p>
        </p:txBody>
      </p:sp>
      <p:sp>
        <p:nvSpPr>
          <p:cNvPr id="73" name="Shape 49"/>
          <p:cNvSpPr/>
          <p:nvPr/>
        </p:nvSpPr>
        <p:spPr>
          <a:xfrm>
            <a:off x="7105802" y="7753198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0"/>
          <p:cNvSpPr/>
          <p:nvPr/>
        </p:nvSpPr>
        <p:spPr>
          <a:xfrm>
            <a:off x="7105802" y="7753198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51"/>
          <p:cNvSpPr txBox="1"/>
          <p:nvPr/>
        </p:nvSpPr>
        <p:spPr>
          <a:xfrm>
            <a:off x="7524598" y="7787030"/>
            <a:ext cx="3784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de resolución configurable</a:t>
            </a:r>
            <a:endParaRPr lang="en-US" sz="1425" dirty="0"/>
          </a:p>
        </p:txBody>
      </p:sp>
      <p:sp>
        <p:nvSpPr>
          <p:cNvPr id="76" name="Shape 52"/>
          <p:cNvSpPr/>
          <p:nvPr/>
        </p:nvSpPr>
        <p:spPr>
          <a:xfrm>
            <a:off x="7105802" y="8153705"/>
            <a:ext cx="286207" cy="286207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3"/>
          <p:cNvSpPr/>
          <p:nvPr/>
        </p:nvSpPr>
        <p:spPr>
          <a:xfrm>
            <a:off x="7105802" y="815370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78" name="Text 54"/>
          <p:cNvSpPr txBox="1"/>
          <p:nvPr/>
        </p:nvSpPr>
        <p:spPr>
          <a:xfrm>
            <a:off x="7524598" y="8186623"/>
            <a:ext cx="332110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 según SLA de gravedad</a:t>
            </a:r>
            <a:endParaRPr lang="en-US" sz="1425" dirty="0"/>
          </a:p>
        </p:txBody>
      </p:sp>
      <p:sp>
        <p:nvSpPr>
          <p:cNvPr id="79" name="Shape 55"/>
          <p:cNvSpPr/>
          <p:nvPr/>
        </p:nvSpPr>
        <p:spPr>
          <a:xfrm>
            <a:off x="9525305" y="8781898"/>
            <a:ext cx="533095" cy="533095"/>
          </a:xfrm>
          <a:prstGeom prst="roundRect">
            <a:avLst>
              <a:gd name="adj" fmla="val 7204"/>
            </a:avLst>
          </a:prstGeom>
          <a:solidFill>
            <a:srgbClr val="1A2438"/>
          </a:solidFill>
          <a:ln w="12700">
            <a:solidFill>
              <a:srgbClr val="E6A81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56"/>
          <p:cNvSpPr txBox="1"/>
          <p:nvPr/>
        </p:nvSpPr>
        <p:spPr>
          <a:xfrm>
            <a:off x="9628632" y="8953805"/>
            <a:ext cx="333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00" dirty="0"/>
          </a:p>
        </p:txBody>
      </p:sp>
      <p:pic>
        <p:nvPicPr>
          <p:cNvPr id="81" name="Image 22" descr="gen-dedup-9f2da3d601bd1ff2962f48734b24ef49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11716207" y="4914900"/>
            <a:ext cx="1238098" cy="4724705"/>
          </a:xfrm>
          <a:prstGeom prst="rect">
            <a:avLst/>
          </a:prstGeom>
        </p:spPr>
      </p:pic>
      <p:pic>
        <p:nvPicPr>
          <p:cNvPr id="82" name="Image 23" descr="gen-dedup-88dcb31eb760695c9388ddaf5f14100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39998" y="5286146"/>
            <a:ext cx="381305" cy="381305"/>
          </a:xfrm>
          <a:prstGeom prst="rect">
            <a:avLst/>
          </a:prstGeom>
        </p:spPr>
      </p:pic>
      <p:sp>
        <p:nvSpPr>
          <p:cNvPr id="83" name="Text 57"/>
          <p:cNvSpPr txBox="1"/>
          <p:nvPr/>
        </p:nvSpPr>
        <p:spPr>
          <a:xfrm>
            <a:off x="13144500" y="52102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Notificación</a:t>
            </a:r>
            <a:endParaRPr lang="en-US" sz="1725" dirty="0"/>
          </a:p>
        </p:txBody>
      </p:sp>
      <p:sp>
        <p:nvSpPr>
          <p:cNvPr id="84" name="Text 58"/>
          <p:cNvSpPr txBox="1"/>
          <p:nvPr/>
        </p:nvSpPr>
        <p:spPr>
          <a:xfrm>
            <a:off x="13144500" y="55193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responsable, con SLA</a:t>
            </a:r>
            <a:endParaRPr lang="en-US" sz="1275" dirty="0"/>
          </a:p>
        </p:txBody>
      </p:sp>
      <p:pic>
        <p:nvPicPr>
          <p:cNvPr id="85" name="Image 24" descr="gen-dedup-3ebdaa17aa4f73f0a40cf173e01637c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439998" y="6486754"/>
            <a:ext cx="381305" cy="381305"/>
          </a:xfrm>
          <a:prstGeom prst="rect">
            <a:avLst/>
          </a:prstGeom>
        </p:spPr>
      </p:pic>
      <p:sp>
        <p:nvSpPr>
          <p:cNvPr id="86" name="Text 59"/>
          <p:cNvSpPr txBox="1"/>
          <p:nvPr/>
        </p:nvSpPr>
        <p:spPr>
          <a:xfrm>
            <a:off x="13144500" y="64099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Normativa citada</a:t>
            </a:r>
            <a:endParaRPr lang="en-US" sz="1725" dirty="0"/>
          </a:p>
        </p:txBody>
      </p:sp>
      <p:sp>
        <p:nvSpPr>
          <p:cNvPr id="87" name="Text 60"/>
          <p:cNvSpPr txBox="1"/>
          <p:nvPr/>
        </p:nvSpPr>
        <p:spPr>
          <a:xfrm>
            <a:off x="13144500" y="67190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aplicable</a:t>
            </a:r>
            <a:endParaRPr lang="en-US" sz="1275" dirty="0"/>
          </a:p>
        </p:txBody>
      </p:sp>
      <p:pic>
        <p:nvPicPr>
          <p:cNvPr id="88" name="Image 25" descr="gen-dedup-1a73ae5e9a5e40ea785eb0f40b3dcfb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39998" y="7686446"/>
            <a:ext cx="381305" cy="381305"/>
          </a:xfrm>
          <a:prstGeom prst="rect">
            <a:avLst/>
          </a:prstGeom>
        </p:spPr>
      </p:pic>
      <p:sp>
        <p:nvSpPr>
          <p:cNvPr id="89" name="Text 61"/>
          <p:cNvSpPr txBox="1"/>
          <p:nvPr/>
        </p:nvSpPr>
        <p:spPr>
          <a:xfrm>
            <a:off x="13144500" y="7610551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correctiva</a:t>
            </a:r>
            <a:endParaRPr lang="en-US" sz="1725" dirty="0"/>
          </a:p>
        </p:txBody>
      </p:sp>
      <p:sp>
        <p:nvSpPr>
          <p:cNvPr id="90" name="Text 62"/>
          <p:cNvSpPr txBox="1"/>
          <p:nvPr/>
        </p:nvSpPr>
        <p:spPr>
          <a:xfrm>
            <a:off x="13144500" y="7919618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trazable</a:t>
            </a:r>
            <a:endParaRPr lang="en-US" sz="1275" dirty="0"/>
          </a:p>
        </p:txBody>
      </p:sp>
      <p:sp>
        <p:nvSpPr>
          <p:cNvPr id="91" name="Text 63"/>
          <p:cNvSpPr txBox="1"/>
          <p:nvPr/>
        </p:nvSpPr>
        <p:spPr>
          <a:xfrm>
            <a:off x="13144500" y="8810244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725" b="1" kern="0" spc="-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de calidad</a:t>
            </a:r>
            <a:endParaRPr lang="en-US" sz="1725" dirty="0"/>
          </a:p>
        </p:txBody>
      </p:sp>
      <p:sp>
        <p:nvSpPr>
          <p:cNvPr id="92" name="Text 64"/>
          <p:cNvSpPr txBox="1"/>
          <p:nvPr/>
        </p:nvSpPr>
        <p:spPr>
          <a:xfrm>
            <a:off x="13144500" y="9119311"/>
            <a:ext cx="2971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 automáticamente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161232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b8c47d30759796504e25cf985ed62e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7d31d0cdebc54e484415195b71eb73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2191695" y="6286500"/>
            <a:ext cx="5715000" cy="3143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0" b="1" kern="0" spc="-1125" dirty="0">
                <a:solidFill>
                  <a:srgbClr val="E6A817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500" dirty="0"/>
          </a:p>
        </p:txBody>
      </p:sp>
      <p:pic>
        <p:nvPicPr>
          <p:cNvPr id="6" name="Image 3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3238805"/>
            <a:ext cx="914400" cy="38405"/>
          </a:xfrm>
          <a:prstGeom prst="rect">
            <a:avLst/>
          </a:prstGeom>
        </p:spPr>
      </p:pic>
      <p:pic>
        <p:nvPicPr>
          <p:cNvPr id="7" name="Image 4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3524098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8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cuatro · Entrega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3943807"/>
            <a:ext cx="1143000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Entrega.</a:t>
            </a:r>
            <a:endParaRPr lang="en-US" sz="112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5905195"/>
            <a:ext cx="104781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entregamos, cómo medimos, cuándo estás en vivo y qué esperar cuando trabajas con MTi — un modelo de entrega suficientemente pequeño para empezar y suficientemente grande para escalar.</a:t>
            </a:r>
            <a:endParaRPr lang="en-US" sz="1800" dirty="0"/>
          </a:p>
        </p:txBody>
      </p:sp>
      <p:sp>
        <p:nvSpPr>
          <p:cNvPr id="13" name="Shape 5"/>
          <p:cNvSpPr/>
          <p:nvPr/>
        </p:nvSpPr>
        <p:spPr>
          <a:xfrm>
            <a:off x="1143000" y="7524598"/>
            <a:ext cx="1914754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1143000" y="7524598"/>
            <a:ext cx="1914754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· 2 semanas</a:t>
            </a:r>
            <a:endParaRPr lang="en-US" sz="1050" dirty="0"/>
          </a:p>
        </p:txBody>
      </p:sp>
      <p:sp>
        <p:nvSpPr>
          <p:cNvPr id="15" name="Shape 7"/>
          <p:cNvSpPr/>
          <p:nvPr/>
        </p:nvSpPr>
        <p:spPr>
          <a:xfrm>
            <a:off x="3184855" y="7524598"/>
            <a:ext cx="1781251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3184855" y="7524598"/>
            <a:ext cx="17812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· 4–6 semanas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5096866" y="7524598"/>
            <a:ext cx="1857146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5096866" y="7524598"/>
            <a:ext cx="185806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· en curso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7086600" y="7524598"/>
            <a:ext cx="1218895" cy="371246"/>
          </a:xfrm>
          <a:prstGeom prst="roundRect">
            <a:avLst>
              <a:gd name="adj" fmla="val 50000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7086600" y="7524598"/>
            <a:ext cx="12198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medible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c9b6bd6bd01734c54b10a0f11af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905902"/>
            <a:ext cx="16002000" cy="152430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2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· 47</a:t>
            </a:r>
            <a:endParaRPr lang="en-US" sz="97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171700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entregamos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590495"/>
            <a:ext cx="1428750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fases.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resultado.</a:t>
            </a:r>
            <a:endParaRPr lang="en-US" sz="465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3448202"/>
            <a:ext cx="10478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compromiso es estructurado, medible y nuestro para operar. Ves métricas, no presentaciones.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1143000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8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semanas, números reales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Visitamos tu operación. Mapeamos la fricción. Cuantificamos un flujo concreto con una línea base clara.</a:t>
            </a:r>
            <a:endParaRPr lang="en-US" sz="975" dirty="0"/>
          </a:p>
        </p:txBody>
      </p:sp>
      <p:sp>
        <p:nvSpPr>
          <p:cNvPr id="15" name="Shape 10"/>
          <p:cNvSpPr/>
          <p:nvPr/>
        </p:nvSpPr>
        <p:spPr>
          <a:xfrm>
            <a:off x="5191049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1"/>
          <p:cNvSpPr txBox="1"/>
          <p:nvPr/>
        </p:nvSpPr>
        <p:spPr>
          <a:xfrm>
            <a:off x="5419649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5419649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419649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a seis semanas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19649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Construimos el agente en estrecho y lo ejecutamos sobre una porción de tráfico real con el equipo en alerta.</a:t>
            </a:r>
            <a:endParaRPr lang="en-US" sz="975" dirty="0"/>
          </a:p>
        </p:txBody>
      </p:sp>
      <p:sp>
        <p:nvSpPr>
          <p:cNvPr id="20" name="Shape 15"/>
          <p:cNvSpPr/>
          <p:nvPr/>
        </p:nvSpPr>
        <p:spPr>
          <a:xfrm>
            <a:off x="9239098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9467698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9467698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Escalado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9467698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a producción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9467698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Abrimos el agente, lo integramos con operaciones, monitorizamos en dashboard y afinamos cada semana.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13287146" y="4572000"/>
            <a:ext cx="3857854" cy="2667305"/>
          </a:xfrm>
          <a:prstGeom prst="roundRect">
            <a:avLst>
              <a:gd name="adj" fmla="val 284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13515746" y="4800600"/>
            <a:ext cx="340065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800" dirty="0"/>
          </a:p>
        </p:txBody>
      </p:sp>
      <p:sp>
        <p:nvSpPr>
          <p:cNvPr id="27" name="Text 22"/>
          <p:cNvSpPr txBox="1"/>
          <p:nvPr/>
        </p:nvSpPr>
        <p:spPr>
          <a:xfrm>
            <a:off x="13515746" y="5544007"/>
            <a:ext cx="34006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13515746" y="5790895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vivo, auditado, en evolución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13515746" y="6086246"/>
            <a:ext cx="3400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conserva el agente. Las revisiones trimestrales exponen la deriva y marcan el siguiente movimiento.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1524305" y="8134502"/>
            <a:ext cx="10478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recibes desde el día uno</a:t>
            </a:r>
            <a:endParaRPr lang="en-US" sz="825" dirty="0"/>
          </a:p>
        </p:txBody>
      </p:sp>
      <p:sp>
        <p:nvSpPr>
          <p:cNvPr id="31" name="Text 26"/>
          <p:cNvSpPr txBox="1"/>
          <p:nvPr/>
        </p:nvSpPr>
        <p:spPr>
          <a:xfrm>
            <a:off x="1524305" y="8363102"/>
            <a:ext cx="10478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agente funcional, un dashboard legible, una traza documental por cada acción</a:t>
            </a:r>
            <a:endParaRPr lang="en-US" sz="16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un socio que responde al teléfono después del lanzamiento.</a:t>
            </a:r>
            <a:endParaRPr lang="en-US" sz="1650" dirty="0"/>
          </a:p>
        </p:txBody>
      </p:sp>
      <p:sp>
        <p:nvSpPr>
          <p:cNvPr id="32" name="Text 27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modelo de entrega que escala</a:t>
            </a:r>
            <a:endParaRPr lang="en-US" sz="975" dirty="0"/>
          </a:p>
        </p:txBody>
      </p:sp>
      <p:pic>
        <p:nvPicPr>
          <p:cNvPr id="34" name="Image 3" descr="gen-dedup-aa75ebd4628eee06925ab23bcc72c19a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12763195" y="8134502"/>
            <a:ext cx="361919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7ed06a9a6c7f4dd10aa32700dc9806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b1fea6ef9cf700851503bcdb8011f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MTi · 48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2171700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elegirnos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590495"/>
            <a:ext cx="142875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razones por las que los socios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siguen llamándonos.</a:t>
            </a:r>
            <a:endParaRPr lang="en-US" sz="4650" dirty="0"/>
          </a:p>
        </p:txBody>
      </p:sp>
      <p:sp>
        <p:nvSpPr>
          <p:cNvPr id="8" name="Shape 3"/>
          <p:cNvSpPr/>
          <p:nvPr/>
        </p:nvSpPr>
        <p:spPr>
          <a:xfrm>
            <a:off x="1143000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1380744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5"/>
          <p:cNvSpPr txBox="1"/>
          <p:nvPr/>
        </p:nvSpPr>
        <p:spPr>
          <a:xfrm>
            <a:off x="1495958" y="4443070"/>
            <a:ext cx="18836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38074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primero,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modelo primero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38074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Empezamos por tu ERP, CRM e IoT, no por un modelo. El agente aterriza dentro de tu stack — no al lado.</a:t>
            </a:r>
            <a:endParaRPr lang="en-US" sz="975" dirty="0"/>
          </a:p>
        </p:txBody>
      </p:sp>
      <p:sp>
        <p:nvSpPr>
          <p:cNvPr id="13" name="Shape 8"/>
          <p:cNvSpPr/>
          <p:nvPr/>
        </p:nvSpPr>
        <p:spPr>
          <a:xfrm>
            <a:off x="438180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4619549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0"/>
          <p:cNvSpPr txBox="1"/>
          <p:nvPr/>
        </p:nvSpPr>
        <p:spPr>
          <a:xfrm>
            <a:off x="4721047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619549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diseño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619549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acción cita su fuente. Cada paso queda registrado. Listo para compliance desde el día uno.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761969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858354" y="4334256"/>
            <a:ext cx="381305" cy="381305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7958938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85835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Producción,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pilotos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785835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Catorce despliegues en vivo. Ocho agentes productivizados. Operaciones reales, resultados medidos.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10858500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11096244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11194999" y="4443070"/>
            <a:ext cx="191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096244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Operamos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 entregar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11096244" y="5424221"/>
            <a:ext cx="2572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desaparecemos. Revisiones trimestrales, detección de deriva, dashboards legibles.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14097305" y="4095598"/>
            <a:ext cx="3047695" cy="3619195"/>
          </a:xfrm>
          <a:prstGeom prst="roundRect">
            <a:avLst>
              <a:gd name="adj" fmla="val 249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14335049" y="4334256"/>
            <a:ext cx="381305" cy="381305"/>
          </a:xfrm>
          <a:prstGeom prst="ellipse">
            <a:avLst/>
          </a:prstGeom>
          <a:noFill/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14437462" y="4443070"/>
            <a:ext cx="1810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14335049" y="4886554"/>
            <a:ext cx="25722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Hablamos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idioma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4335049" y="5424221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Gallego, español, inglés, francés. Voz y chat donde ya está tu gente.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1143000" y="8382305"/>
            <a:ext cx="16002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8620049"/>
            <a:ext cx="138970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Suficientemente pequeños para cuidar. </a:t>
            </a:r>
            <a:r>
              <a:rPr lang="en-US" sz="18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Suficientemente ingenierizados para escalar.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5340889" y="8686800"/>
            <a:ext cx="213055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9001 · 25+ países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razones. Evidencia real.</a:t>
            </a:r>
            <a:endParaRPr lang="en-US" sz="9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c9b6bd6bd01734c54b10a0f11af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1695"/>
            <a:ext cx="1143000" cy="809244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4" name="Image 2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8762695"/>
            <a:ext cx="16002000" cy="9144"/>
          </a:xfrm>
          <a:prstGeom prst="rect">
            <a:avLst/>
          </a:prstGeom>
        </p:spPr>
      </p:pic>
      <p:pic>
        <p:nvPicPr>
          <p:cNvPr id="5" name="Image 3" descr="gen-dedup-8a4746f7ae18871903d6c6f0da58ca57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· 49</a:t>
            </a:r>
            <a:endParaRPr lang="en-US" sz="975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2171700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agregados</a:t>
            </a:r>
            <a:endParaRPr lang="en-US" sz="1125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590495"/>
            <a:ext cx="142875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que se </a:t>
            </a:r>
            <a:r>
              <a:rPr lang="en-US" sz="4650" b="1" kern="0" spc="-139" dirty="0" err="1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acumulan</a:t>
            </a: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</a:t>
            </a: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reunión a reunión, pedido a pedido.</a:t>
            </a:r>
            <a:endParaRPr lang="en-US" sz="4650" dirty="0"/>
          </a:p>
        </p:txBody>
      </p:sp>
      <p:sp>
        <p:nvSpPr>
          <p:cNvPr id="9" name="Shape 3"/>
          <p:cNvSpPr/>
          <p:nvPr/>
        </p:nvSpPr>
        <p:spPr>
          <a:xfrm>
            <a:off x="1143000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410005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</a:t>
            </a:r>
            <a:endParaRPr lang="en-US" sz="4650" dirty="0"/>
          </a:p>
        </p:txBody>
      </p:sp>
      <p:sp>
        <p:nvSpPr>
          <p:cNvPr id="11" name="Text 5"/>
          <p:cNvSpPr txBox="1"/>
          <p:nvPr/>
        </p:nvSpPr>
        <p:spPr>
          <a:xfrm>
            <a:off x="1410005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 · prep. cotización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1410005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días a minutos.</a:t>
            </a:r>
            <a:endParaRPr lang="en-US" sz="975" dirty="0"/>
          </a:p>
        </p:txBody>
      </p:sp>
      <p:sp>
        <p:nvSpPr>
          <p:cNvPr id="13" name="Shape 7"/>
          <p:cNvSpPr/>
          <p:nvPr/>
        </p:nvSpPr>
        <p:spPr>
          <a:xfrm>
            <a:off x="5191049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5458054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4650" dirty="0"/>
          </a:p>
        </p:txBody>
      </p:sp>
      <p:sp>
        <p:nvSpPr>
          <p:cNvPr id="15" name="Text 9"/>
          <p:cNvSpPr txBox="1"/>
          <p:nvPr/>
        </p:nvSpPr>
        <p:spPr>
          <a:xfrm>
            <a:off x="5458054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 · operación manual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5458054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Entregables, planificación, documentos.</a:t>
            </a:r>
            <a:endParaRPr lang="en-US" sz="975" dirty="0"/>
          </a:p>
        </p:txBody>
      </p:sp>
      <p:sp>
        <p:nvSpPr>
          <p:cNvPr id="17" name="Shape 11"/>
          <p:cNvSpPr/>
          <p:nvPr/>
        </p:nvSpPr>
        <p:spPr>
          <a:xfrm>
            <a:off x="9239098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9506102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4650" dirty="0"/>
          </a:p>
        </p:txBody>
      </p:sp>
      <p:sp>
        <p:nvSpPr>
          <p:cNvPr id="19" name="Text 13"/>
          <p:cNvSpPr txBox="1"/>
          <p:nvPr/>
        </p:nvSpPr>
        <p:spPr>
          <a:xfrm>
            <a:off x="9506102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 · prep. oferta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9506102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pliego a PDF firmado.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3287146" y="4095598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13554151" y="4362602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4650" dirty="0"/>
          </a:p>
        </p:txBody>
      </p:sp>
      <p:sp>
        <p:nvSpPr>
          <p:cNvPr id="23" name="Text 17"/>
          <p:cNvSpPr txBox="1"/>
          <p:nvPr/>
        </p:nvSpPr>
        <p:spPr>
          <a:xfrm>
            <a:off x="13554151" y="5086807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productivizados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13554151" y="5296205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Reutilizados entre clientes.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143000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410005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12+</a:t>
            </a:r>
            <a:endParaRPr lang="en-US" sz="4650" dirty="0"/>
          </a:p>
        </p:txBody>
      </p:sp>
      <p:sp>
        <p:nvSpPr>
          <p:cNvPr id="27" name="Text 21"/>
          <p:cNvSpPr txBox="1"/>
          <p:nvPr/>
        </p:nvSpPr>
        <p:spPr>
          <a:xfrm>
            <a:off x="1410005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 en vivo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1410005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sectores y países.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5191049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5458054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</a:t>
            </a:r>
            <a:endParaRPr lang="en-US" sz="4650" dirty="0"/>
          </a:p>
        </p:txBody>
      </p:sp>
      <p:sp>
        <p:nvSpPr>
          <p:cNvPr id="31" name="Text 25"/>
          <p:cNvSpPr txBox="1"/>
          <p:nvPr/>
        </p:nvSpPr>
        <p:spPr>
          <a:xfrm>
            <a:off x="5458054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IA entregados</a:t>
            </a:r>
            <a:endParaRPr lang="en-US" sz="975" dirty="0"/>
          </a:p>
        </p:txBody>
      </p:sp>
      <p:sp>
        <p:nvSpPr>
          <p:cNvPr id="32" name="Text 26"/>
          <p:cNvSpPr txBox="1"/>
          <p:nvPr/>
        </p:nvSpPr>
        <p:spPr>
          <a:xfrm>
            <a:off x="5458054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Reales, no pilotos.</a:t>
            </a:r>
            <a:endParaRPr lang="en-US" sz="975" dirty="0"/>
          </a:p>
        </p:txBody>
      </p:sp>
      <p:sp>
        <p:nvSpPr>
          <p:cNvPr id="33" name="Shape 27"/>
          <p:cNvSpPr/>
          <p:nvPr/>
        </p:nvSpPr>
        <p:spPr>
          <a:xfrm>
            <a:off x="9239098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9506102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4650" dirty="0"/>
          </a:p>
        </p:txBody>
      </p:sp>
      <p:sp>
        <p:nvSpPr>
          <p:cNvPr id="35" name="Text 29"/>
          <p:cNvSpPr txBox="1"/>
          <p:nvPr/>
        </p:nvSpPr>
        <p:spPr>
          <a:xfrm>
            <a:off x="9506102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 atendidos</a:t>
            </a:r>
            <a:endParaRPr lang="en-US" sz="975" dirty="0"/>
          </a:p>
        </p:txBody>
      </p:sp>
      <p:sp>
        <p:nvSpPr>
          <p:cNvPr id="36" name="Text 30"/>
          <p:cNvSpPr txBox="1"/>
          <p:nvPr/>
        </p:nvSpPr>
        <p:spPr>
          <a:xfrm>
            <a:off x="9506102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sede en Barcelona.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13287146" y="6476695"/>
            <a:ext cx="3857854" cy="1647749"/>
          </a:xfrm>
          <a:prstGeom prst="roundRect">
            <a:avLst>
              <a:gd name="adj" fmla="val 460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13554151" y="6743700"/>
            <a:ext cx="3324758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4650" dirty="0"/>
          </a:p>
        </p:txBody>
      </p:sp>
      <p:sp>
        <p:nvSpPr>
          <p:cNvPr id="39" name="Text 33"/>
          <p:cNvSpPr txBox="1"/>
          <p:nvPr/>
        </p:nvSpPr>
        <p:spPr>
          <a:xfrm>
            <a:off x="13554151" y="7467905"/>
            <a:ext cx="33247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Dispositivos IoT en vivo</a:t>
            </a:r>
            <a:endParaRPr lang="en-US" sz="975" dirty="0"/>
          </a:p>
        </p:txBody>
      </p:sp>
      <p:sp>
        <p:nvSpPr>
          <p:cNvPr id="40" name="Text 34"/>
          <p:cNvSpPr txBox="1"/>
          <p:nvPr/>
        </p:nvSpPr>
        <p:spPr>
          <a:xfrm>
            <a:off x="13554151" y="7677302"/>
            <a:ext cx="33247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thethings.io.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1143000" y="8953805"/>
            <a:ext cx="1409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Distintos sectores. Distintas operaciones. </a:t>
            </a:r>
            <a:r>
              <a:rPr lang="en-US" sz="10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agente que aprende cada uno.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143000" y="97539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· Agentive AI · Autonomía real, despliegues reales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4097305" y="975390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IA agéntica en producción</a:t>
            </a:r>
            <a:endParaRPr lang="en-US" sz="9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7d8f83aef2e8069af52187507d6f7eb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a418881573468369477ea05b17bf4e8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7ed7bb912f7c94ef41a7d56085217d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61695"/>
            <a:ext cx="1714500" cy="1218895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2286000"/>
            <a:ext cx="914400" cy="384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1811305" y="2286000"/>
            <a:ext cx="5333695" cy="5715000"/>
          </a:xfrm>
          <a:prstGeom prst="roundRect">
            <a:avLst>
              <a:gd name="adj" fmla="val 214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4" descr="gen-dedup-21010b4c20abbbcb8e45be4e38abdc38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8" name="Image 5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4095598"/>
            <a:ext cx="4572000" cy="9144"/>
          </a:xfrm>
          <a:prstGeom prst="rect">
            <a:avLst/>
          </a:prstGeom>
        </p:spPr>
      </p:pic>
      <p:pic>
        <p:nvPicPr>
          <p:cNvPr id="9" name="Image 6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5296205"/>
            <a:ext cx="4572000" cy="9144"/>
          </a:xfrm>
          <a:prstGeom prst="rect">
            <a:avLst/>
          </a:prstGeom>
        </p:spPr>
      </p:pic>
      <p:pic>
        <p:nvPicPr>
          <p:cNvPr id="10" name="Image 7" descr="gen-dedup-2af54001c3e361a51d5e514c28114ac9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191695" y="6495898"/>
            <a:ext cx="4572000" cy="9144"/>
          </a:xfrm>
          <a:prstGeom prst="rect">
            <a:avLst/>
          </a:prstGeom>
        </p:spPr>
      </p:pic>
      <p:sp>
        <p:nvSpPr>
          <p:cNvPr id="11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 · 50</a:t>
            </a:r>
            <a:endParaRPr lang="en-US" sz="975" dirty="0"/>
          </a:p>
        </p:txBody>
      </p:sp>
      <p:sp>
        <p:nvSpPr>
          <p:cNvPr id="12" name="Text 2"/>
          <p:cNvSpPr txBox="1"/>
          <p:nvPr/>
        </p:nvSpPr>
        <p:spPr>
          <a:xfrm>
            <a:off x="1143000" y="255300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Construyamos el siguiente juntos.</a:t>
            </a:r>
            <a:endParaRPr lang="en-US" sz="1125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2971800"/>
            <a:ext cx="10096805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b="1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</a:t>
            </a:r>
            <a:r>
              <a:rPr lang="en-US" sz="9600" b="1" kern="0" spc="-346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</a:t>
            </a:r>
            <a:endParaRPr lang="en-US" sz="9600" b="1" dirty="0"/>
          </a:p>
          <a:p>
            <a:pPr>
              <a:lnSpc>
                <a:spcPct val="105000"/>
              </a:lnSpc>
            </a:pPr>
            <a:r>
              <a:rPr lang="en-US" sz="9600" b="1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</a:t>
            </a:r>
            <a:r>
              <a:rPr lang="en-US" sz="9600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600" b="1" kern="0" spc="-346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96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6038697"/>
            <a:ext cx="9715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Cuéntanos tu reto. Te mostraremos cómo encaja un agente MTi dentro de tus operaciones — con tecnología real, integraciones reales y resultados medibles desde el día uno.</a:t>
            </a:r>
            <a:endParaRPr lang="en-US" sz="1650" dirty="0"/>
          </a:p>
        </p:txBody>
      </p:sp>
      <p:sp>
        <p:nvSpPr>
          <p:cNvPr id="15" name="Text 5"/>
          <p:cNvSpPr txBox="1"/>
          <p:nvPr/>
        </p:nvSpPr>
        <p:spPr>
          <a:xfrm>
            <a:off x="12191695" y="26673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Hablemos</a:t>
            </a:r>
            <a:endParaRPr lang="en-US" sz="1050" dirty="0"/>
          </a:p>
        </p:txBody>
      </p:sp>
      <p:sp>
        <p:nvSpPr>
          <p:cNvPr id="16" name="Text 6"/>
          <p:cNvSpPr txBox="1"/>
          <p:nvPr/>
        </p:nvSpPr>
        <p:spPr>
          <a:xfrm>
            <a:off x="12191695" y="3143707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12191695" y="3343046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info@mingothings.com</a:t>
            </a:r>
            <a:endParaRPr lang="en-US" sz="1950" dirty="0"/>
          </a:p>
        </p:txBody>
      </p:sp>
      <p:sp>
        <p:nvSpPr>
          <p:cNvPr id="18" name="Text 8"/>
          <p:cNvSpPr txBox="1"/>
          <p:nvPr/>
        </p:nvSpPr>
        <p:spPr>
          <a:xfrm>
            <a:off x="12191695" y="4343400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TELÉFONO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2191695" y="4543654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+34 934 860 961</a:t>
            </a:r>
            <a:endParaRPr lang="en-US" sz="1950" dirty="0"/>
          </a:p>
        </p:txBody>
      </p:sp>
      <p:sp>
        <p:nvSpPr>
          <p:cNvPr id="20" name="Text 10"/>
          <p:cNvSpPr txBox="1"/>
          <p:nvPr/>
        </p:nvSpPr>
        <p:spPr>
          <a:xfrm>
            <a:off x="12191695" y="5544007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12191695" y="5743346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</a:t>
            </a:r>
            <a:endParaRPr lang="en-US" sz="1950" dirty="0"/>
          </a:p>
        </p:txBody>
      </p:sp>
      <p:sp>
        <p:nvSpPr>
          <p:cNvPr id="22" name="Text 12"/>
          <p:cNvSpPr txBox="1"/>
          <p:nvPr/>
        </p:nvSpPr>
        <p:spPr>
          <a:xfrm>
            <a:off x="12191695" y="6762902"/>
            <a:ext cx="4572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12191695" y="6963156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Barcelona, España</a:t>
            </a:r>
            <a:endParaRPr lang="en-US" sz="1350" dirty="0"/>
          </a:p>
        </p:txBody>
      </p:sp>
      <p:sp>
        <p:nvSpPr>
          <p:cNvPr id="24" name="Text 14"/>
          <p:cNvSpPr txBox="1"/>
          <p:nvPr/>
        </p:nvSpPr>
        <p:spPr>
          <a:xfrm>
            <a:off x="12191695" y="7259422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hubs en tres continentes.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1143000" y="100199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MTi Group · Mingothings S.L. · Todos los derechos reservados · ISO 9001 certificado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14097305" y="10019995"/>
            <a:ext cx="3048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6308</Words>
  <Application>Microsoft Office PowerPoint</Application>
  <PresentationFormat>Custom</PresentationFormat>
  <Paragraphs>1533</Paragraphs>
  <Slides>51</Slides>
  <Notes>39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Daniel Alonso Hernández</cp:lastModifiedBy>
  <cp:revision>5</cp:revision>
  <dcterms:created xsi:type="dcterms:W3CDTF">2026-09-21T08:10:54Z</dcterms:created>
  <dcterms:modified xsi:type="dcterms:W3CDTF">2026-09-29T10:31:05Z</dcterms:modified>
</cp:coreProperties>
</file>